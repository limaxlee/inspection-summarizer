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Space Grotesk" pitchFamily="34" charset="0"/>
      <p:regular r:id="rId23"/>
      <p:bold r:id="rId24"/>
    </p:embeddedFont>
    <p:embeddedFont>
      <p:font typeface="JetBrains Mono" panose="02000009000000000000" pitchFamily="49"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안녕하세요. 오늘은 에이전트 간 커뮤니케이션에 대해 발표드리겠습니다. Hi everyone, and thanks for being here. We just heard a great talk on MCP — how a single agent connects to its tools and its data. Today I want to take the next step. What happens when we don’t have one agent, but many specialized agents, each running in a different part of the business, built by different teams, maybe on completely different frameworks? How do they find each other, how do they trust each other, and how do they actually get work done together? That’s what agent communication is about. The two names you’ll hear for it are A2A, the Agent2Agent protocol, and ACP, the Agent Communication Protocol. By the end of this talk, you should have a clear picture of how A2A works from start to finish, where ACP fits into the story, and how all of this relates to the MCP we just heard about. I’ll keep things at the concept level — no code on the slides — and I’ll leave some time at the end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Let’s start with the most basic question: why do agents need to talk at all? Agents today are genuinely capable on their own. A single agent can read documents, call APIs, write reports and make decisions — and for a lot of tasks, that’s enough. But in a real company, the information an agent needs is spread across many different systems. And that’s where working alone becomes a problem. I call it the silo trap. Here’s a simple example that I’ll keep using for the rest of the talk. A customer comes to our Sales Agent and says: “I need 100 laptops delivered tomorrow.” The Sales Agent lives on the store platform. It checks its own data, which says 100 laptops are available — but that number is out of date. So it confidently replies: “Confirmed, 100 laptops for tomorrow.” Meanwhile, on the other side of a wall — in the warehouse system — the Inventory Agent knows the real situation: there are only 20 laptops left. It does its job correctly and updates the stock count to 20. And over on the delivery platform, the Shipping Agent sees that tomorrow is fully booked. It also does its job correctly, and schedules the delivery for next week. Now look at the result. Every single agent reasoned correctly inside its own box. Nobody made a mistake on their own. And yet the customer has been promised something that nobody can deliver. So the problem here isn’t intelligence. The problem is that these agents can’t talk to each other. Our agents can already think — now they need to talk. And that’s exactly the problem A2A was designed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So how do we let agents talk to each other without building a messy web of one-off integrations between every pair of systems? That’s where A2A comes in — the Agent2Agent protocol. It’s an open standard that defines how one agent can discover another agent, send it work, and get results back. On the right you can see the same three agents from the previous slide, but now the walls are gone. Before the Sales Agent promises anything, it checks with Inventory and with Shipping over A2A. And the customer gets an honest answer: 20 laptops can arrive next Tuesday, and the other 80 are on backorder. It’s not the answer the customer hoped for, but it’s one we can actually keep. There are four things that make A2A important. First, it’s framework-agnostic. One agent might be built with LangGraph, another with CrewAI, another with Google’s ADK, or just with custom code. A2A doesn’t care. As long as each side speaks the protocol, they can work together. Second, it’s opaque by design. You’ll often hear this called “black box” collaboration. Agents share tasks and results, but they never have to expose their system prompts, their memory, their tools, or their private databases. That matters a lot when the agents belong to different teams — or even different companies. Third, it’s built on web technology we already know: HTTP, JSON-RPC, and Server-Sent Events for streaming. There are also gRPC and plain REST-style options. So there’s nothing exotic to deploy, and our existing infrastructure — load balancers, gateways, monitoring — still works. And fourth, it’s open and vendor-neutral. Google created A2A in 2025, but it’s now governed by the Linux Foundation, and since this August it sits in the Agentic AI Foundation — right next to MCP. So this isn’t one company’s product; it’s shared industry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Now let’s look at the building blocks, starting with who is involved. A2A defines three core actors. The first is the User. This is whoever has the goal. Usually that’s a person, but it could also be an automated service — for example, a scheduled job that runs every night. In our story, the user is the customer who wants 100 laptops. The second is the A2A Client, also called the Client Agent. Think of it as a coordinator, or a personal assistant. It acts on behalf of the user, breaks the goal into smaller pieces, and sends those pieces to other agents over A2A. In our story, that’s the Sales Agent. The third is the A2A Server, also called the Remote Agent. This is the specialist. It exposes an A2A endpoint, receives tasks, works on them, and sends back results. In our story, both the Inventory Agent and the Shipping Agent are servers. You’ll notice the server card is dark — that’s the black-box idea again. The Sales Agent doesn’t need to know how Inventory works inside: which model it uses, what its prompts look like, or what database sits behind it. It only sees what Inventory chooses to return. And one important detail at the bottom: these roles are not fixed. “Client” and “server” describe the relationship in one interaction — not a permanent type of agent. The Inventory Agent is a server when Sales asks it about stock. But five minutes later, when stock runs low, it can turn around and act as a client, ordering more laptops from a Supplier Agent. So in a real system, you don’t end up with a strict hierarchy. You end up with a network of peers, where any agent can delegate work to any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Before we go into the request flow, it helps to know the four objects that agents actually exchange. If you remember these four words, the rest of the talk becomes much easier to follow. First, a Message. A message is one turn in the conversation. Every message has a role: “user” when it comes from the client side, and “agent” when it comes from the server side. So when the Sales Agent says “Reserve 100 laptops,” that’s a message with the user role — even though Sales is itself an agent. The role describes the direction, not who is human. Second, a Part. Parts are the actual content inside a message. A part can be plain text, a file, or structured JSON data. One message can carry several parts — for example, a short text instruction plus a JSON order form with the product code and quantity. Third, a Task. This is the most important one. A task is the stateful unit of work. When a request is more than a quick answer, the server creates a task with its own ID, a status, and a history. The client can check on it, follow its updates, or cancel it. This is the big difference from a normal function call: you’re not calling a function, you’re handing off a piece of work to someone who will report back. Fourth, an Artifact. An artifact is the deliverable that a task produces — a report, a plan, a data record. Artifacts are built from parts too. At the bottom you can see the task lifecycle. A task starts as submitted, moves to working, and normally ends as completed. It can also end as failed, canceled, or rejected — rejected meaning the agent decided not to take the job at all. And there are two special paused states: input-required, when the agent needs more information from the client, and auth-required, when it needs extra credentials. In both cases the task simply waits, and when the client answers, it goes back to working. Keep input-required in mind — that’s where our laptop story gets interesting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Before an agent can take part in an A2A conversation, it has to describe two things: what it can do, and how to reach it. Let’s start with what it can do. In A2A, that’s described with skills. A skill is one specific job the agent offers. It could be something simple, like answering a stock question, or a multi-step workflow, like reserving stock and creating a backorder. A typical agent lists several skills. What’s interesting is that skills are written for an LLM to read. On the right is our Inventory Agent’s “Check warehouse stock” skill. It has an ID, check_stock; a human-readable name; a description; some tags, like inventory and warehouse; and example prompts, like “How many laptops are left?” When the Sales Agent’s model is deciding which agent to ask, it reads exactly these descriptions and examples — the same way a model reads a tool description in MCP. So in practice, writing clear skill descriptions really matters. A vague description means the client agent may not pick your skill, or may pick it for the wrong job. Each skill also declares its input and output modes upfront. Here, it accepts text, and it can answer in plain text or in structured JSON. That way the client knows what format to send and what format to expect back, before it sends anything. One quick note to avoid confusion, since many of us already work with AI tools: the word “skills” is used elsewhere too — for example, skill folders with a SKILL.md file that give an agent instructions for a task. An A2A skill is something different. It’s not a set of instructions the agent loads; it’s a capability the agent advertises to other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Once an agent has defined its skills, it publishes them inside an Agent Card. You can think of the Agent Card as the agent’s public business card. Technically it’s a small JSON document, and by convention it lives at a standard address on the agent’s domain: /.well-known/agent-card.json. You may still see the older name, agent.json, in blog posts from 2025, but agent-card.json is the current standard. The card answers three questions. First, what does this agent do? It contains the agent’s name, description, version and provider, plus its full menu of skills. On the right you can see our Warehouse Inventory Agent, version 1.0.0, with its two skills: check stock, and reserve and backorder stock. Second, where does it live? The card lists the service endpoint — the address where you actually send requests. Third, how do I talk to it? The card declares which transports the agent supports — JSON-RPC, gRPC, or plain HTTP with JSON — and which optional capabilities it has. Here, streaming and push notifications are both supported, and there’s an extended card. The card also lists the security schemes it accepts, like OAuth 2.0 or OpenID Connect. That extended card is worth a quick explanation. The public card can be read by anyone — it has to be, because a client needs to read it before it knows how to log in. So you don’t want to put everything on it. After a client authenticates, the agent can return an extended card with extra details — for example, skills that only internal partners should see. So the Agent Card is really the contract between agents. Everything that happens next in the lifecycle starts from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Now let’s walk through what actually happens when one agent asks another for help. I’ve grouped the request lifecycle into three phases, which you can see in the top-right corner: Discover, Authenticate, and Interact. We’ll go through them one at a time. Phase one is discovery. Before two agents can work together, the client has to find the server and read its Agent Card. In the simplest case, shown in the middle, the Sales Agent sends a simple GET request to the Inventory Agent’s well-known address, and the Agent Card comes back. From that one document, Sales immediately learns the skills, the endpoint, the security requirements and the supported capabilities. It’s like picking up a specialist’s business card that tells you not only who they are, but also how to work with them. But how does the client know where to look in the first place? There are three common strategies. The first is the well-known URI — the public front door. If you know the agent’s domain, you simply ask that domain for its card at the standard path. This works well for public agents, or for agents you share with partners. The second is a curated registry — think of it as the company yellow pages. A central catalog collects the Agent Cards of many agents, and clients search it by skill, by tag, or by other filters. This is the natural choice inside a large company, or in a marketplace with lots of agents. One honest note here: A2A standardizes the card itself, but exactly how registries should work is still being shaped across the industry. The third is direct configuration — the saved speed-dial. The card, or just its URL, is written into a config file, an environment variable, or an internal API. It’s simple and predictable, which makes it ideal for tightly coupled systems and for local development. In practice, many teams mix these: direct configuration while they’re building, and a registry once the number of agents starts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Phase two is authentication. Once the client has read the Agent Card, it knows what kind of security the server expects — and now it has to prove who it is. Let’s follow the four steps across the top. Step one: read the card. The security section of the Agent Card says which schemes the agent accepts — for example, OAuth 2.0 or OpenID Connect. Step two: get a token. And here’s the important part: the client doesn’t get the token from the other agent. It gets it from an identity provider — the same kind of system our company already uses for single sign-on. The result is usually a token, often a JWT. Step three: call with the token. The token travels in the HTTP header of each request, exactly like any normal web API. It never goes inside the A2A message itself. That keeps identity cleanly separated from the content of the conversation. Step four: verify and decide. The server checks the token, and then makes its own decision about what this caller is allowed to do. Being authenticated doesn’t mean being allowed to do everything. Authorization — deciding what’s permitted — is still the server’s responsibility. Along the bottom are three points I’d like you to take away. First, it’s decoupled. We don’t hard-code shared secrets between every pair of agents. We reuse the identity infrastructure we already run, which is much easier to manage and to audit. Second, the schemes are familiar: API keys, HTTP bearer tokens, OAuth 2.0, OpenID Connect, and mutual TLS. Our security team doesn’t need to learn anything exotic. And third, this is where the extended Agent Card comes back in. After authenticating, a client may get to see extra skills that the public card keeps hidden. So now, with the card read and a token in hand, we’re ready for the actual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Phase three is interaction — the part where the work actually gets done. A2A gives us three ways to interact, and the Agent Card has already told us which ones this particular server supports. The first is simple request and response, using the Send Message operation. The client sends a message and waits for the reply. And here’s a detail many people miss: the reply doesn’t always have to be a task. If the question is quick — like “how many X1 laptops are left?” — the server can just answer with a message: “20 in stock.” No task is created, and there’s nothing to track. But if the request turns into real work, the server returns a task instead, and the client can follow its progress. So it’s the server that decides whether something is a quick answer or a tracked piece of work. The second is streaming, using the Stream Message operation. Here the connection stays open, and the server pushes live updates using Server-Sent Events. Look at the feed in the middle column. First, the task comes back as submitted, so the client knows the work was accepted. Then a status update says working. Then the server sends results piece by piece, as soon as each one is ready — Artifact A, the stock check, and then Artifact B, the backorder plan. Finally, a completed event closes the stream. The client is never left waiting in the dark, which is great when a person is watching the progress on a screen. The third is push notifications. Sometimes a job takes hours, or even runs overnight, and it makes no sense to keep a connection open that whole time. In that case, the client gives the server a webhook URL along with the task, and then simply disconnects. When something important happens — for example, the task completes — the server calls that webhook to let the client know, and the client can then fetch the final result. So the simple rule of thumb is: request and response for quick lookups, streaming for longer tasks that someone is actively watching, and push notifications for long jobs that nobody is waiting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Real collaboration is rarely one question and one answer. Very often, the remote agent needs more information before it can finish. A2A handles this with the input-required state — and this is where our laptop story starts to get its happy ending. Let’s read the conversation on the left. Notice that all of it happens inside one single task, task T-481. First, Sales sends Inventory a message: “Reserve 100 X1 laptops for delivery tomorrow.” Inventory can’t do that — it only has 20. But instead of simply failing, it moves the task into the input-required state and asks a question: “Only 20 in stock. Reserve 20, and backorder 80?” Now the task is paused. The Sales Agent shouldn’t make that decision on the customer’s behalf, so it goes back to the customer and asks. While that happens, nothing is lost — the task just waits, with its full history. The customer agrees, so Sales replies on the same task: “Yes — reserve 20, backorder 80.” Inventory moves back to working, finishes the job, marks the task completed, and returns an artifact: the reservation number and the backorder number. On the right are the three ideas to remember from this slide. First, input-required means paused, not failed. The task keeps its ID, its history and its progress. Second, the client continues on the same task ID, so the remote agent picks up exactly where it stopped, without starting over. There’s also a similar state called auth-required, for when the agent needs extra credentials partway through. It works the same way. Third, related tasks can share a context ID. A single order might involve a stock task, a shipping task, and maybe a payment task. The shared context ID ties them together into one conversation, so every agent knows these tasks belong to the same customer request. This is really what makes A2A feel like collaboration, rather than just a set of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Let’s put everything together and replay the laptop order from start to finish. Here we have four lanes: the customer, the Sales Agent acting as the client, and the Inventory and Shipping agents acting as servers. Solid arrows are requests and dashed arrows are replies. Blue is Sales asking the specialists, and orange is the specialists answering. Step one: the customer asks for 100 laptops by tomorrow. This time, Sales doesn’t confirm anything yet. Step two: Sales asks Inventory to reserve 100 laptops. Behind this one arrow is everything we just covered: Sales found Inventory’s Agent Card, read its skills and its security scheme, got a token from the identity provider, and then sent the message. Step three: Inventory replies with input-required — only 20 are available. Steps four and five: Sales checks with the customer — “20 now and 80 later?” — and the customer says yes, go ahead. Step six: Sales continues the same task and confirms: reserve 20 now, backorder the other 80. Step seven: Inventory completes the task and returns an artifact with the reservation and backorder details. Step eight: now Sales opens a new task with Shipping, asking for the earliest delivery date for 20 laptops. Because both tasks share the same context ID, everyone knows they belong to the same order. Step nine: Shipping completes its task and replies: next Tuesday. And step ten: Sales gives the customer an honest, accurate answer: 20 laptops arrive Tuesday, and the other 80 follow on backorder. Compare this with the silo slide at the beginning. Same three agents, same data. But instead of a broken promise, the customer gets the truth — because the agents talked to each other before anyone made a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Now, the title of this talk says A2A and ACP — so let’s talk about where ACP fits. ACP, the Agent Communication Protocol, came from IBM Research. It launched in March 2025 to power IBM’s open-source BeeAI platform. Its design was lightweight and REST-first — you could talk to an agent with plain HTTP calls — and it was built to work well locally, even on a single machine. The timing is interesting, as you can see on the timeline on the right. ACP launched in March 2025, and Google announced A2A just one month later. So for a while, we had two protocols trying to solve almost the same problem. That’s a real risk for a young ecosystem. If half the industry builds on one standard and half builds on the other, agents end up split into two camps that can’t talk to each other — which defeats the whole point of an interoperability protocol. So in August 2025, the community made a sensible decision. ACP stopped its standalone development and merged into A2A under the Linux Foundation. The ACP team and its ideas — especially the REST-friendly, lightweight approach — moved into A2A, and IBM took a seat on A2A’s technical steering committee. Since then, things have moved quickly. A2A reached version 1.0, its first stable specification, in March 2026. And this August, it joined the Agentic AI Foundation, sitting right next to MCP. So the practical message is simple: you’ll still see the name ACP in older articles and repositories, but today, A2A is the single agent-to-agent standard going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Since we just heard a talk about MCP, a natural question is: how is A2A different, and do I need both? The short answer is: they solve different problems, and yes, you’ll usually need both. Let’s go through the table. Who is talking? With MCP, an agent talks to a tool or a data source. With A2A, an agent talks to another agent. What’s on the other side? An MCP tool is predictable — a database, an API, a file. You call it, and it does exactly what it was told. An A2A partner is autonomous. It has its own model, it reasons, it plans, and it might even come back with a question — just like our Inventory Agent did. That changes the interaction style. MCP feels like a function call: “run this SQL query.” A2A feels like delegation: “reserve 20 laptops” — and you trust the other agent to figure out how to do it. On state: MCP calls are mostly one-off, while A2A work is organized into stateful tasks, with the lifecycle we saw earlier. And my favorite analogy: MCP is a worker using a calculator. A2A is two colleagues working something out together on Slack. The diagram on the right shows how the two fit together. Sales and Inventory talk to each other over A2A — that’s the horizontal connection. But each of them, inside its own black box, uses MCP to reach its own tools. Sales uses MCP to read the order CRM, and Inventory uses MCP to query the warehouse database. So MCP reaches down into the tools, and A2A goes across, between agents. And fittingly, both protocols now live under the same roof — the Linux Foundation’s Agentic AI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Before we wrap up, I want to be honest about when A2A is the right choice — because it isn’t always. On the left: reach for A2A when your agents are owned by different teams or different vendors; when they’re built on different frameworks or run in different clouds; when their internals need to stay private across a trust boundary; and when the work is long-running and you need status updates, streaming, or callbacks. That’s exactly the situation A2A was designed for. On the right: think twice when all your agents are built by the same team, in the same framework. In that case, simple in-process orchestration — one program coordinating several agents — is usually simpler, faster, and much easier to debug. Also be careful on latency-sensitive paths. Every hop to another agent adds network time and, more importantly, model time, because the other agent has to think before it answers. The same goes for cost: every remote agent runs its own reasoning, and that adds up quickly. And if you can’t yet trace a single request across all the agents involved, debugging becomes really painful. At the bottom are three open challenges for the whole industry. First, treat whatever another agent sends you as untrusted input. A remote agent’s output could contain instructions designed to manipulate your agent. Prompt injection doesn’t go away just because the message came from another agent rather than a human. Second, observability. Following one customer request through five black boxes needs good tracing, task IDs, and logging from day one. And third, registries and trust frameworks are still maturing. The protocol itself is stable, but the ecosystem around it is still being built. None of these are reasons to avoid A2A. They’re simply things to plan for when we adopt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then Q&amp;A) Let me close with three things to remember. One: MCP connects an agent to its tools; A2A connects agents to each other. Most real systems will use both — MCP inside each agent, and A2A between them. Two: the Agent Card is the contract. The flow is always the same: discover the card, authenticate, and then delegate a task. And remember, you’re delegating work to a partner that can reason and ask questions — not just calling a function. Three: ACP lives on inside A2A. There is now one open standard for agent-to-agent communication, and it sits in the Agentic AI Foundation together with MCP. Going back to where we started: our agents can already think. With A2A, they can finally talk — and that’s what turns a set of isolated bots into an actual team. Thank you — 감사합니다.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4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4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slideLayout" Target="../slideLayouts/slideLayout2.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2.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pic>
        <p:nvPicPr>
          <p:cNvPr id="2" name="Image 0" descr="Three connected agent nodes">    </p:cNvPr>
          <p:cNvPicPr>
            <a:picLocks noChangeAspect="1"/>
          </p:cNvPicPr>
          <p:nvPr/>
        </p:nvPicPr>
        <p:blipFill>
          <a:blip r:embed="rId1"/>
          <a:srcRect l="0" r="0" t="0" b="0"/>
          <a:stretch/>
        </p:blipFill>
        <p:spPr>
          <a:xfrm>
            <a:off x="7493000" y="609600"/>
            <a:ext cx="3810000" cy="2540000"/>
          </a:xfrm>
          <a:prstGeom prst="rect">
            <a:avLst/>
          </a:prstGeom>
        </p:spPr>
      </p:pic>
      <p:sp>
        <p:nvSpPr>
          <p:cNvPr id="3" name="Text 0"/>
          <p:cNvSpPr/>
          <p:nvPr/>
        </p:nvSpPr>
        <p:spPr>
          <a:xfrm>
            <a:off x="812800" y="291107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SEMINAR · AGENT COMMUNICATION</a:t>
            </a:r>
            <a:endParaRPr lang="en-US" sz="1200" dirty="0"/>
          </a:p>
        </p:txBody>
      </p:sp>
      <p:sp>
        <p:nvSpPr>
          <p:cNvPr id="4" name="Text 1"/>
          <p:cNvSpPr/>
          <p:nvPr>
            <p:ph type="title"/>
          </p:nvPr>
        </p:nvSpPr>
        <p:spPr>
          <a:xfrm>
            <a:off x="812800" y="3327598"/>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2EFE8"/>
                </a:solidFill>
                <a:latin typeface="Space Grotesk" pitchFamily="34" charset="0"/>
                <a:ea typeface="Space Grotesk" pitchFamily="34" charset="-122"/>
                <a:cs typeface="Space Grotesk" pitchFamily="34" charset="-120"/>
              </a:rPr>
              <a:t>Agent Communication:</a:t>
            </a:r>
            <a:endParaRPr lang="en-US" sz="5600" dirty="0"/>
          </a:p>
          <a:p>
            <a:pPr algn="l" indent="0" marL="0">
              <a:lnSpc>
                <a:spcPts val="5880"/>
              </a:lnSpc>
              <a:buNone/>
            </a:pPr>
            <a:r>
              <a:rPr lang="en-US" sz="5600" b="1" i="0" dirty="0">
                <a:solidFill>
                  <a:srgbClr val="F08A4B"/>
                </a:solidFill>
                <a:latin typeface="Space Grotesk" pitchFamily="34" charset="0"/>
                <a:ea typeface="Space Grotesk" pitchFamily="34" charset="-122"/>
                <a:cs typeface="Space Grotesk" pitchFamily="34" charset="-120"/>
              </a:rPr>
              <a:t>A2A &amp; ACP</a:t>
            </a:r>
            <a:endParaRPr lang="en-US" sz="5600" dirty="0"/>
          </a:p>
        </p:txBody>
      </p:sp>
      <p:sp>
        <p:nvSpPr>
          <p:cNvPr id="5" name="Text 2"/>
          <p:cNvSpPr/>
          <p:nvPr/>
        </p:nvSpPr>
        <p:spPr>
          <a:xfrm>
            <a:off x="812800" y="5024239"/>
            <a:ext cx="78486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EB6C6"/>
                </a:solidFill>
                <a:latin typeface="IBM Plex Sans" pitchFamily="34" charset="0"/>
                <a:ea typeface="IBM Plex Sans" pitchFamily="34" charset="-122"/>
                <a:cs typeface="IBM Plex Sans" pitchFamily="34" charset="-120"/>
              </a:rPr>
              <a:t>How specialized AI agents find each other, build trust and work together as one team</a:t>
            </a:r>
            <a:endParaRPr lang="en-US" sz="1700" dirty="0"/>
          </a:p>
        </p:txBody>
      </p:sp>
      <p:sp>
        <p:nvSpPr>
          <p:cNvPr id="6"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IBM Plex Sans" pitchFamily="34" charset="0"/>
                <a:ea typeface="IBM Plex Sans" pitchFamily="34" charset="-122"/>
                <a:cs typeface="IBM Plex Sans" pitchFamily="34" charset="-120"/>
              </a:rPr>
              <a:t>[Presenter name] · [Team]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WHY AGENTS NEED TO TALK</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The silo trap</a:t>
            </a:r>
            <a:endParaRPr lang="en-US" sz="3200" dirty="0"/>
          </a:p>
        </p:txBody>
      </p:sp>
      <p:sp>
        <p:nvSpPr>
          <p:cNvPr id="4" name="Shape 2"/>
          <p:cNvSpPr/>
          <p:nvPr/>
        </p:nvSpPr>
        <p:spPr>
          <a:xfrm>
            <a:off x="812800" y="1823641"/>
            <a:ext cx="2159000" cy="2910979"/>
          </a:xfrm>
          <a:prstGeom prst="roundRect">
            <a:avLst>
              <a:gd name="adj" fmla="val 5882"/>
            </a:avLst>
          </a:prstGeom>
          <a:solidFill>
            <a:srgbClr val="141B2D"/>
          </a:solidFill>
          <a:ln/>
        </p:spPr>
      </p:sp>
      <p:pic>
        <p:nvPicPr>
          <p:cNvPr id="5" name="Image 0" descr="Users">    </p:cNvPr>
          <p:cNvPicPr>
            <a:picLocks noChangeAspect="1"/>
          </p:cNvPicPr>
          <p:nvPr/>
        </p:nvPicPr>
        <p:blipFill>
          <a:blip r:embed="rId1"/>
          <a:srcRect l="0" r="0" t="0" b="0"/>
          <a:stretch/>
        </p:blipFill>
        <p:spPr>
          <a:xfrm>
            <a:off x="1041400" y="2052241"/>
            <a:ext cx="304800" cy="304800"/>
          </a:xfrm>
          <a:prstGeom prst="rect">
            <a:avLst/>
          </a:prstGeom>
        </p:spPr>
      </p:pic>
      <p:sp>
        <p:nvSpPr>
          <p:cNvPr id="6" name="Text 3"/>
          <p:cNvSpPr/>
          <p:nvPr/>
        </p:nvSpPr>
        <p:spPr>
          <a:xfrm>
            <a:off x="1041400" y="2484041"/>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EB6C6"/>
                </a:solidFill>
                <a:latin typeface="IBM Plex Sans" pitchFamily="34" charset="0"/>
                <a:ea typeface="IBM Plex Sans" pitchFamily="34" charset="-122"/>
                <a:cs typeface="IBM Plex Sans" pitchFamily="34" charset="-120"/>
              </a:rPr>
              <a:t>CUSTOMER</a:t>
            </a:r>
            <a:endParaRPr lang="en-US" sz="1200" dirty="0"/>
          </a:p>
        </p:txBody>
      </p:sp>
      <p:sp>
        <p:nvSpPr>
          <p:cNvPr id="7" name="Text 4"/>
          <p:cNvSpPr/>
          <p:nvPr/>
        </p:nvSpPr>
        <p:spPr>
          <a:xfrm>
            <a:off x="1041400" y="2824361"/>
            <a:ext cx="1752854" cy="81776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EFE8"/>
                </a:solidFill>
                <a:latin typeface="Space Grotesk" pitchFamily="34" charset="0"/>
                <a:ea typeface="Space Grotesk" pitchFamily="34" charset="-122"/>
                <a:cs typeface="Space Grotesk" pitchFamily="34" charset="-120"/>
              </a:rPr>
              <a:t>“I need 100 laptops delivered tomorrow!”</a:t>
            </a:r>
            <a:endParaRPr lang="en-US" sz="1600" dirty="0"/>
          </a:p>
        </p:txBody>
      </p:sp>
      <p:sp>
        <p:nvSpPr>
          <p:cNvPr id="8" name="Text 5"/>
          <p:cNvSpPr/>
          <p:nvPr/>
        </p:nvSpPr>
        <p:spPr>
          <a:xfrm>
            <a:off x="1041400" y="4292699"/>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IBM Plex Sans" pitchFamily="34" charset="0"/>
                <a:ea typeface="IBM Plex Sans" pitchFamily="34" charset="-122"/>
                <a:cs typeface="IBM Plex Sans" pitchFamily="34" charset="-120"/>
              </a:rPr>
              <a:t>Asks the Sales Agent</a:t>
            </a:r>
            <a:endParaRPr lang="en-US" sz="1200" dirty="0"/>
          </a:p>
        </p:txBody>
      </p:sp>
      <p:pic>
        <p:nvPicPr>
          <p:cNvPr id="9" name="Image 1" descr="arrow-right">    </p:cNvPr>
          <p:cNvPicPr>
            <a:picLocks noChangeAspect="1"/>
          </p:cNvPicPr>
          <p:nvPr/>
        </p:nvPicPr>
        <p:blipFill>
          <a:blip r:embed="rId2"/>
          <a:srcRect l="0" r="0" t="0" b="0"/>
          <a:stretch/>
        </p:blipFill>
        <p:spPr>
          <a:xfrm>
            <a:off x="3175000" y="3190230"/>
            <a:ext cx="355600" cy="177800"/>
          </a:xfrm>
          <a:prstGeom prst="rect">
            <a:avLst/>
          </a:prstGeom>
        </p:spPr>
      </p:pic>
      <p:sp>
        <p:nvSpPr>
          <p:cNvPr id="10" name="Shape 6"/>
          <p:cNvSpPr/>
          <p:nvPr/>
        </p:nvSpPr>
        <p:spPr>
          <a:xfrm>
            <a:off x="3736975" y="1826816"/>
            <a:ext cx="7639050" cy="2904629"/>
          </a:xfrm>
          <a:prstGeom prst="roundRect">
            <a:avLst>
              <a:gd name="adj" fmla="val 4263"/>
            </a:avLst>
          </a:prstGeom>
          <a:solidFill>
            <a:srgbClr val="FCFBF8"/>
          </a:solidFill>
          <a:ln w="6350">
            <a:solidFill>
              <a:srgbClr val="DAD6CC"/>
            </a:solidFill>
            <a:prstDash val="solid"/>
          </a:ln>
        </p:spPr>
      </p:sp>
      <p:sp>
        <p:nvSpPr>
          <p:cNvPr id="11" name="Text 7"/>
          <p:cNvSpPr/>
          <p:nvPr/>
        </p:nvSpPr>
        <p:spPr>
          <a:xfrm>
            <a:off x="3943350" y="203319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Sales Agent</a:t>
            </a:r>
            <a:endParaRPr lang="en-US" sz="1700" dirty="0"/>
          </a:p>
        </p:txBody>
      </p:sp>
      <p:sp>
        <p:nvSpPr>
          <p:cNvPr id="12" name="Text 8"/>
          <p:cNvSpPr/>
          <p:nvPr/>
        </p:nvSpPr>
        <p:spPr>
          <a:xfrm>
            <a:off x="3943350" y="235575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Store platform</a:t>
            </a:r>
            <a:endParaRPr lang="en-US" sz="1200" dirty="0"/>
          </a:p>
        </p:txBody>
      </p:sp>
      <p:sp>
        <p:nvSpPr>
          <p:cNvPr id="13" name="Text 9"/>
          <p:cNvSpPr/>
          <p:nvPr/>
        </p:nvSpPr>
        <p:spPr>
          <a:xfrm>
            <a:off x="3943350" y="263257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SEES</a:t>
            </a:r>
            <a:endParaRPr lang="en-US" sz="1200" dirty="0"/>
          </a:p>
        </p:txBody>
      </p:sp>
      <p:sp>
        <p:nvSpPr>
          <p:cNvPr id="14" name="Text 10"/>
          <p:cNvSpPr/>
          <p:nvPr/>
        </p:nvSpPr>
        <p:spPr>
          <a:xfrm>
            <a:off x="3943350" y="2909391"/>
            <a:ext cx="21845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“100 laptops available” </a:t>
            </a:r>
            <a:r>
              <a:rPr lang="en-US" sz="1400" dirty="0">
                <a:solidFill>
                  <a:srgbClr val="B9531E"/>
                </a:solidFill>
                <a:latin typeface="IBM Plex Sans" pitchFamily="34" charset="0"/>
                <a:ea typeface="IBM Plex Sans" pitchFamily="34" charset="-122"/>
                <a:cs typeface="IBM Plex Sans" pitchFamily="34" charset="-120"/>
              </a:rPr>
              <a:t>(outdated)</a:t>
            </a:r>
            <a:endParaRPr lang="en-US" sz="1400" dirty="0"/>
          </a:p>
        </p:txBody>
      </p:sp>
      <p:sp>
        <p:nvSpPr>
          <p:cNvPr id="15" name="Text 11"/>
          <p:cNvSpPr/>
          <p:nvPr/>
        </p:nvSpPr>
        <p:spPr>
          <a:xfrm>
            <a:off x="3943350" y="347067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DECIDES</a:t>
            </a:r>
            <a:endParaRPr lang="en-US" sz="1200" dirty="0"/>
          </a:p>
        </p:txBody>
      </p:sp>
      <p:sp>
        <p:nvSpPr>
          <p:cNvPr id="16" name="Text 12"/>
          <p:cNvSpPr/>
          <p:nvPr/>
        </p:nvSpPr>
        <p:spPr>
          <a:xfrm>
            <a:off x="3943350" y="3747492"/>
            <a:ext cx="2184527"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IBM Plex Sans" pitchFamily="34" charset="0"/>
                <a:ea typeface="IBM Plex Sans" pitchFamily="34" charset="-122"/>
                <a:cs typeface="IBM Plex Sans" pitchFamily="34" charset="-120"/>
              </a:rPr>
              <a:t>“Confirm 100 for tomorrow”</a:t>
            </a:r>
            <a:endParaRPr lang="en-US" sz="1400" dirty="0"/>
          </a:p>
        </p:txBody>
      </p:sp>
      <p:sp>
        <p:nvSpPr>
          <p:cNvPr id="17" name="Shape 13"/>
          <p:cNvSpPr/>
          <p:nvPr/>
        </p:nvSpPr>
        <p:spPr>
          <a:xfrm>
            <a:off x="6280150" y="1829991"/>
            <a:ext cx="0" cy="2898279"/>
          </a:xfrm>
          <a:prstGeom prst="line">
            <a:avLst/>
          </a:prstGeom>
          <a:noFill/>
          <a:ln w="25400">
            <a:solidFill>
              <a:srgbClr val="B9531E"/>
            </a:solidFill>
            <a:prstDash val="dash"/>
          </a:ln>
        </p:spPr>
      </p:sp>
      <p:sp>
        <p:nvSpPr>
          <p:cNvPr id="18" name="Text 14"/>
          <p:cNvSpPr/>
          <p:nvPr/>
        </p:nvSpPr>
        <p:spPr>
          <a:xfrm>
            <a:off x="6496050" y="203319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Inventory Agent</a:t>
            </a:r>
            <a:endParaRPr lang="en-US" sz="1700" dirty="0"/>
          </a:p>
        </p:txBody>
      </p:sp>
      <p:sp>
        <p:nvSpPr>
          <p:cNvPr id="19" name="Text 15"/>
          <p:cNvSpPr/>
          <p:nvPr/>
        </p:nvSpPr>
        <p:spPr>
          <a:xfrm>
            <a:off x="6496050" y="235575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Warehouse system</a:t>
            </a:r>
            <a:endParaRPr lang="en-US" sz="1200" dirty="0"/>
          </a:p>
        </p:txBody>
      </p:sp>
      <p:sp>
        <p:nvSpPr>
          <p:cNvPr id="20" name="Text 16"/>
          <p:cNvSpPr/>
          <p:nvPr/>
        </p:nvSpPr>
        <p:spPr>
          <a:xfrm>
            <a:off x="6496050" y="263257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SEES</a:t>
            </a:r>
            <a:endParaRPr lang="en-US" sz="1200" dirty="0"/>
          </a:p>
        </p:txBody>
      </p:sp>
      <p:sp>
        <p:nvSpPr>
          <p:cNvPr id="21" name="Text 17"/>
          <p:cNvSpPr/>
          <p:nvPr/>
        </p:nvSpPr>
        <p:spPr>
          <a:xfrm>
            <a:off x="6496050" y="2909391"/>
            <a:ext cx="21845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“Only 20 laptops left”</a:t>
            </a:r>
            <a:endParaRPr lang="en-US" sz="1400" dirty="0"/>
          </a:p>
        </p:txBody>
      </p:sp>
      <p:sp>
        <p:nvSpPr>
          <p:cNvPr id="22" name="Text 18"/>
          <p:cNvSpPr/>
          <p:nvPr/>
        </p:nvSpPr>
        <p:spPr>
          <a:xfrm>
            <a:off x="6496050" y="322178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DECIDES</a:t>
            </a:r>
            <a:endParaRPr lang="en-US" sz="1200" dirty="0"/>
          </a:p>
        </p:txBody>
      </p:sp>
      <p:sp>
        <p:nvSpPr>
          <p:cNvPr id="23" name="Text 19"/>
          <p:cNvSpPr/>
          <p:nvPr/>
        </p:nvSpPr>
        <p:spPr>
          <a:xfrm>
            <a:off x="6496050" y="3498602"/>
            <a:ext cx="2184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IBM Plex Sans" pitchFamily="34" charset="0"/>
                <a:ea typeface="IBM Plex Sans" pitchFamily="34" charset="-122"/>
                <a:cs typeface="IBM Plex Sans" pitchFamily="34" charset="-120"/>
              </a:rPr>
              <a:t>“Update stock to 20”</a:t>
            </a:r>
            <a:endParaRPr lang="en-US" sz="1400" dirty="0"/>
          </a:p>
        </p:txBody>
      </p:sp>
      <p:sp>
        <p:nvSpPr>
          <p:cNvPr id="24" name="Shape 20"/>
          <p:cNvSpPr/>
          <p:nvPr/>
        </p:nvSpPr>
        <p:spPr>
          <a:xfrm>
            <a:off x="8832850" y="1829991"/>
            <a:ext cx="0" cy="2898279"/>
          </a:xfrm>
          <a:prstGeom prst="line">
            <a:avLst/>
          </a:prstGeom>
          <a:noFill/>
          <a:ln w="25400">
            <a:solidFill>
              <a:srgbClr val="B9531E"/>
            </a:solidFill>
            <a:prstDash val="dash"/>
          </a:ln>
        </p:spPr>
      </p:sp>
      <p:sp>
        <p:nvSpPr>
          <p:cNvPr id="25" name="Text 21"/>
          <p:cNvSpPr/>
          <p:nvPr/>
        </p:nvSpPr>
        <p:spPr>
          <a:xfrm>
            <a:off x="9048750" y="203319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Shipping Agent</a:t>
            </a:r>
            <a:endParaRPr lang="en-US" sz="1700" dirty="0"/>
          </a:p>
        </p:txBody>
      </p:sp>
      <p:sp>
        <p:nvSpPr>
          <p:cNvPr id="26" name="Text 22"/>
          <p:cNvSpPr/>
          <p:nvPr/>
        </p:nvSpPr>
        <p:spPr>
          <a:xfrm>
            <a:off x="9048750" y="235575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Delivery platform</a:t>
            </a:r>
            <a:endParaRPr lang="en-US" sz="1200" dirty="0"/>
          </a:p>
        </p:txBody>
      </p:sp>
      <p:sp>
        <p:nvSpPr>
          <p:cNvPr id="27" name="Text 23"/>
          <p:cNvSpPr/>
          <p:nvPr/>
        </p:nvSpPr>
        <p:spPr>
          <a:xfrm>
            <a:off x="9048750" y="263257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SEES</a:t>
            </a:r>
            <a:endParaRPr lang="en-US" sz="1200" dirty="0"/>
          </a:p>
        </p:txBody>
      </p:sp>
      <p:sp>
        <p:nvSpPr>
          <p:cNvPr id="28" name="Text 24"/>
          <p:cNvSpPr/>
          <p:nvPr/>
        </p:nvSpPr>
        <p:spPr>
          <a:xfrm>
            <a:off x="9048750" y="2909391"/>
            <a:ext cx="21845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“Tomorrow is fully booked”</a:t>
            </a:r>
            <a:endParaRPr lang="en-US" sz="1400" dirty="0"/>
          </a:p>
        </p:txBody>
      </p:sp>
      <p:sp>
        <p:nvSpPr>
          <p:cNvPr id="29" name="Text 25"/>
          <p:cNvSpPr/>
          <p:nvPr/>
        </p:nvSpPr>
        <p:spPr>
          <a:xfrm>
            <a:off x="9048750" y="347067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DECIDES</a:t>
            </a:r>
            <a:endParaRPr lang="en-US" sz="1200" dirty="0"/>
          </a:p>
        </p:txBody>
      </p:sp>
      <p:sp>
        <p:nvSpPr>
          <p:cNvPr id="30" name="Text 26"/>
          <p:cNvSpPr/>
          <p:nvPr/>
        </p:nvSpPr>
        <p:spPr>
          <a:xfrm>
            <a:off x="9048750" y="3747492"/>
            <a:ext cx="23241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IBM Plex Sans" pitchFamily="34" charset="0"/>
                <a:ea typeface="IBM Plex Sans" pitchFamily="34" charset="-122"/>
                <a:cs typeface="IBM Plex Sans" pitchFamily="34" charset="-120"/>
              </a:rPr>
              <a:t>“Schedule for next week”</a:t>
            </a:r>
            <a:endParaRPr lang="en-US" sz="1400" dirty="0"/>
          </a:p>
        </p:txBody>
      </p:sp>
      <p:sp>
        <p:nvSpPr>
          <p:cNvPr id="31" name="Shape 27"/>
          <p:cNvSpPr/>
          <p:nvPr/>
        </p:nvSpPr>
        <p:spPr>
          <a:xfrm>
            <a:off x="812800" y="4988620"/>
            <a:ext cx="10566400" cy="853380"/>
          </a:xfrm>
          <a:prstGeom prst="roundRect">
            <a:avLst>
              <a:gd name="adj" fmla="val 14882"/>
            </a:avLst>
          </a:prstGeom>
          <a:solidFill>
            <a:srgbClr val="141B2D"/>
          </a:solidFill>
          <a:ln/>
        </p:spPr>
      </p:sp>
      <p:sp>
        <p:nvSpPr>
          <p:cNvPr id="32" name="Text 28"/>
          <p:cNvSpPr/>
          <p:nvPr/>
        </p:nvSpPr>
        <p:spPr>
          <a:xfrm>
            <a:off x="1066800" y="5166420"/>
            <a:ext cx="497078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DE2EA"/>
                </a:solidFill>
                <a:latin typeface="IBM Plex Sans" pitchFamily="34" charset="0"/>
                <a:ea typeface="IBM Plex Sans" pitchFamily="34" charset="-122"/>
                <a:cs typeface="IBM Plex Sans" pitchFamily="34" charset="-120"/>
              </a:rPr>
              <a:t>Every agent reasoned correctly in its own box — the customer still gets a broken promise.</a:t>
            </a:r>
            <a:endParaRPr lang="en-US" sz="1400" dirty="0"/>
          </a:p>
        </p:txBody>
      </p:sp>
      <p:sp>
        <p:nvSpPr>
          <p:cNvPr id="33" name="Text 29"/>
          <p:cNvSpPr/>
          <p:nvPr/>
        </p:nvSpPr>
        <p:spPr>
          <a:xfrm>
            <a:off x="7121178" y="5273080"/>
            <a:ext cx="4124143" cy="309860"/>
          </a:xfrm>
          <a:prstGeom prst="rect">
            <a:avLst/>
          </a:prstGeom>
          <a:noFill/>
          <a:ln/>
        </p:spPr>
        <p:txBody>
          <a:bodyPr wrap="none" lIns="0" tIns="0" rIns="0" bIns="0" rtlCol="0" anchor="t">
            <a:normAutofit/>
          </a:bodyPr>
          <a:lstStyle/>
          <a:p>
            <a:pPr algn="l" indent="0" marL="0">
              <a:lnSpc>
                <a:spcPts val="2240"/>
              </a:lnSpc>
              <a:buNone/>
            </a:pPr>
            <a:r>
              <a:rPr lang="en-US" sz="1600" b="1" dirty="0">
                <a:solidFill>
                  <a:srgbClr val="F08A4B"/>
                </a:solidFill>
                <a:latin typeface="Space Grotesk" pitchFamily="34" charset="0"/>
                <a:ea typeface="Space Grotesk" pitchFamily="34" charset="-122"/>
                <a:cs typeface="Space Grotesk" pitchFamily="34" charset="-120"/>
              </a:rPr>
              <a:t>Agents can think. Now they need to talk.</a:t>
            </a:r>
            <a:endParaRPr lang="en-US" sz="1600" dirty="0"/>
          </a:p>
        </p:txBody>
      </p:sp>
      <p:sp>
        <p:nvSpPr>
          <p:cNvPr id="34" name="Text 30"/>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5" name="Text 3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ENTER A2A</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An open standard for agents to work as peers</a:t>
            </a:r>
            <a:endParaRPr lang="en-US" sz="3200" dirty="0"/>
          </a:p>
        </p:txBody>
      </p:sp>
      <p:pic>
        <p:nvPicPr>
          <p:cNvPr id="4" name="Image 0" descr="Link">    </p:cNvPr>
          <p:cNvPicPr>
            <a:picLocks noChangeAspect="1"/>
          </p:cNvPicPr>
          <p:nvPr/>
        </p:nvPicPr>
        <p:blipFill>
          <a:blip r:embed="rId1"/>
          <a:srcRect l="0" r="0" t="0" b="0"/>
          <a:stretch/>
        </p:blipFill>
        <p:spPr>
          <a:xfrm>
            <a:off x="812800" y="1823641"/>
            <a:ext cx="304800" cy="304800"/>
          </a:xfrm>
          <a:prstGeom prst="rect">
            <a:avLst/>
          </a:prstGeom>
        </p:spPr>
      </p:pic>
      <p:sp>
        <p:nvSpPr>
          <p:cNvPr id="5" name="Text 2"/>
          <p:cNvSpPr/>
          <p:nvPr/>
        </p:nvSpPr>
        <p:spPr>
          <a:xfrm>
            <a:off x="1270000" y="1823641"/>
            <a:ext cx="515391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Framework-agnostic</a:t>
            </a:r>
            <a:endParaRPr lang="en-US" sz="1600" dirty="0"/>
          </a:p>
        </p:txBody>
      </p:sp>
      <p:sp>
        <p:nvSpPr>
          <p:cNvPr id="6" name="Text 3"/>
          <p:cNvSpPr/>
          <p:nvPr/>
        </p:nvSpPr>
        <p:spPr>
          <a:xfrm>
            <a:off x="1270000" y="2105571"/>
            <a:ext cx="515391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Agents built with LangGraph, CrewAI, Google ADK or plain custom code all talk through one protocol.</a:t>
            </a:r>
            <a:endParaRPr lang="en-US" sz="1300" dirty="0"/>
          </a:p>
        </p:txBody>
      </p:sp>
      <p:pic>
        <p:nvPicPr>
          <p:cNvPr id="7" name="Image 1" descr="Lock">    </p:cNvPr>
          <p:cNvPicPr>
            <a:picLocks noChangeAspect="1"/>
          </p:cNvPicPr>
          <p:nvPr/>
        </p:nvPicPr>
        <p:blipFill>
          <a:blip r:embed="rId2"/>
          <a:srcRect l="0" r="0" t="0" b="0"/>
          <a:stretch/>
        </p:blipFill>
        <p:spPr>
          <a:xfrm>
            <a:off x="812800" y="2783731"/>
            <a:ext cx="304800" cy="304800"/>
          </a:xfrm>
          <a:prstGeom prst="rect">
            <a:avLst/>
          </a:prstGeom>
        </p:spPr>
      </p:pic>
      <p:sp>
        <p:nvSpPr>
          <p:cNvPr id="8" name="Text 4"/>
          <p:cNvSpPr/>
          <p:nvPr/>
        </p:nvSpPr>
        <p:spPr>
          <a:xfrm>
            <a:off x="1270000" y="2783731"/>
            <a:ext cx="515391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Opaque by design</a:t>
            </a:r>
            <a:endParaRPr lang="en-US" sz="1600" dirty="0"/>
          </a:p>
        </p:txBody>
      </p:sp>
      <p:sp>
        <p:nvSpPr>
          <p:cNvPr id="9" name="Text 5"/>
          <p:cNvSpPr/>
          <p:nvPr/>
        </p:nvSpPr>
        <p:spPr>
          <a:xfrm>
            <a:off x="1270000" y="3065661"/>
            <a:ext cx="515391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Agents share tasks and results — never their prompts, memory, tools or private databases.</a:t>
            </a:r>
            <a:endParaRPr lang="en-US" sz="1300" dirty="0"/>
          </a:p>
        </p:txBody>
      </p:sp>
      <p:pic>
        <p:nvPicPr>
          <p:cNvPr id="10" name="Image 2" descr="Globe">    </p:cNvPr>
          <p:cNvPicPr>
            <a:picLocks noChangeAspect="1"/>
          </p:cNvPicPr>
          <p:nvPr/>
        </p:nvPicPr>
        <p:blipFill>
          <a:blip r:embed="rId3"/>
          <a:srcRect l="0" r="0" t="0" b="0"/>
          <a:stretch/>
        </p:blipFill>
        <p:spPr>
          <a:xfrm>
            <a:off x="812800" y="3743821"/>
            <a:ext cx="304800" cy="304800"/>
          </a:xfrm>
          <a:prstGeom prst="rect">
            <a:avLst/>
          </a:prstGeom>
        </p:spPr>
      </p:pic>
      <p:sp>
        <p:nvSpPr>
          <p:cNvPr id="11" name="Text 6"/>
          <p:cNvSpPr/>
          <p:nvPr/>
        </p:nvSpPr>
        <p:spPr>
          <a:xfrm>
            <a:off x="1270000" y="3743821"/>
            <a:ext cx="515391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Built on familiar web tech</a:t>
            </a:r>
            <a:endParaRPr lang="en-US" sz="1600" dirty="0"/>
          </a:p>
        </p:txBody>
      </p:sp>
      <p:sp>
        <p:nvSpPr>
          <p:cNvPr id="12" name="Text 7"/>
          <p:cNvSpPr/>
          <p:nvPr/>
        </p:nvSpPr>
        <p:spPr>
          <a:xfrm>
            <a:off x="1270000" y="4025751"/>
            <a:ext cx="515391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HTTP, JSON-RPC and Server-Sent Events, plus gRPC and REST bindings. No exotic networking.</a:t>
            </a:r>
            <a:endParaRPr lang="en-US" sz="1300" dirty="0"/>
          </a:p>
        </p:txBody>
      </p:sp>
      <p:pic>
        <p:nvPicPr>
          <p:cNvPr id="13" name="Image 3" descr="Users">    </p:cNvPr>
          <p:cNvPicPr>
            <a:picLocks noChangeAspect="1"/>
          </p:cNvPicPr>
          <p:nvPr/>
        </p:nvPicPr>
        <p:blipFill>
          <a:blip r:embed="rId4"/>
          <a:srcRect l="0" r="0" t="0" b="0"/>
          <a:stretch/>
        </p:blipFill>
        <p:spPr>
          <a:xfrm>
            <a:off x="812800" y="4703911"/>
            <a:ext cx="304800" cy="304800"/>
          </a:xfrm>
          <a:prstGeom prst="rect">
            <a:avLst/>
          </a:prstGeom>
        </p:spPr>
      </p:pic>
      <p:sp>
        <p:nvSpPr>
          <p:cNvPr id="14" name="Text 8"/>
          <p:cNvSpPr/>
          <p:nvPr/>
        </p:nvSpPr>
        <p:spPr>
          <a:xfrm>
            <a:off x="1270000" y="4703911"/>
            <a:ext cx="515391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Open and vendor-neutral</a:t>
            </a:r>
            <a:endParaRPr lang="en-US" sz="1600" dirty="0"/>
          </a:p>
        </p:txBody>
      </p:sp>
      <p:sp>
        <p:nvSpPr>
          <p:cNvPr id="15" name="Text 9"/>
          <p:cNvSpPr/>
          <p:nvPr/>
        </p:nvSpPr>
        <p:spPr>
          <a:xfrm>
            <a:off x="1270000" y="4985841"/>
            <a:ext cx="515391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Created by Google in 2025, now governed by the Linux Foundation’s Agentic AI Foundation, next to MCP.</a:t>
            </a:r>
            <a:endParaRPr lang="en-US" sz="1300" dirty="0"/>
          </a:p>
        </p:txBody>
      </p:sp>
      <p:sp>
        <p:nvSpPr>
          <p:cNvPr id="16" name="Shape 10"/>
          <p:cNvSpPr/>
          <p:nvPr/>
        </p:nvSpPr>
        <p:spPr>
          <a:xfrm>
            <a:off x="6632575" y="2124075"/>
            <a:ext cx="4743450" cy="1134070"/>
          </a:xfrm>
          <a:prstGeom prst="roundRect">
            <a:avLst>
              <a:gd name="adj" fmla="val 10919"/>
            </a:avLst>
          </a:prstGeom>
          <a:solidFill>
            <a:srgbClr val="FCE9DD"/>
          </a:solidFill>
          <a:ln w="6350">
            <a:solidFill>
              <a:srgbClr val="F1C9B0"/>
            </a:solidFill>
            <a:prstDash val="solid"/>
          </a:ln>
        </p:spPr>
      </p:sp>
      <p:sp>
        <p:nvSpPr>
          <p:cNvPr id="17" name="Text 11"/>
          <p:cNvSpPr/>
          <p:nvPr/>
        </p:nvSpPr>
        <p:spPr>
          <a:xfrm>
            <a:off x="6838950" y="2305050"/>
            <a:ext cx="44606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3F15"/>
                </a:solidFill>
                <a:latin typeface="IBM Plex Sans" pitchFamily="34" charset="0"/>
                <a:ea typeface="IBM Plex Sans" pitchFamily="34" charset="-122"/>
                <a:cs typeface="IBM Plex Sans" pitchFamily="34" charset="-120"/>
              </a:rPr>
              <a:t>ANSWER TO THE CUSTOMER</a:t>
            </a:r>
            <a:endParaRPr lang="en-US" sz="1200" dirty="0"/>
          </a:p>
        </p:txBody>
      </p:sp>
      <p:sp>
        <p:nvSpPr>
          <p:cNvPr id="18" name="Text 12"/>
          <p:cNvSpPr/>
          <p:nvPr/>
        </p:nvSpPr>
        <p:spPr>
          <a:xfrm>
            <a:off x="6838950" y="2581870"/>
            <a:ext cx="4460621"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1B2D"/>
                </a:solidFill>
                <a:latin typeface="Space Grotesk" pitchFamily="34" charset="0"/>
                <a:ea typeface="Space Grotesk" pitchFamily="34" charset="-122"/>
                <a:cs typeface="Space Grotesk" pitchFamily="34" charset="-120"/>
              </a:rPr>
              <a:t>“20 laptops arrive next Tuesday — the other 80 are on backorder.”</a:t>
            </a:r>
            <a:endParaRPr lang="en-US" sz="1500" dirty="0"/>
          </a:p>
        </p:txBody>
      </p:sp>
      <p:sp>
        <p:nvSpPr>
          <p:cNvPr id="19" name="Shape 13"/>
          <p:cNvSpPr/>
          <p:nvPr/>
        </p:nvSpPr>
        <p:spPr>
          <a:xfrm>
            <a:off x="8991600" y="3261320"/>
            <a:ext cx="25400" cy="254000"/>
          </a:xfrm>
          <a:prstGeom prst="rect">
            <a:avLst/>
          </a:prstGeom>
          <a:solidFill>
            <a:srgbClr val="2F6FD1"/>
          </a:solidFill>
          <a:ln/>
        </p:spPr>
      </p:sp>
      <p:sp>
        <p:nvSpPr>
          <p:cNvPr id="20" name="Shape 14"/>
          <p:cNvSpPr/>
          <p:nvPr/>
        </p:nvSpPr>
        <p:spPr>
          <a:xfrm>
            <a:off x="6629400" y="3515320"/>
            <a:ext cx="4749800" cy="759420"/>
          </a:xfrm>
          <a:prstGeom prst="roundRect">
            <a:avLst>
              <a:gd name="adj" fmla="val 13379"/>
            </a:avLst>
          </a:prstGeom>
          <a:solidFill>
            <a:srgbClr val="2F6FD1"/>
          </a:solidFill>
          <a:ln/>
        </p:spPr>
      </p:sp>
      <p:sp>
        <p:nvSpPr>
          <p:cNvPr id="21" name="Text 15"/>
          <p:cNvSpPr/>
          <p:nvPr/>
        </p:nvSpPr>
        <p:spPr>
          <a:xfrm>
            <a:off x="8292430" y="3642320"/>
            <a:ext cx="142369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CFBF8"/>
                </a:solidFill>
                <a:latin typeface="Space Grotesk" pitchFamily="34" charset="0"/>
                <a:ea typeface="Space Grotesk" pitchFamily="34" charset="-122"/>
                <a:cs typeface="Space Grotesk" pitchFamily="34" charset="-120"/>
              </a:rPr>
              <a:t>A2A protocol</a:t>
            </a:r>
            <a:endParaRPr lang="en-US" sz="1500" dirty="0"/>
          </a:p>
        </p:txBody>
      </p:sp>
      <p:sp>
        <p:nvSpPr>
          <p:cNvPr id="22" name="Text 16"/>
          <p:cNvSpPr/>
          <p:nvPr/>
        </p:nvSpPr>
        <p:spPr>
          <a:xfrm>
            <a:off x="7436073" y="3934420"/>
            <a:ext cx="313640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3ECFB"/>
                </a:solidFill>
                <a:latin typeface="IBM Plex Sans" pitchFamily="34" charset="0"/>
                <a:ea typeface="IBM Plex Sans" pitchFamily="34" charset="-122"/>
                <a:cs typeface="IBM Plex Sans" pitchFamily="34" charset="-120"/>
              </a:rPr>
              <a:t>Shared discovery, tasks and messages</a:t>
            </a:r>
            <a:endParaRPr lang="en-US" sz="1200" dirty="0"/>
          </a:p>
        </p:txBody>
      </p:sp>
      <p:sp>
        <p:nvSpPr>
          <p:cNvPr id="23" name="Shape 17"/>
          <p:cNvSpPr/>
          <p:nvPr/>
        </p:nvSpPr>
        <p:spPr>
          <a:xfrm>
            <a:off x="7408317" y="4274741"/>
            <a:ext cx="25400" cy="254000"/>
          </a:xfrm>
          <a:prstGeom prst="rect">
            <a:avLst/>
          </a:prstGeom>
          <a:solidFill>
            <a:srgbClr val="2F6FD1"/>
          </a:solidFill>
          <a:ln/>
        </p:spPr>
      </p:sp>
      <p:sp>
        <p:nvSpPr>
          <p:cNvPr id="24" name="Shape 18"/>
          <p:cNvSpPr/>
          <p:nvPr/>
        </p:nvSpPr>
        <p:spPr>
          <a:xfrm>
            <a:off x="8991600" y="4274741"/>
            <a:ext cx="25400" cy="254000"/>
          </a:xfrm>
          <a:prstGeom prst="rect">
            <a:avLst/>
          </a:prstGeom>
          <a:solidFill>
            <a:srgbClr val="2F6FD1"/>
          </a:solidFill>
          <a:ln/>
        </p:spPr>
      </p:sp>
      <p:sp>
        <p:nvSpPr>
          <p:cNvPr id="25" name="Shape 19"/>
          <p:cNvSpPr/>
          <p:nvPr/>
        </p:nvSpPr>
        <p:spPr>
          <a:xfrm>
            <a:off x="10574834" y="4274741"/>
            <a:ext cx="25400" cy="254000"/>
          </a:xfrm>
          <a:prstGeom prst="rect">
            <a:avLst/>
          </a:prstGeom>
          <a:solidFill>
            <a:srgbClr val="2F6FD1"/>
          </a:solidFill>
          <a:ln/>
        </p:spPr>
      </p:sp>
      <p:sp>
        <p:nvSpPr>
          <p:cNvPr id="26" name="Shape 20"/>
          <p:cNvSpPr/>
          <p:nvPr/>
        </p:nvSpPr>
        <p:spPr>
          <a:xfrm>
            <a:off x="6632575" y="4531916"/>
            <a:ext cx="1509167" cy="1009600"/>
          </a:xfrm>
          <a:prstGeom prst="roundRect">
            <a:avLst>
              <a:gd name="adj" fmla="val 9749"/>
            </a:avLst>
          </a:prstGeom>
          <a:solidFill>
            <a:srgbClr val="FCFBF8"/>
          </a:solidFill>
          <a:ln w="6350">
            <a:solidFill>
              <a:srgbClr val="DAD6CC"/>
            </a:solidFill>
            <a:prstDash val="solid"/>
          </a:ln>
        </p:spPr>
      </p:sp>
      <p:pic>
        <p:nvPicPr>
          <p:cNvPr id="27" name="Image 4" descr="Chat">    </p:cNvPr>
          <p:cNvPicPr>
            <a:picLocks noChangeAspect="1"/>
          </p:cNvPicPr>
          <p:nvPr/>
        </p:nvPicPr>
        <p:blipFill>
          <a:blip r:embed="rId5"/>
          <a:srcRect l="0" r="0" t="0" b="0"/>
          <a:stretch/>
        </p:blipFill>
        <p:spPr>
          <a:xfrm>
            <a:off x="6762750" y="4662091"/>
            <a:ext cx="228600" cy="228600"/>
          </a:xfrm>
          <a:prstGeom prst="rect">
            <a:avLst/>
          </a:prstGeom>
        </p:spPr>
      </p:pic>
      <p:sp>
        <p:nvSpPr>
          <p:cNvPr id="28" name="Text 21"/>
          <p:cNvSpPr/>
          <p:nvPr/>
        </p:nvSpPr>
        <p:spPr>
          <a:xfrm>
            <a:off x="6762750" y="4928791"/>
            <a:ext cx="129961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IBM Plex Sans" pitchFamily="34" charset="0"/>
                <a:ea typeface="IBM Plex Sans" pitchFamily="34" charset="-122"/>
                <a:cs typeface="IBM Plex Sans" pitchFamily="34" charset="-120"/>
              </a:rPr>
              <a:t>Sales</a:t>
            </a:r>
            <a:endParaRPr lang="en-US" sz="1300" dirty="0"/>
          </a:p>
        </p:txBody>
      </p:sp>
      <p:sp>
        <p:nvSpPr>
          <p:cNvPr id="29" name="Text 22"/>
          <p:cNvSpPr/>
          <p:nvPr/>
        </p:nvSpPr>
        <p:spPr>
          <a:xfrm>
            <a:off x="6762750" y="5198021"/>
            <a:ext cx="1299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Store</a:t>
            </a:r>
            <a:endParaRPr lang="en-US" sz="1200" dirty="0"/>
          </a:p>
        </p:txBody>
      </p:sp>
      <p:sp>
        <p:nvSpPr>
          <p:cNvPr id="30" name="Shape 23"/>
          <p:cNvSpPr/>
          <p:nvPr/>
        </p:nvSpPr>
        <p:spPr>
          <a:xfrm>
            <a:off x="8249692" y="4531916"/>
            <a:ext cx="1509216" cy="1009600"/>
          </a:xfrm>
          <a:prstGeom prst="roundRect">
            <a:avLst>
              <a:gd name="adj" fmla="val 9749"/>
            </a:avLst>
          </a:prstGeom>
          <a:solidFill>
            <a:srgbClr val="FCFBF8"/>
          </a:solidFill>
          <a:ln w="6350">
            <a:solidFill>
              <a:srgbClr val="DAD6CC"/>
            </a:solidFill>
            <a:prstDash val="solid"/>
          </a:ln>
        </p:spPr>
      </p:sp>
      <p:pic>
        <p:nvPicPr>
          <p:cNvPr id="31" name="Image 5" descr="Database">    </p:cNvPr>
          <p:cNvPicPr>
            <a:picLocks noChangeAspect="1"/>
          </p:cNvPicPr>
          <p:nvPr/>
        </p:nvPicPr>
        <p:blipFill>
          <a:blip r:embed="rId6"/>
          <a:srcRect l="0" r="0" t="0" b="0"/>
          <a:stretch/>
        </p:blipFill>
        <p:spPr>
          <a:xfrm>
            <a:off x="8379867" y="4662091"/>
            <a:ext cx="228600" cy="228600"/>
          </a:xfrm>
          <a:prstGeom prst="rect">
            <a:avLst/>
          </a:prstGeom>
        </p:spPr>
      </p:pic>
      <p:sp>
        <p:nvSpPr>
          <p:cNvPr id="32" name="Text 24"/>
          <p:cNvSpPr/>
          <p:nvPr/>
        </p:nvSpPr>
        <p:spPr>
          <a:xfrm>
            <a:off x="8379867" y="4928791"/>
            <a:ext cx="12996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IBM Plex Sans" pitchFamily="34" charset="0"/>
                <a:ea typeface="IBM Plex Sans" pitchFamily="34" charset="-122"/>
                <a:cs typeface="IBM Plex Sans" pitchFamily="34" charset="-120"/>
              </a:rPr>
              <a:t>Inventory</a:t>
            </a:r>
            <a:endParaRPr lang="en-US" sz="1300" dirty="0"/>
          </a:p>
        </p:txBody>
      </p:sp>
      <p:sp>
        <p:nvSpPr>
          <p:cNvPr id="33" name="Text 25"/>
          <p:cNvSpPr/>
          <p:nvPr/>
        </p:nvSpPr>
        <p:spPr>
          <a:xfrm>
            <a:off x="8379867" y="5198021"/>
            <a:ext cx="12996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Warehouse</a:t>
            </a:r>
            <a:endParaRPr lang="en-US" sz="1200" dirty="0"/>
          </a:p>
        </p:txBody>
      </p:sp>
      <p:sp>
        <p:nvSpPr>
          <p:cNvPr id="34" name="Shape 26"/>
          <p:cNvSpPr/>
          <p:nvPr/>
        </p:nvSpPr>
        <p:spPr>
          <a:xfrm>
            <a:off x="9866858" y="4531916"/>
            <a:ext cx="1509167" cy="1009600"/>
          </a:xfrm>
          <a:prstGeom prst="roundRect">
            <a:avLst>
              <a:gd name="adj" fmla="val 9749"/>
            </a:avLst>
          </a:prstGeom>
          <a:solidFill>
            <a:srgbClr val="FCFBF8"/>
          </a:solidFill>
          <a:ln w="6350">
            <a:solidFill>
              <a:srgbClr val="DAD6CC"/>
            </a:solidFill>
            <a:prstDash val="solid"/>
          </a:ln>
        </p:spPr>
      </p:sp>
      <p:pic>
        <p:nvPicPr>
          <p:cNvPr id="35" name="Image 6" descr="PaperPlane">    </p:cNvPr>
          <p:cNvPicPr>
            <a:picLocks noChangeAspect="1"/>
          </p:cNvPicPr>
          <p:nvPr/>
        </p:nvPicPr>
        <p:blipFill>
          <a:blip r:embed="rId7"/>
          <a:srcRect l="0" r="0" t="0" b="0"/>
          <a:stretch/>
        </p:blipFill>
        <p:spPr>
          <a:xfrm>
            <a:off x="9997033" y="4662091"/>
            <a:ext cx="228600" cy="228600"/>
          </a:xfrm>
          <a:prstGeom prst="rect">
            <a:avLst/>
          </a:prstGeom>
        </p:spPr>
      </p:pic>
      <p:sp>
        <p:nvSpPr>
          <p:cNvPr id="36" name="Text 27"/>
          <p:cNvSpPr/>
          <p:nvPr/>
        </p:nvSpPr>
        <p:spPr>
          <a:xfrm>
            <a:off x="9997033" y="4928791"/>
            <a:ext cx="129961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IBM Plex Sans" pitchFamily="34" charset="0"/>
                <a:ea typeface="IBM Plex Sans" pitchFamily="34" charset="-122"/>
                <a:cs typeface="IBM Plex Sans" pitchFamily="34" charset="-120"/>
              </a:rPr>
              <a:t>Shipping</a:t>
            </a:r>
            <a:endParaRPr lang="en-US" sz="1300" dirty="0"/>
          </a:p>
        </p:txBody>
      </p:sp>
      <p:sp>
        <p:nvSpPr>
          <p:cNvPr id="37" name="Text 28"/>
          <p:cNvSpPr/>
          <p:nvPr/>
        </p:nvSpPr>
        <p:spPr>
          <a:xfrm>
            <a:off x="9997033" y="5198021"/>
            <a:ext cx="1299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Delivery</a:t>
            </a:r>
            <a:endParaRPr lang="en-US" sz="1200" dirty="0"/>
          </a:p>
        </p:txBody>
      </p:sp>
      <p:sp>
        <p:nvSpPr>
          <p:cNvPr id="38" name="Text 29"/>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9" name="Text 3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BUILDING BLOCKS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Three core actors</a:t>
            </a:r>
            <a:endParaRPr lang="en-US" sz="3200" dirty="0"/>
          </a:p>
        </p:txBody>
      </p:sp>
      <p:sp>
        <p:nvSpPr>
          <p:cNvPr id="4" name="Shape 2"/>
          <p:cNvSpPr/>
          <p:nvPr/>
        </p:nvSpPr>
        <p:spPr>
          <a:xfrm>
            <a:off x="815975" y="1801416"/>
            <a:ext cx="3113584" cy="3031629"/>
          </a:xfrm>
          <a:prstGeom prst="roundRect">
            <a:avLst>
              <a:gd name="adj" fmla="val 4084"/>
            </a:avLst>
          </a:prstGeom>
          <a:solidFill>
            <a:srgbClr val="FCFBF8"/>
          </a:solidFill>
          <a:ln w="6350">
            <a:solidFill>
              <a:srgbClr val="DAD6CC"/>
            </a:solidFill>
            <a:prstDash val="solid"/>
          </a:ln>
        </p:spPr>
      </p:sp>
      <p:pic>
        <p:nvPicPr>
          <p:cNvPr id="5" name="Image 0" descr="Users">    </p:cNvPr>
          <p:cNvPicPr>
            <a:picLocks noChangeAspect="1"/>
          </p:cNvPicPr>
          <p:nvPr/>
        </p:nvPicPr>
        <p:blipFill>
          <a:blip r:embed="rId1"/>
          <a:srcRect l="0" r="0" t="0" b="0"/>
          <a:stretch/>
        </p:blipFill>
        <p:spPr>
          <a:xfrm>
            <a:off x="1047750" y="2033191"/>
            <a:ext cx="279400" cy="279400"/>
          </a:xfrm>
          <a:prstGeom prst="rect">
            <a:avLst/>
          </a:prstGeom>
        </p:spPr>
      </p:pic>
      <p:sp>
        <p:nvSpPr>
          <p:cNvPr id="6" name="Text 3"/>
          <p:cNvSpPr/>
          <p:nvPr/>
        </p:nvSpPr>
        <p:spPr>
          <a:xfrm>
            <a:off x="1428750" y="2066230"/>
            <a:ext cx="8486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IBM Plex Sans" pitchFamily="34" charset="0"/>
                <a:ea typeface="IBM Plex Sans" pitchFamily="34" charset="-122"/>
                <a:cs typeface="IBM Plex Sans" pitchFamily="34" charset="-120"/>
              </a:rPr>
              <a:t>ACTOR 1</a:t>
            </a:r>
            <a:endParaRPr lang="en-US" sz="1200" dirty="0"/>
          </a:p>
        </p:txBody>
      </p:sp>
      <p:sp>
        <p:nvSpPr>
          <p:cNvPr id="7" name="Text 4"/>
          <p:cNvSpPr/>
          <p:nvPr/>
        </p:nvSpPr>
        <p:spPr>
          <a:xfrm>
            <a:off x="1047750" y="2401491"/>
            <a:ext cx="27295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The User</a:t>
            </a:r>
            <a:endParaRPr lang="en-US" sz="1700" dirty="0"/>
          </a:p>
        </p:txBody>
      </p:sp>
      <p:sp>
        <p:nvSpPr>
          <p:cNvPr id="8" name="Text 5"/>
          <p:cNvSpPr/>
          <p:nvPr/>
        </p:nvSpPr>
        <p:spPr>
          <a:xfrm>
            <a:off x="1047750" y="2749451"/>
            <a:ext cx="272953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1"/>
                </a:solidFill>
                <a:latin typeface="IBM Plex Sans" pitchFamily="34" charset="0"/>
                <a:ea typeface="IBM Plex Sans" pitchFamily="34" charset="-122"/>
                <a:cs typeface="IBM Plex Sans" pitchFamily="34" charset="-120"/>
              </a:rPr>
              <a:t>The goal setter</a:t>
            </a:r>
            <a:endParaRPr lang="en-US" sz="1300" dirty="0"/>
          </a:p>
        </p:txBody>
      </p:sp>
      <p:sp>
        <p:nvSpPr>
          <p:cNvPr id="9" name="Text 6"/>
          <p:cNvSpPr/>
          <p:nvPr/>
        </p:nvSpPr>
        <p:spPr>
          <a:xfrm>
            <a:off x="1047750" y="3069481"/>
            <a:ext cx="27295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 person or an automated service that starts a request needing agents.</a:t>
            </a:r>
            <a:endParaRPr lang="en-US" sz="1300" dirty="0"/>
          </a:p>
        </p:txBody>
      </p:sp>
      <p:pic>
        <p:nvPicPr>
          <p:cNvPr id="10" name="Image 1" descr="line">    </p:cNvPr>
          <p:cNvPicPr>
            <a:picLocks noChangeAspect="1"/>
          </p:cNvPicPr>
          <p:nvPr/>
        </p:nvPicPr>
        <p:blipFill>
          <a:blip r:embed="rId2"/>
          <a:srcRect l="-39" r="-39" t="0" b="0"/>
          <a:stretch/>
        </p:blipFill>
        <p:spPr>
          <a:xfrm>
            <a:off x="1047750" y="4292699"/>
            <a:ext cx="2650034" cy="6350"/>
          </a:xfrm>
          <a:prstGeom prst="rect">
            <a:avLst/>
          </a:prstGeom>
        </p:spPr>
      </p:pic>
      <p:sp>
        <p:nvSpPr>
          <p:cNvPr id="11" name="Text 7"/>
          <p:cNvSpPr/>
          <p:nvPr/>
        </p:nvSpPr>
        <p:spPr>
          <a:xfrm>
            <a:off x="1047750" y="4387949"/>
            <a:ext cx="2729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Here:</a:t>
            </a:r>
            <a:r>
              <a:rPr lang="en-US" sz="1200" dirty="0">
                <a:solidFill>
                  <a:srgbClr val="5E6573"/>
                </a:solidFill>
                <a:latin typeface="IBM Plex Sans" pitchFamily="34" charset="0"/>
                <a:ea typeface="IBM Plex Sans" pitchFamily="34" charset="-122"/>
                <a:cs typeface="IBM Plex Sans" pitchFamily="34" charset="-120"/>
              </a:rPr>
              <a:t> the customer</a:t>
            </a:r>
            <a:endParaRPr lang="en-US" sz="1200" dirty="0"/>
          </a:p>
        </p:txBody>
      </p:sp>
      <p:pic>
        <p:nvPicPr>
          <p:cNvPr id="12" name="Image 2" descr="arrow-right">    </p:cNvPr>
          <p:cNvPicPr>
            <a:picLocks noChangeAspect="1"/>
          </p:cNvPicPr>
          <p:nvPr/>
        </p:nvPicPr>
        <p:blipFill>
          <a:blip r:embed="rId3"/>
          <a:srcRect l="0" r="0" t="0" b="0"/>
          <a:stretch/>
        </p:blipFill>
        <p:spPr>
          <a:xfrm>
            <a:off x="4085134" y="3241030"/>
            <a:ext cx="304800" cy="152400"/>
          </a:xfrm>
          <a:prstGeom prst="rect">
            <a:avLst/>
          </a:prstGeom>
        </p:spPr>
      </p:pic>
      <p:sp>
        <p:nvSpPr>
          <p:cNvPr id="13" name="Shape 8"/>
          <p:cNvSpPr/>
          <p:nvPr/>
        </p:nvSpPr>
        <p:spPr>
          <a:xfrm>
            <a:off x="4545509" y="1801416"/>
            <a:ext cx="3113633" cy="3031629"/>
          </a:xfrm>
          <a:prstGeom prst="roundRect">
            <a:avLst>
              <a:gd name="adj" fmla="val 4084"/>
            </a:avLst>
          </a:prstGeom>
          <a:solidFill>
            <a:srgbClr val="FCFBF8"/>
          </a:solidFill>
          <a:ln w="6350">
            <a:solidFill>
              <a:srgbClr val="DAD6CC"/>
            </a:solidFill>
            <a:prstDash val="solid"/>
          </a:ln>
        </p:spPr>
      </p:sp>
      <p:pic>
        <p:nvPicPr>
          <p:cNvPr id="14" name="Image 3" descr="Chat">    </p:cNvPr>
          <p:cNvPicPr>
            <a:picLocks noChangeAspect="1"/>
          </p:cNvPicPr>
          <p:nvPr/>
        </p:nvPicPr>
        <p:blipFill>
          <a:blip r:embed="rId4"/>
          <a:srcRect l="0" r="0" t="0" b="0"/>
          <a:stretch/>
        </p:blipFill>
        <p:spPr>
          <a:xfrm>
            <a:off x="4777284" y="2033191"/>
            <a:ext cx="279400" cy="279400"/>
          </a:xfrm>
          <a:prstGeom prst="rect">
            <a:avLst/>
          </a:prstGeom>
        </p:spPr>
      </p:pic>
      <p:sp>
        <p:nvSpPr>
          <p:cNvPr id="15" name="Text 9"/>
          <p:cNvSpPr/>
          <p:nvPr/>
        </p:nvSpPr>
        <p:spPr>
          <a:xfrm>
            <a:off x="5158284" y="2066230"/>
            <a:ext cx="8486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IBM Plex Sans" pitchFamily="34" charset="0"/>
                <a:ea typeface="IBM Plex Sans" pitchFamily="34" charset="-122"/>
                <a:cs typeface="IBM Plex Sans" pitchFamily="34" charset="-120"/>
              </a:rPr>
              <a:t>ACTOR 2</a:t>
            </a:r>
            <a:endParaRPr lang="en-US" sz="1200" dirty="0"/>
          </a:p>
        </p:txBody>
      </p:sp>
      <p:sp>
        <p:nvSpPr>
          <p:cNvPr id="16" name="Text 10"/>
          <p:cNvSpPr/>
          <p:nvPr/>
        </p:nvSpPr>
        <p:spPr>
          <a:xfrm>
            <a:off x="4777284" y="2401491"/>
            <a:ext cx="27295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A2A Client</a:t>
            </a:r>
            <a:endParaRPr lang="en-US" sz="1700" dirty="0"/>
          </a:p>
        </p:txBody>
      </p:sp>
      <p:sp>
        <p:nvSpPr>
          <p:cNvPr id="17" name="Text 11"/>
          <p:cNvSpPr/>
          <p:nvPr/>
        </p:nvSpPr>
        <p:spPr>
          <a:xfrm>
            <a:off x="4777284" y="2749451"/>
            <a:ext cx="272958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1"/>
                </a:solidFill>
                <a:latin typeface="IBM Plex Sans" pitchFamily="34" charset="0"/>
                <a:ea typeface="IBM Plex Sans" pitchFamily="34" charset="-122"/>
                <a:cs typeface="IBM Plex Sans" pitchFamily="34" charset="-120"/>
              </a:rPr>
              <a:t>The coordinator</a:t>
            </a:r>
            <a:endParaRPr lang="en-US" sz="1300" dirty="0"/>
          </a:p>
        </p:txBody>
      </p:sp>
      <p:sp>
        <p:nvSpPr>
          <p:cNvPr id="18" name="Text 12"/>
          <p:cNvSpPr/>
          <p:nvPr/>
        </p:nvSpPr>
        <p:spPr>
          <a:xfrm>
            <a:off x="4777284" y="3069481"/>
            <a:ext cx="272958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Acts for the user: breaks the goal down and delegates sub-tasks via A2A.</a:t>
            </a:r>
            <a:endParaRPr lang="en-US" sz="1300" dirty="0"/>
          </a:p>
        </p:txBody>
      </p:sp>
      <p:pic>
        <p:nvPicPr>
          <p:cNvPr id="19" name="Image 4" descr="line">    </p:cNvPr>
          <p:cNvPicPr>
            <a:picLocks noChangeAspect="1"/>
          </p:cNvPicPr>
          <p:nvPr/>
        </p:nvPicPr>
        <p:blipFill>
          <a:blip r:embed="rId5"/>
          <a:srcRect l="-39" r="-39" t="0" b="0"/>
          <a:stretch/>
        </p:blipFill>
        <p:spPr>
          <a:xfrm>
            <a:off x="4777284" y="4292699"/>
            <a:ext cx="2650083" cy="6350"/>
          </a:xfrm>
          <a:prstGeom prst="rect">
            <a:avLst/>
          </a:prstGeom>
        </p:spPr>
      </p:pic>
      <p:sp>
        <p:nvSpPr>
          <p:cNvPr id="20" name="Text 13"/>
          <p:cNvSpPr/>
          <p:nvPr/>
        </p:nvSpPr>
        <p:spPr>
          <a:xfrm>
            <a:off x="4777284" y="4387949"/>
            <a:ext cx="27295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Here:</a:t>
            </a:r>
            <a:r>
              <a:rPr lang="en-US" sz="1200" dirty="0">
                <a:solidFill>
                  <a:srgbClr val="5E6573"/>
                </a:solidFill>
                <a:latin typeface="IBM Plex Sans" pitchFamily="34" charset="0"/>
                <a:ea typeface="IBM Plex Sans" pitchFamily="34" charset="-122"/>
                <a:cs typeface="IBM Plex Sans" pitchFamily="34" charset="-120"/>
              </a:rPr>
              <a:t> the Sales Agent</a:t>
            </a:r>
            <a:endParaRPr lang="en-US" sz="1200" dirty="0"/>
          </a:p>
        </p:txBody>
      </p:sp>
      <p:pic>
        <p:nvPicPr>
          <p:cNvPr id="21" name="Image 5" descr="arrow-right">    </p:cNvPr>
          <p:cNvPicPr>
            <a:picLocks noChangeAspect="1"/>
          </p:cNvPicPr>
          <p:nvPr/>
        </p:nvPicPr>
        <p:blipFill>
          <a:blip r:embed="rId6"/>
          <a:srcRect l="0" r="0" t="0" b="0"/>
          <a:stretch/>
        </p:blipFill>
        <p:spPr>
          <a:xfrm>
            <a:off x="7814717" y="3241030"/>
            <a:ext cx="304800" cy="152400"/>
          </a:xfrm>
          <a:prstGeom prst="rect">
            <a:avLst/>
          </a:prstGeom>
        </p:spPr>
      </p:pic>
      <p:sp>
        <p:nvSpPr>
          <p:cNvPr id="22" name="Shape 14"/>
          <p:cNvSpPr/>
          <p:nvPr/>
        </p:nvSpPr>
        <p:spPr>
          <a:xfrm>
            <a:off x="8271917" y="1798241"/>
            <a:ext cx="3107283" cy="3037979"/>
          </a:xfrm>
          <a:prstGeom prst="roundRect">
            <a:avLst>
              <a:gd name="adj" fmla="val 4180"/>
            </a:avLst>
          </a:prstGeom>
          <a:solidFill>
            <a:srgbClr val="141B2D"/>
          </a:solidFill>
          <a:ln/>
        </p:spPr>
      </p:sp>
      <p:pic>
        <p:nvPicPr>
          <p:cNvPr id="23" name="Image 6" descr="Database">    </p:cNvPr>
          <p:cNvPicPr>
            <a:picLocks noChangeAspect="1"/>
          </p:cNvPicPr>
          <p:nvPr/>
        </p:nvPicPr>
        <p:blipFill>
          <a:blip r:embed="rId7"/>
          <a:srcRect l="0" r="0" t="0" b="0"/>
          <a:stretch/>
        </p:blipFill>
        <p:spPr>
          <a:xfrm>
            <a:off x="8500517" y="2026841"/>
            <a:ext cx="279400" cy="279400"/>
          </a:xfrm>
          <a:prstGeom prst="rect">
            <a:avLst/>
          </a:prstGeom>
        </p:spPr>
      </p:pic>
      <p:sp>
        <p:nvSpPr>
          <p:cNvPr id="24" name="Text 15"/>
          <p:cNvSpPr/>
          <p:nvPr/>
        </p:nvSpPr>
        <p:spPr>
          <a:xfrm>
            <a:off x="8881517" y="2059880"/>
            <a:ext cx="8486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B"/>
                </a:solidFill>
                <a:latin typeface="IBM Plex Sans" pitchFamily="34" charset="0"/>
                <a:ea typeface="IBM Plex Sans" pitchFamily="34" charset="-122"/>
                <a:cs typeface="IBM Plex Sans" pitchFamily="34" charset="-120"/>
              </a:rPr>
              <a:t>ACTOR 3</a:t>
            </a:r>
            <a:endParaRPr lang="en-US" sz="1200" dirty="0"/>
          </a:p>
        </p:txBody>
      </p:sp>
      <p:sp>
        <p:nvSpPr>
          <p:cNvPr id="25" name="Text 16"/>
          <p:cNvSpPr/>
          <p:nvPr/>
        </p:nvSpPr>
        <p:spPr>
          <a:xfrm>
            <a:off x="8500517" y="2395141"/>
            <a:ext cx="27295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EFE8"/>
                </a:solidFill>
                <a:latin typeface="Space Grotesk" pitchFamily="34" charset="0"/>
                <a:ea typeface="Space Grotesk" pitchFamily="34" charset="-122"/>
                <a:cs typeface="Space Grotesk" pitchFamily="34" charset="-120"/>
              </a:rPr>
              <a:t>A2A Server</a:t>
            </a:r>
            <a:endParaRPr lang="en-US" sz="1700" dirty="0"/>
          </a:p>
        </p:txBody>
      </p:sp>
      <p:sp>
        <p:nvSpPr>
          <p:cNvPr id="26" name="Text 17"/>
          <p:cNvSpPr/>
          <p:nvPr/>
        </p:nvSpPr>
        <p:spPr>
          <a:xfrm>
            <a:off x="8500517" y="2743101"/>
            <a:ext cx="272958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A8F0"/>
                </a:solidFill>
                <a:latin typeface="IBM Plex Sans" pitchFamily="34" charset="0"/>
                <a:ea typeface="IBM Plex Sans" pitchFamily="34" charset="-122"/>
                <a:cs typeface="IBM Plex Sans" pitchFamily="34" charset="-120"/>
              </a:rPr>
              <a:t>The remote specialist</a:t>
            </a:r>
            <a:endParaRPr lang="en-US" sz="1300" dirty="0"/>
          </a:p>
        </p:txBody>
      </p:sp>
      <p:sp>
        <p:nvSpPr>
          <p:cNvPr id="27" name="Text 18"/>
          <p:cNvSpPr/>
          <p:nvPr/>
        </p:nvSpPr>
        <p:spPr>
          <a:xfrm>
            <a:off x="8500517" y="3063131"/>
            <a:ext cx="272958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0DC"/>
                </a:solidFill>
                <a:latin typeface="IBM Plex Sans" pitchFamily="34" charset="0"/>
                <a:ea typeface="IBM Plex Sans" pitchFamily="34" charset="-122"/>
                <a:cs typeface="IBM Plex Sans" pitchFamily="34" charset="-120"/>
              </a:rPr>
              <a:t>Exposes an A2A endpoint, works on tasks and sends back results.</a:t>
            </a:r>
            <a:endParaRPr lang="en-US" sz="1300" dirty="0"/>
          </a:p>
        </p:txBody>
      </p:sp>
      <p:pic>
        <p:nvPicPr>
          <p:cNvPr id="28" name="Image 7" descr="Lock">    </p:cNvPr>
          <p:cNvPicPr>
            <a:picLocks noChangeAspect="1"/>
          </p:cNvPicPr>
          <p:nvPr/>
        </p:nvPicPr>
        <p:blipFill>
          <a:blip r:embed="rId8"/>
          <a:srcRect l="0" r="0" t="0" b="0"/>
          <a:stretch/>
        </p:blipFill>
        <p:spPr>
          <a:xfrm>
            <a:off x="8500517" y="3625701"/>
            <a:ext cx="190500" cy="190500"/>
          </a:xfrm>
          <a:prstGeom prst="rect">
            <a:avLst/>
          </a:prstGeom>
        </p:spPr>
      </p:pic>
      <p:sp>
        <p:nvSpPr>
          <p:cNvPr id="29" name="Text 19"/>
          <p:cNvSpPr/>
          <p:nvPr/>
        </p:nvSpPr>
        <p:spPr>
          <a:xfrm>
            <a:off x="8767217" y="3614291"/>
            <a:ext cx="1740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IBM Plex Sans" pitchFamily="34" charset="0"/>
                <a:ea typeface="IBM Plex Sans" pitchFamily="34" charset="-122"/>
                <a:cs typeface="IBM Plex Sans" pitchFamily="34" charset="-120"/>
              </a:rPr>
              <a:t>Internals stay hidden</a:t>
            </a:r>
            <a:endParaRPr lang="en-US" sz="1200" dirty="0"/>
          </a:p>
        </p:txBody>
      </p:sp>
      <p:pic>
        <p:nvPicPr>
          <p:cNvPr id="30" name="Image 8" descr="line">    </p:cNvPr>
          <p:cNvPicPr>
            <a:picLocks noChangeAspect="1"/>
          </p:cNvPicPr>
          <p:nvPr/>
        </p:nvPicPr>
        <p:blipFill>
          <a:blip r:embed="rId9"/>
          <a:srcRect l="-39" r="-39" t="0" b="0"/>
          <a:stretch/>
        </p:blipFill>
        <p:spPr>
          <a:xfrm>
            <a:off x="8500517" y="4299049"/>
            <a:ext cx="2650083" cy="6350"/>
          </a:xfrm>
          <a:prstGeom prst="rect">
            <a:avLst/>
          </a:prstGeom>
        </p:spPr>
      </p:pic>
      <p:sp>
        <p:nvSpPr>
          <p:cNvPr id="31" name="Text 20"/>
          <p:cNvSpPr/>
          <p:nvPr/>
        </p:nvSpPr>
        <p:spPr>
          <a:xfrm>
            <a:off x="8500517" y="4394299"/>
            <a:ext cx="27295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EB6C6"/>
                </a:solidFill>
                <a:latin typeface="IBM Plex Sans" pitchFamily="34" charset="0"/>
                <a:ea typeface="IBM Plex Sans" pitchFamily="34" charset="-122"/>
                <a:cs typeface="IBM Plex Sans" pitchFamily="34" charset="-120"/>
              </a:rPr>
              <a:t>Here:</a:t>
            </a:r>
            <a:r>
              <a:rPr lang="en-US" sz="1200" dirty="0">
                <a:solidFill>
                  <a:srgbClr val="AEB6C6"/>
                </a:solidFill>
                <a:latin typeface="IBM Plex Sans" pitchFamily="34" charset="0"/>
                <a:ea typeface="IBM Plex Sans" pitchFamily="34" charset="-122"/>
                <a:cs typeface="IBM Plex Sans" pitchFamily="34" charset="-120"/>
              </a:rPr>
              <a:t> Inventory, Shipping</a:t>
            </a:r>
            <a:endParaRPr lang="en-US" sz="1200" dirty="0"/>
          </a:p>
        </p:txBody>
      </p:sp>
      <p:sp>
        <p:nvSpPr>
          <p:cNvPr id="32" name="Shape 21"/>
          <p:cNvSpPr/>
          <p:nvPr/>
        </p:nvSpPr>
        <p:spPr>
          <a:xfrm>
            <a:off x="812800" y="5064820"/>
            <a:ext cx="10566400" cy="777180"/>
          </a:xfrm>
          <a:prstGeom prst="roundRect">
            <a:avLst>
              <a:gd name="adj" fmla="val 9805"/>
            </a:avLst>
          </a:prstGeom>
          <a:solidFill>
            <a:srgbClr val="E7EEF9"/>
          </a:solidFill>
          <a:ln/>
        </p:spPr>
      </p:sp>
      <p:sp>
        <p:nvSpPr>
          <p:cNvPr id="33" name="Shape 22"/>
          <p:cNvSpPr/>
          <p:nvPr/>
        </p:nvSpPr>
        <p:spPr>
          <a:xfrm>
            <a:off x="812800" y="5064820"/>
            <a:ext cx="10566400" cy="777180"/>
          </a:xfrm>
          <a:custGeom>
            <a:avLst/>
            <a:gdLst/>
            <a:ahLst/>
            <a:cxnLst/>
            <a:rect l="l" t="t" r="r" b="b"/>
            <a:pathLst>
              <a:path w="10566400" h="777180">
                <a:moveTo>
                  <a:pt x="76200" y="777180"/>
                </a:moveTo>
                <a:lnTo>
                  <a:pt x="76200" y="777180"/>
                </a:lnTo>
                <a:arcTo hR="76200" wR="76200" stAng="5400000" swAng="5400000"/>
                <a:lnTo>
                  <a:pt x="0" y="76200"/>
                </a:lnTo>
                <a:arcTo hR="76200" wR="76200" stAng="10800000" swAng="5400000"/>
                <a:lnTo>
                  <a:pt x="76200" y="0"/>
                </a:lnTo>
                <a:arcTo hR="76200" wR="38100" stAng="16200000" swAng="-5400000"/>
                <a:lnTo>
                  <a:pt x="38100" y="700980"/>
                </a:lnTo>
                <a:arcTo hR="76200" wR="38100" stAng="10800000" swAng="-5400000"/>
                <a:close/>
              </a:path>
            </a:pathLst>
          </a:custGeom>
          <a:solidFill>
            <a:srgbClr val="2F6FD1"/>
          </a:solidFill>
          <a:ln/>
        </p:spPr>
      </p:sp>
      <p:pic>
        <p:nvPicPr>
          <p:cNvPr id="34" name="Image 9" descr="Link">    </p:cNvPr>
          <p:cNvPicPr>
            <a:picLocks noChangeAspect="1"/>
          </p:cNvPicPr>
          <p:nvPr/>
        </p:nvPicPr>
        <p:blipFill>
          <a:blip r:embed="rId10"/>
          <a:srcRect l="0" r="0" t="-644" b="-644"/>
          <a:stretch/>
        </p:blipFill>
        <p:spPr>
          <a:xfrm>
            <a:off x="1054100" y="5326410"/>
            <a:ext cx="219422" cy="254000"/>
          </a:xfrm>
          <a:prstGeom prst="rect">
            <a:avLst/>
          </a:prstGeom>
        </p:spPr>
      </p:pic>
      <p:sp>
        <p:nvSpPr>
          <p:cNvPr id="35" name="Text 23"/>
          <p:cNvSpPr/>
          <p:nvPr/>
        </p:nvSpPr>
        <p:spPr>
          <a:xfrm>
            <a:off x="1400522" y="5204520"/>
            <a:ext cx="10068742"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IBM Plex Sans" pitchFamily="34" charset="0"/>
                <a:ea typeface="IBM Plex Sans" pitchFamily="34" charset="-122"/>
                <a:cs typeface="IBM Plex Sans" pitchFamily="34" charset="-120"/>
              </a:rPr>
              <a:t>Roles are dynamic.</a:t>
            </a:r>
            <a:r>
              <a:rPr lang="en-US" sz="1400" dirty="0">
                <a:solidFill>
                  <a:srgbClr val="141B2D"/>
                </a:solidFill>
                <a:latin typeface="IBM Plex Sans" pitchFamily="34" charset="0"/>
                <a:ea typeface="IBM Plex Sans" pitchFamily="34" charset="-122"/>
                <a:cs typeface="IBM Plex Sans" pitchFamily="34" charset="-120"/>
              </a:rPr>
              <a:t> Inventory is a server when Sales asks for stock — and becomes a client when it orders more laptops from a Supplier agent.</a:t>
            </a:r>
            <a:endParaRPr lang="en-US" sz="1400" dirty="0"/>
          </a:p>
        </p:txBody>
      </p:sp>
      <p:sp>
        <p:nvSpPr>
          <p:cNvPr id="36" name="Text 24"/>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7" name="Text 25"/>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BUILDING BLOCKS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What agents exchange</a:t>
            </a:r>
            <a:endParaRPr lang="en-US" sz="3200" dirty="0"/>
          </a:p>
        </p:txBody>
      </p:sp>
      <p:sp>
        <p:nvSpPr>
          <p:cNvPr id="4" name="Shape 2"/>
          <p:cNvSpPr/>
          <p:nvPr/>
        </p:nvSpPr>
        <p:spPr>
          <a:xfrm>
            <a:off x="812800" y="1823641"/>
            <a:ext cx="2527300" cy="2146201"/>
          </a:xfrm>
          <a:prstGeom prst="roundRect">
            <a:avLst>
              <a:gd name="adj" fmla="val 4734"/>
            </a:avLst>
          </a:prstGeom>
          <a:solidFill>
            <a:srgbClr val="FCFBF8"/>
          </a:solidFill>
          <a:ln/>
        </p:spPr>
      </p:sp>
      <p:sp>
        <p:nvSpPr>
          <p:cNvPr id="5" name="Shape 3"/>
          <p:cNvSpPr/>
          <p:nvPr/>
        </p:nvSpPr>
        <p:spPr>
          <a:xfrm>
            <a:off x="812800" y="1823641"/>
            <a:ext cx="2527300" cy="2146201"/>
          </a:xfrm>
          <a:custGeom>
            <a:avLst/>
            <a:gdLst/>
            <a:ahLst/>
            <a:cxnLst/>
            <a:rect l="l" t="t" r="r" b="b"/>
            <a:pathLst>
              <a:path w="2527300" h="214620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2F6FD1"/>
          </a:solidFill>
          <a:ln/>
        </p:spPr>
      </p:sp>
      <p:sp>
        <p:nvSpPr>
          <p:cNvPr id="6" name="Text 4"/>
          <p:cNvSpPr/>
          <p:nvPr/>
        </p:nvSpPr>
        <p:spPr>
          <a:xfrm>
            <a:off x="1016000" y="206494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Message</a:t>
            </a:r>
            <a:endParaRPr lang="en-US" sz="1700" dirty="0"/>
          </a:p>
        </p:txBody>
      </p:sp>
      <p:sp>
        <p:nvSpPr>
          <p:cNvPr id="7" name="Text 5"/>
          <p:cNvSpPr/>
          <p:nvPr/>
        </p:nvSpPr>
        <p:spPr>
          <a:xfrm>
            <a:off x="1016000" y="2400201"/>
            <a:ext cx="2184527"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One turn of the conversation, sent as role “user” (client) or “agent” (server).</a:t>
            </a:r>
            <a:endParaRPr lang="en-US" sz="1300" dirty="0"/>
          </a:p>
        </p:txBody>
      </p:sp>
      <p:sp>
        <p:nvSpPr>
          <p:cNvPr id="8" name="Text 6"/>
          <p:cNvSpPr/>
          <p:nvPr/>
        </p:nvSpPr>
        <p:spPr>
          <a:xfrm>
            <a:off x="1016000" y="3477121"/>
            <a:ext cx="2120900" cy="289520"/>
          </a:xfrm>
          <a:prstGeom prst="roundRect">
            <a:avLst>
              <a:gd name="adj" fmla="val 17546"/>
            </a:avLst>
          </a:prstGeom>
          <a:solidFill>
            <a:srgbClr val="E7EEF9"/>
          </a:solidFill>
          <a:ln/>
        </p:spPr>
        <p:txBody>
          <a:bodyPr wrap="square" lIns="61321" tIns="23221" rIns="2266"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“Reserve 100 laptops”</a:t>
            </a:r>
            <a:endParaRPr lang="en-US" sz="1200" dirty="0"/>
          </a:p>
        </p:txBody>
      </p:sp>
      <p:sp>
        <p:nvSpPr>
          <p:cNvPr id="9" name="Shape 7"/>
          <p:cNvSpPr/>
          <p:nvPr/>
        </p:nvSpPr>
        <p:spPr>
          <a:xfrm>
            <a:off x="3492500" y="1823641"/>
            <a:ext cx="2527300" cy="2146201"/>
          </a:xfrm>
          <a:prstGeom prst="roundRect">
            <a:avLst>
              <a:gd name="adj" fmla="val 4734"/>
            </a:avLst>
          </a:prstGeom>
          <a:solidFill>
            <a:srgbClr val="FCFBF8"/>
          </a:solidFill>
          <a:ln/>
        </p:spPr>
      </p:sp>
      <p:sp>
        <p:nvSpPr>
          <p:cNvPr id="10" name="Shape 8"/>
          <p:cNvSpPr/>
          <p:nvPr/>
        </p:nvSpPr>
        <p:spPr>
          <a:xfrm>
            <a:off x="3492500" y="1823641"/>
            <a:ext cx="2527300" cy="2146201"/>
          </a:xfrm>
          <a:custGeom>
            <a:avLst/>
            <a:gdLst/>
            <a:ahLst/>
            <a:cxnLst/>
            <a:rect l="l" t="t" r="r" b="b"/>
            <a:pathLst>
              <a:path w="2527300" h="214620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2F6FD1"/>
          </a:solidFill>
          <a:ln/>
        </p:spPr>
      </p:sp>
      <p:sp>
        <p:nvSpPr>
          <p:cNvPr id="11" name="Text 9"/>
          <p:cNvSpPr/>
          <p:nvPr/>
        </p:nvSpPr>
        <p:spPr>
          <a:xfrm>
            <a:off x="3695700" y="206494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Part</a:t>
            </a:r>
            <a:endParaRPr lang="en-US" sz="1700" dirty="0"/>
          </a:p>
        </p:txBody>
      </p:sp>
      <p:sp>
        <p:nvSpPr>
          <p:cNvPr id="12" name="Text 10"/>
          <p:cNvSpPr/>
          <p:nvPr/>
        </p:nvSpPr>
        <p:spPr>
          <a:xfrm>
            <a:off x="3695700" y="2400201"/>
            <a:ext cx="218452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 piece of content inside a message or artifact: text, a file, or JSON data.</a:t>
            </a:r>
            <a:endParaRPr lang="en-US" sz="1300" dirty="0"/>
          </a:p>
        </p:txBody>
      </p:sp>
      <p:sp>
        <p:nvSpPr>
          <p:cNvPr id="13" name="Text 11"/>
          <p:cNvSpPr/>
          <p:nvPr/>
        </p:nvSpPr>
        <p:spPr>
          <a:xfrm>
            <a:off x="3695700" y="3477121"/>
            <a:ext cx="2120900" cy="289520"/>
          </a:xfrm>
          <a:prstGeom prst="roundRect">
            <a:avLst>
              <a:gd name="adj" fmla="val 17546"/>
            </a:avLst>
          </a:prstGeom>
          <a:solidFill>
            <a:srgbClr val="E7EEF9"/>
          </a:solidFill>
          <a:ln/>
        </p:spPr>
        <p:txBody>
          <a:bodyPr wrap="square" lIns="61321" tIns="23221" rIns="2266"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Text + JSON order</a:t>
            </a:r>
            <a:endParaRPr lang="en-US" sz="1200" dirty="0"/>
          </a:p>
        </p:txBody>
      </p:sp>
      <p:sp>
        <p:nvSpPr>
          <p:cNvPr id="14" name="Shape 12"/>
          <p:cNvSpPr/>
          <p:nvPr/>
        </p:nvSpPr>
        <p:spPr>
          <a:xfrm>
            <a:off x="6172200" y="1823641"/>
            <a:ext cx="2527300" cy="2146201"/>
          </a:xfrm>
          <a:prstGeom prst="roundRect">
            <a:avLst>
              <a:gd name="adj" fmla="val 4734"/>
            </a:avLst>
          </a:prstGeom>
          <a:solidFill>
            <a:srgbClr val="FCFBF8"/>
          </a:solidFill>
          <a:ln/>
        </p:spPr>
      </p:sp>
      <p:sp>
        <p:nvSpPr>
          <p:cNvPr id="15" name="Shape 13"/>
          <p:cNvSpPr/>
          <p:nvPr/>
        </p:nvSpPr>
        <p:spPr>
          <a:xfrm>
            <a:off x="6172200" y="1823641"/>
            <a:ext cx="2527300" cy="2146201"/>
          </a:xfrm>
          <a:custGeom>
            <a:avLst/>
            <a:gdLst/>
            <a:ahLst/>
            <a:cxnLst/>
            <a:rect l="l" t="t" r="r" b="b"/>
            <a:pathLst>
              <a:path w="2527300" h="214620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9531E"/>
          </a:solidFill>
          <a:ln/>
        </p:spPr>
      </p:sp>
      <p:sp>
        <p:nvSpPr>
          <p:cNvPr id="16" name="Text 14"/>
          <p:cNvSpPr/>
          <p:nvPr/>
        </p:nvSpPr>
        <p:spPr>
          <a:xfrm>
            <a:off x="6375400" y="206494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Task</a:t>
            </a:r>
            <a:endParaRPr lang="en-US" sz="1700" dirty="0"/>
          </a:p>
        </p:txBody>
      </p:sp>
      <p:sp>
        <p:nvSpPr>
          <p:cNvPr id="17" name="Text 15"/>
          <p:cNvSpPr/>
          <p:nvPr/>
        </p:nvSpPr>
        <p:spPr>
          <a:xfrm>
            <a:off x="6375400" y="2400201"/>
            <a:ext cx="218452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stateful unit of work: an ID, a status and a history the client can follow.</a:t>
            </a:r>
            <a:endParaRPr lang="en-US" sz="1300" dirty="0"/>
          </a:p>
        </p:txBody>
      </p:sp>
      <p:sp>
        <p:nvSpPr>
          <p:cNvPr id="18" name="Text 16"/>
          <p:cNvSpPr/>
          <p:nvPr/>
        </p:nvSpPr>
        <p:spPr>
          <a:xfrm>
            <a:off x="6375400" y="3477121"/>
            <a:ext cx="2120900" cy="289520"/>
          </a:xfrm>
          <a:prstGeom prst="roundRect">
            <a:avLst>
              <a:gd name="adj" fmla="val 17546"/>
            </a:avLst>
          </a:prstGeom>
          <a:solidFill>
            <a:srgbClr val="FCE9DD"/>
          </a:solidFill>
          <a:ln/>
        </p:spPr>
        <p:txBody>
          <a:bodyPr wrap="square" lIns="61321" tIns="23221" rIns="2266"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Task T-481 · working</a:t>
            </a:r>
            <a:endParaRPr lang="en-US" sz="1200" dirty="0"/>
          </a:p>
        </p:txBody>
      </p:sp>
      <p:sp>
        <p:nvSpPr>
          <p:cNvPr id="19" name="Shape 17"/>
          <p:cNvSpPr/>
          <p:nvPr/>
        </p:nvSpPr>
        <p:spPr>
          <a:xfrm>
            <a:off x="8851900" y="1823641"/>
            <a:ext cx="2527300" cy="2146201"/>
          </a:xfrm>
          <a:prstGeom prst="roundRect">
            <a:avLst>
              <a:gd name="adj" fmla="val 4734"/>
            </a:avLst>
          </a:prstGeom>
          <a:solidFill>
            <a:srgbClr val="FCFBF8"/>
          </a:solidFill>
          <a:ln/>
        </p:spPr>
      </p:sp>
      <p:sp>
        <p:nvSpPr>
          <p:cNvPr id="20" name="Shape 18"/>
          <p:cNvSpPr/>
          <p:nvPr/>
        </p:nvSpPr>
        <p:spPr>
          <a:xfrm>
            <a:off x="8851900" y="1823641"/>
            <a:ext cx="2527300" cy="2146201"/>
          </a:xfrm>
          <a:custGeom>
            <a:avLst/>
            <a:gdLst/>
            <a:ahLst/>
            <a:cxnLst/>
            <a:rect l="l" t="t" r="r" b="b"/>
            <a:pathLst>
              <a:path w="2527300" h="214620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9531E"/>
          </a:solidFill>
          <a:ln/>
        </p:spPr>
      </p:sp>
      <p:sp>
        <p:nvSpPr>
          <p:cNvPr id="21" name="Text 19"/>
          <p:cNvSpPr/>
          <p:nvPr/>
        </p:nvSpPr>
        <p:spPr>
          <a:xfrm>
            <a:off x="9055100" y="206494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Artifact</a:t>
            </a:r>
            <a:endParaRPr lang="en-US" sz="1700" dirty="0"/>
          </a:p>
        </p:txBody>
      </p:sp>
      <p:sp>
        <p:nvSpPr>
          <p:cNvPr id="22" name="Text 20"/>
          <p:cNvSpPr/>
          <p:nvPr/>
        </p:nvSpPr>
        <p:spPr>
          <a:xfrm>
            <a:off x="9055100" y="2400201"/>
            <a:ext cx="218452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deliverable a task produces, such as a report or a plan, built from parts.</a:t>
            </a:r>
            <a:endParaRPr lang="en-US" sz="1300" dirty="0"/>
          </a:p>
        </p:txBody>
      </p:sp>
      <p:sp>
        <p:nvSpPr>
          <p:cNvPr id="23" name="Text 21"/>
          <p:cNvSpPr/>
          <p:nvPr/>
        </p:nvSpPr>
        <p:spPr>
          <a:xfrm>
            <a:off x="9055100" y="3477121"/>
            <a:ext cx="2120900" cy="289520"/>
          </a:xfrm>
          <a:prstGeom prst="roundRect">
            <a:avLst>
              <a:gd name="adj" fmla="val 17546"/>
            </a:avLst>
          </a:prstGeom>
          <a:solidFill>
            <a:srgbClr val="FCE9DD"/>
          </a:solidFill>
          <a:ln/>
        </p:spPr>
        <p:txBody>
          <a:bodyPr wrap="square" lIns="61321" tIns="23221" rIns="2266"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Backorder plan (JSON)</a:t>
            </a:r>
            <a:endParaRPr lang="en-US" sz="1200" dirty="0"/>
          </a:p>
        </p:txBody>
      </p:sp>
      <p:sp>
        <p:nvSpPr>
          <p:cNvPr id="24" name="Shape 22"/>
          <p:cNvSpPr/>
          <p:nvPr/>
        </p:nvSpPr>
        <p:spPr>
          <a:xfrm>
            <a:off x="815975" y="4227016"/>
            <a:ext cx="10560050" cy="1433711"/>
          </a:xfrm>
          <a:prstGeom prst="roundRect">
            <a:avLst>
              <a:gd name="adj" fmla="val 8637"/>
            </a:avLst>
          </a:prstGeom>
          <a:solidFill>
            <a:srgbClr val="FCFBF8"/>
          </a:solidFill>
          <a:ln w="6350">
            <a:solidFill>
              <a:srgbClr val="DAD6CC"/>
            </a:solidFill>
            <a:prstDash val="solid"/>
          </a:ln>
        </p:spPr>
      </p:sp>
      <p:sp>
        <p:nvSpPr>
          <p:cNvPr id="25" name="Text 23"/>
          <p:cNvSpPr/>
          <p:nvPr/>
        </p:nvSpPr>
        <p:spPr>
          <a:xfrm>
            <a:off x="1047750" y="4407991"/>
            <a:ext cx="103993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IBM Plex Sans" pitchFamily="34" charset="0"/>
                <a:ea typeface="IBM Plex Sans" pitchFamily="34" charset="-122"/>
                <a:cs typeface="IBM Plex Sans" pitchFamily="34" charset="-120"/>
              </a:rPr>
              <a:t>TASK LIFECYCLE</a:t>
            </a:r>
            <a:endParaRPr lang="en-US" sz="1200" dirty="0"/>
          </a:p>
        </p:txBody>
      </p:sp>
      <p:sp>
        <p:nvSpPr>
          <p:cNvPr id="26" name="Text 24"/>
          <p:cNvSpPr/>
          <p:nvPr/>
        </p:nvSpPr>
        <p:spPr>
          <a:xfrm>
            <a:off x="1054100" y="4741962"/>
            <a:ext cx="1064270" cy="302220"/>
          </a:xfrm>
          <a:prstGeom prst="roundRect">
            <a:avLst>
              <a:gd name="adj" fmla="val 50000"/>
            </a:avLst>
          </a:prstGeom>
          <a:noFill/>
          <a:ln w="12700">
            <a:solidFill>
              <a:srgbClr val="2F6FD1"/>
            </a:solidFill>
            <a:prstDash val="solid"/>
          </a:ln>
        </p:spPr>
        <p:txBody>
          <a:bodyPr wrap="none" lIns="0" tIns="0" rIns="0" bIns="0" rtlCol="0" anchor="ctr">
            <a:normAutofit/>
          </a:bodyPr>
          <a:lstStyle/>
          <a:p>
            <a:pPr algn="ctr"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submitted</a:t>
            </a:r>
            <a:endParaRPr lang="en-US" sz="1200" dirty="0"/>
          </a:p>
        </p:txBody>
      </p:sp>
      <p:pic>
        <p:nvPicPr>
          <p:cNvPr id="27" name="Image 0" descr="arrow-right">    </p:cNvPr>
          <p:cNvPicPr>
            <a:picLocks noChangeAspect="1"/>
          </p:cNvPicPr>
          <p:nvPr/>
        </p:nvPicPr>
        <p:blipFill>
          <a:blip r:embed="rId1"/>
          <a:srcRect l="0" r="0" t="0" b="0"/>
          <a:stretch/>
        </p:blipFill>
        <p:spPr>
          <a:xfrm>
            <a:off x="2226320" y="4829572"/>
            <a:ext cx="254000" cy="127000"/>
          </a:xfrm>
          <a:prstGeom prst="rect">
            <a:avLst/>
          </a:prstGeom>
        </p:spPr>
      </p:pic>
      <p:sp>
        <p:nvSpPr>
          <p:cNvPr id="28" name="Text 25"/>
          <p:cNvSpPr/>
          <p:nvPr/>
        </p:nvSpPr>
        <p:spPr>
          <a:xfrm>
            <a:off x="2588270" y="4741962"/>
            <a:ext cx="881410" cy="302220"/>
          </a:xfrm>
          <a:prstGeom prst="roundRect">
            <a:avLst>
              <a:gd name="adj" fmla="val 50000"/>
            </a:avLst>
          </a:prstGeom>
          <a:noFill/>
          <a:ln w="12700">
            <a:solidFill>
              <a:srgbClr val="2F6FD1"/>
            </a:solidFill>
            <a:prstDash val="solid"/>
          </a:ln>
        </p:spPr>
        <p:txBody>
          <a:bodyPr wrap="none" lIns="0" tIns="0" rIns="0" bIns="0" rtlCol="0" anchor="ctr">
            <a:normAutofit/>
          </a:bodyPr>
          <a:lstStyle/>
          <a:p>
            <a:pPr algn="ctr"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working</a:t>
            </a:r>
            <a:endParaRPr lang="en-US" sz="1200" dirty="0"/>
          </a:p>
        </p:txBody>
      </p:sp>
      <p:pic>
        <p:nvPicPr>
          <p:cNvPr id="29" name="Image 1" descr="arrow-right">    </p:cNvPr>
          <p:cNvPicPr>
            <a:picLocks noChangeAspect="1"/>
          </p:cNvPicPr>
          <p:nvPr/>
        </p:nvPicPr>
        <p:blipFill>
          <a:blip r:embed="rId2"/>
          <a:srcRect l="0" r="0" t="0" b="0"/>
          <a:stretch/>
        </p:blipFill>
        <p:spPr>
          <a:xfrm>
            <a:off x="3577630" y="4829572"/>
            <a:ext cx="254000" cy="127000"/>
          </a:xfrm>
          <a:prstGeom prst="rect">
            <a:avLst/>
          </a:prstGeom>
        </p:spPr>
      </p:pic>
      <p:sp>
        <p:nvSpPr>
          <p:cNvPr id="30" name="Text 26"/>
          <p:cNvSpPr/>
          <p:nvPr/>
        </p:nvSpPr>
        <p:spPr>
          <a:xfrm>
            <a:off x="3933230" y="4748312"/>
            <a:ext cx="1051570" cy="289520"/>
          </a:xfrm>
          <a:custGeom>
            <a:avLst/>
            <a:gdLst/>
            <a:ahLst/>
            <a:cxnLst/>
            <a:rect l="l" t="t" r="r" b="b"/>
            <a:pathLst>
              <a:path w="1051570" h="289520">
                <a:moveTo>
                  <a:pt x="144760" y="0"/>
                </a:moveTo>
                <a:lnTo>
                  <a:pt x="906810" y="0"/>
                </a:lnTo>
                <a:arcTo hR="144760" wR="144760" stAng="16200000" swAng="5400000"/>
                <a:lnTo>
                  <a:pt x="1051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2F6FD1"/>
          </a:solidFill>
          <a:ln/>
        </p:spPr>
        <p:txBody>
          <a:bodyPr wrap="none" lIns="0" tIns="0" rIns="0" bIns="0" rtlCol="0" anchor="ctr">
            <a:normAutofit/>
          </a:bodyPr>
          <a:lstStyle/>
          <a:p>
            <a:pPr algn="ctr" indent="0" marL="0">
              <a:lnSpc>
                <a:spcPts val="1680"/>
              </a:lnSpc>
              <a:buNone/>
            </a:pPr>
            <a:r>
              <a:rPr lang="en-US" sz="1200" dirty="0">
                <a:solidFill>
                  <a:srgbClr val="FCFBF8"/>
                </a:solidFill>
                <a:latin typeface="JetBrains Mono" pitchFamily="49" charset="0"/>
                <a:ea typeface="JetBrains Mono" pitchFamily="49" charset="-122"/>
                <a:cs typeface="JetBrains Mono" pitchFamily="49" charset="-120"/>
              </a:rPr>
              <a:t>completed</a:t>
            </a:r>
            <a:endParaRPr lang="en-US" sz="1200" dirty="0"/>
          </a:p>
        </p:txBody>
      </p:sp>
      <p:sp>
        <p:nvSpPr>
          <p:cNvPr id="31" name="Text 27"/>
          <p:cNvSpPr/>
          <p:nvPr/>
        </p:nvSpPr>
        <p:spPr>
          <a:xfrm>
            <a:off x="5086400" y="4786412"/>
            <a:ext cx="75247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or ends as</a:t>
            </a:r>
            <a:endParaRPr lang="en-US" sz="1200" dirty="0"/>
          </a:p>
        </p:txBody>
      </p:sp>
      <p:sp>
        <p:nvSpPr>
          <p:cNvPr id="32" name="Text 28"/>
          <p:cNvSpPr/>
          <p:nvPr/>
        </p:nvSpPr>
        <p:spPr>
          <a:xfrm>
            <a:off x="5889675" y="4748312"/>
            <a:ext cx="777280" cy="289520"/>
          </a:xfrm>
          <a:custGeom>
            <a:avLst/>
            <a:gdLst/>
            <a:ahLst/>
            <a:cxnLst/>
            <a:rect l="l" t="t" r="r" b="b"/>
            <a:pathLst>
              <a:path w="777280" h="289520">
                <a:moveTo>
                  <a:pt x="144760" y="0"/>
                </a:moveTo>
                <a:lnTo>
                  <a:pt x="632520" y="0"/>
                </a:lnTo>
                <a:arcTo hR="144760" wR="144760" stAng="16200000" swAng="5400000"/>
                <a:lnTo>
                  <a:pt x="77728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failed</a:t>
            </a:r>
            <a:endParaRPr lang="en-US" sz="1200" dirty="0"/>
          </a:p>
        </p:txBody>
      </p:sp>
      <p:sp>
        <p:nvSpPr>
          <p:cNvPr id="33" name="Text 29"/>
          <p:cNvSpPr/>
          <p:nvPr/>
        </p:nvSpPr>
        <p:spPr>
          <a:xfrm>
            <a:off x="6768554" y="4748312"/>
            <a:ext cx="960140" cy="289520"/>
          </a:xfrm>
          <a:custGeom>
            <a:avLst/>
            <a:gdLst/>
            <a:ahLst/>
            <a:cxnLst/>
            <a:rect l="l" t="t" r="r" b="b"/>
            <a:pathLst>
              <a:path w="960140" h="289520">
                <a:moveTo>
                  <a:pt x="144760" y="0"/>
                </a:moveTo>
                <a:lnTo>
                  <a:pt x="815380" y="0"/>
                </a:lnTo>
                <a:arcTo hR="144760" wR="144760" stAng="16200000" swAng="5400000"/>
                <a:lnTo>
                  <a:pt x="96014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canceled</a:t>
            </a:r>
            <a:endParaRPr lang="en-US" sz="1200" dirty="0"/>
          </a:p>
        </p:txBody>
      </p:sp>
      <p:sp>
        <p:nvSpPr>
          <p:cNvPr id="34" name="Text 30"/>
          <p:cNvSpPr/>
          <p:nvPr/>
        </p:nvSpPr>
        <p:spPr>
          <a:xfrm>
            <a:off x="7830294" y="4748312"/>
            <a:ext cx="960140" cy="289520"/>
          </a:xfrm>
          <a:custGeom>
            <a:avLst/>
            <a:gdLst/>
            <a:ahLst/>
            <a:cxnLst/>
            <a:rect l="l" t="t" r="r" b="b"/>
            <a:pathLst>
              <a:path w="960140" h="289520">
                <a:moveTo>
                  <a:pt x="144760" y="0"/>
                </a:moveTo>
                <a:lnTo>
                  <a:pt x="815380" y="0"/>
                </a:lnTo>
                <a:arcTo hR="144760" wR="144760" stAng="16200000" swAng="5400000"/>
                <a:lnTo>
                  <a:pt x="96014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rejected</a:t>
            </a:r>
            <a:endParaRPr lang="en-US" sz="1200" dirty="0"/>
          </a:p>
        </p:txBody>
      </p:sp>
      <p:sp>
        <p:nvSpPr>
          <p:cNvPr id="35" name="Text 31"/>
          <p:cNvSpPr/>
          <p:nvPr/>
        </p:nvSpPr>
        <p:spPr>
          <a:xfrm>
            <a:off x="1054100" y="5171182"/>
            <a:ext cx="1521470" cy="302220"/>
          </a:xfrm>
          <a:prstGeom prst="roundRect">
            <a:avLst>
              <a:gd name="adj" fmla="val 5000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input-required</a:t>
            </a:r>
            <a:endParaRPr lang="en-US" sz="1200" dirty="0"/>
          </a:p>
        </p:txBody>
      </p:sp>
      <p:sp>
        <p:nvSpPr>
          <p:cNvPr id="36" name="Text 32"/>
          <p:cNvSpPr/>
          <p:nvPr/>
        </p:nvSpPr>
        <p:spPr>
          <a:xfrm>
            <a:off x="2689870" y="5171182"/>
            <a:ext cx="1430040" cy="302220"/>
          </a:xfrm>
          <a:prstGeom prst="roundRect">
            <a:avLst>
              <a:gd name="adj" fmla="val 5000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auth-required</a:t>
            </a:r>
            <a:endParaRPr lang="en-US" sz="1200" dirty="0"/>
          </a:p>
        </p:txBody>
      </p:sp>
      <p:sp>
        <p:nvSpPr>
          <p:cNvPr id="37" name="Text 33"/>
          <p:cNvSpPr/>
          <p:nvPr/>
        </p:nvSpPr>
        <p:spPr>
          <a:xfrm>
            <a:off x="4227860" y="5206702"/>
            <a:ext cx="567172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263"/>
                </a:solidFill>
                <a:latin typeface="IBM Plex Sans" pitchFamily="34" charset="0"/>
                <a:ea typeface="IBM Plex Sans" pitchFamily="34" charset="-122"/>
                <a:cs typeface="IBM Plex Sans" pitchFamily="34" charset="-120"/>
              </a:rPr>
              <a:t>Paused:</a:t>
            </a:r>
            <a:r>
              <a:rPr lang="en-US" sz="1300" dirty="0">
                <a:solidFill>
                  <a:srgbClr val="4A5263"/>
                </a:solidFill>
                <a:latin typeface="IBM Plex Sans" pitchFamily="34" charset="0"/>
                <a:ea typeface="IBM Plex Sans" pitchFamily="34" charset="-122"/>
                <a:cs typeface="IBM Plex Sans" pitchFamily="34" charset="-120"/>
              </a:rPr>
              <a:t> the task waits for the client, then goes back to working.</a:t>
            </a:r>
            <a:endParaRPr lang="en-US" sz="1300" dirty="0"/>
          </a:p>
        </p:txBody>
      </p:sp>
      <p:sp>
        <p:nvSpPr>
          <p:cNvPr id="38" name="Text 34"/>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9" name="Text 35"/>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BUILDING BLOCKS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Agent Skills: what an agent can do</a:t>
            </a:r>
            <a:endParaRPr lang="en-US" sz="3200" dirty="0"/>
          </a:p>
        </p:txBody>
      </p:sp>
      <p:sp>
        <p:nvSpPr>
          <p:cNvPr id="4" name="Text 2"/>
          <p:cNvSpPr/>
          <p:nvPr/>
        </p:nvSpPr>
        <p:spPr>
          <a:xfrm>
            <a:off x="812800" y="1823641"/>
            <a:ext cx="53632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A specific job the agent offers</a:t>
            </a:r>
            <a:endParaRPr lang="en-US" sz="1600" dirty="0"/>
          </a:p>
        </p:txBody>
      </p:sp>
      <p:sp>
        <p:nvSpPr>
          <p:cNvPr id="5" name="Text 3"/>
          <p:cNvSpPr/>
          <p:nvPr/>
        </p:nvSpPr>
        <p:spPr>
          <a:xfrm>
            <a:off x="812800" y="2105571"/>
            <a:ext cx="536321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From a simple lookup to a multi-step workflow. An agent usually lists several skills.</a:t>
            </a:r>
            <a:endParaRPr lang="en-US" sz="1300" dirty="0"/>
          </a:p>
        </p:txBody>
      </p:sp>
      <p:sp>
        <p:nvSpPr>
          <p:cNvPr id="6" name="Text 4"/>
          <p:cNvSpPr/>
          <p:nvPr/>
        </p:nvSpPr>
        <p:spPr>
          <a:xfrm>
            <a:off x="812800" y="2758331"/>
            <a:ext cx="53632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Written for an LLM to read</a:t>
            </a:r>
            <a:endParaRPr lang="en-US" sz="1600" dirty="0"/>
          </a:p>
        </p:txBody>
      </p:sp>
      <p:sp>
        <p:nvSpPr>
          <p:cNvPr id="7" name="Text 5"/>
          <p:cNvSpPr/>
          <p:nvPr/>
        </p:nvSpPr>
        <p:spPr>
          <a:xfrm>
            <a:off x="812800" y="3040261"/>
            <a:ext cx="536321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ID, name, description, tags and example prompts help a client agent decide when to use it.</a:t>
            </a:r>
            <a:endParaRPr lang="en-US" sz="1300" dirty="0"/>
          </a:p>
        </p:txBody>
      </p:sp>
      <p:sp>
        <p:nvSpPr>
          <p:cNvPr id="8" name="Text 6"/>
          <p:cNvSpPr/>
          <p:nvPr/>
        </p:nvSpPr>
        <p:spPr>
          <a:xfrm>
            <a:off x="812800" y="3693021"/>
            <a:ext cx="53632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Formats declared upfront</a:t>
            </a:r>
            <a:endParaRPr lang="en-US" sz="1600" dirty="0"/>
          </a:p>
        </p:txBody>
      </p:sp>
      <p:sp>
        <p:nvSpPr>
          <p:cNvPr id="9" name="Text 7"/>
          <p:cNvSpPr/>
          <p:nvPr/>
        </p:nvSpPr>
        <p:spPr>
          <a:xfrm>
            <a:off x="812800" y="3974951"/>
            <a:ext cx="536321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Input and output modes — plain text, JSON, files — tell the client what to send and expect.</a:t>
            </a:r>
            <a:endParaRPr lang="en-US" sz="1300" dirty="0"/>
          </a:p>
        </p:txBody>
      </p:sp>
      <p:sp>
        <p:nvSpPr>
          <p:cNvPr id="10" name="Shape 8"/>
          <p:cNvSpPr/>
          <p:nvPr/>
        </p:nvSpPr>
        <p:spPr>
          <a:xfrm>
            <a:off x="812800" y="4897239"/>
            <a:ext cx="5207000" cy="944761"/>
          </a:xfrm>
          <a:prstGeom prst="roundRect">
            <a:avLst>
              <a:gd name="adj" fmla="val 10754"/>
            </a:avLst>
          </a:prstGeom>
          <a:solidFill>
            <a:srgbClr val="E9E5DC"/>
          </a:solidFill>
          <a:ln/>
        </p:spPr>
      </p:sp>
      <p:pic>
        <p:nvPicPr>
          <p:cNvPr id="11" name="Image 0" descr="Lightbulb">    </p:cNvPr>
          <p:cNvPicPr>
            <a:picLocks noChangeAspect="1"/>
          </p:cNvPicPr>
          <p:nvPr/>
        </p:nvPicPr>
        <p:blipFill>
          <a:blip r:embed="rId1"/>
          <a:srcRect l="0" r="0" t="-718" b="-718"/>
          <a:stretch/>
        </p:blipFill>
        <p:spPr>
          <a:xfrm>
            <a:off x="990600" y="5049639"/>
            <a:ext cx="100161" cy="228600"/>
          </a:xfrm>
          <a:prstGeom prst="rect">
            <a:avLst/>
          </a:prstGeom>
        </p:spPr>
      </p:pic>
      <p:sp>
        <p:nvSpPr>
          <p:cNvPr id="12" name="Text 9"/>
          <p:cNvSpPr/>
          <p:nvPr/>
        </p:nvSpPr>
        <p:spPr>
          <a:xfrm>
            <a:off x="1205061" y="5049639"/>
            <a:ext cx="4776047"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263"/>
                </a:solidFill>
                <a:latin typeface="IBM Plex Sans" pitchFamily="34" charset="0"/>
                <a:ea typeface="IBM Plex Sans" pitchFamily="34" charset="-122"/>
                <a:cs typeface="IBM Plex Sans" pitchFamily="34" charset="-120"/>
              </a:rPr>
              <a:t>Not the same as instruction-style “agent skills”</a:t>
            </a:r>
            <a:r>
              <a:rPr lang="en-US" sz="1200" dirty="0">
                <a:solidFill>
                  <a:srgbClr val="4A5263"/>
                </a:solidFill>
                <a:latin typeface="IBM Plex Sans" pitchFamily="34" charset="0"/>
                <a:ea typeface="IBM Plex Sans" pitchFamily="34" charset="-122"/>
                <a:cs typeface="IBM Plex Sans" pitchFamily="34" charset="-120"/>
              </a:rPr>
              <a:t> (e.g. SKILL.md folders). An A2A skill is a capability the agent advertises to others, not instructions it loads.</a:t>
            </a:r>
            <a:endParaRPr lang="en-US" sz="1200" dirty="0"/>
          </a:p>
        </p:txBody>
      </p:sp>
      <p:sp>
        <p:nvSpPr>
          <p:cNvPr id="13" name="Shape 10"/>
          <p:cNvSpPr/>
          <p:nvPr/>
        </p:nvSpPr>
        <p:spPr>
          <a:xfrm>
            <a:off x="6378575" y="1826816"/>
            <a:ext cx="4997450" cy="4012009"/>
          </a:xfrm>
          <a:prstGeom prst="roundRect">
            <a:avLst>
              <a:gd name="adj" fmla="val 3719"/>
            </a:avLst>
          </a:prstGeom>
          <a:solidFill>
            <a:srgbClr val="FCFBF8"/>
          </a:solidFill>
          <a:ln w="6350">
            <a:solidFill>
              <a:srgbClr val="DAD6CC"/>
            </a:solidFill>
            <a:prstDash val="solid"/>
          </a:ln>
          <a:effectLst>
            <a:outerShdw sx="100000" sy="100000" kx="0" ky="0" algn="bl" rotWithShape="0" blurRad="254000" dist="76200" dir="5400000">
              <a:srgbClr val="141B2D">
                <a:alpha val="8000"/>
              </a:srgbClr>
            </a:outerShdw>
          </a:effectLst>
        </p:spPr>
      </p:sp>
      <p:sp>
        <p:nvSpPr>
          <p:cNvPr id="14" name="Shape 11"/>
          <p:cNvSpPr/>
          <p:nvPr/>
        </p:nvSpPr>
        <p:spPr>
          <a:xfrm>
            <a:off x="6635750" y="2130921"/>
            <a:ext cx="406400" cy="406400"/>
          </a:xfrm>
          <a:prstGeom prst="roundRect">
            <a:avLst>
              <a:gd name="adj" fmla="val 25000"/>
            </a:avLst>
          </a:prstGeom>
          <a:solidFill>
            <a:srgbClr val="E7EEF9"/>
          </a:solidFill>
          <a:ln/>
        </p:spPr>
      </p:sp>
      <p:pic>
        <p:nvPicPr>
          <p:cNvPr id="15" name="Image 1" descr="Database">    </p:cNvPr>
          <p:cNvPicPr>
            <a:picLocks noChangeAspect="1"/>
          </p:cNvPicPr>
          <p:nvPr/>
        </p:nvPicPr>
        <p:blipFill>
          <a:blip r:embed="rId2"/>
          <a:srcRect l="0" r="0" t="0" b="0"/>
          <a:stretch/>
        </p:blipFill>
        <p:spPr>
          <a:xfrm>
            <a:off x="6724650" y="2219821"/>
            <a:ext cx="228600" cy="228600"/>
          </a:xfrm>
          <a:prstGeom prst="rect">
            <a:avLst/>
          </a:prstGeom>
        </p:spPr>
      </p:pic>
      <p:sp>
        <p:nvSpPr>
          <p:cNvPr id="16" name="Text 12"/>
          <p:cNvSpPr/>
          <p:nvPr/>
        </p:nvSpPr>
        <p:spPr>
          <a:xfrm>
            <a:off x="7169150" y="2083991"/>
            <a:ext cx="27020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Skill · check_stock</a:t>
            </a:r>
            <a:endParaRPr lang="en-US" sz="1200" dirty="0"/>
          </a:p>
        </p:txBody>
      </p:sp>
      <p:sp>
        <p:nvSpPr>
          <p:cNvPr id="17" name="Text 13"/>
          <p:cNvSpPr/>
          <p:nvPr/>
        </p:nvSpPr>
        <p:spPr>
          <a:xfrm>
            <a:off x="7169150" y="2310011"/>
            <a:ext cx="314801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B2D"/>
                </a:solidFill>
                <a:latin typeface="Space Grotesk" pitchFamily="34" charset="0"/>
                <a:ea typeface="Space Grotesk" pitchFamily="34" charset="-122"/>
                <a:cs typeface="Space Grotesk" pitchFamily="34" charset="-120"/>
              </a:rPr>
              <a:t>Check warehouse stock</a:t>
            </a:r>
            <a:endParaRPr lang="en-US" sz="1800" dirty="0"/>
          </a:p>
        </p:txBody>
      </p:sp>
      <p:sp>
        <p:nvSpPr>
          <p:cNvPr id="18" name="Text 14"/>
          <p:cNvSpPr/>
          <p:nvPr/>
        </p:nvSpPr>
        <p:spPr>
          <a:xfrm>
            <a:off x="6635750" y="2711301"/>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DESCRIPTION</a:t>
            </a:r>
            <a:endParaRPr lang="en-US" sz="1200" dirty="0"/>
          </a:p>
        </p:txBody>
      </p:sp>
      <p:sp>
        <p:nvSpPr>
          <p:cNvPr id="19" name="Text 15"/>
          <p:cNvSpPr/>
          <p:nvPr/>
        </p:nvSpPr>
        <p:spPr>
          <a:xfrm>
            <a:off x="6635750" y="2962721"/>
            <a:ext cx="461759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Returns the real-time stock count for a product in the warehouse.</a:t>
            </a:r>
            <a:endParaRPr lang="en-US" sz="1400" dirty="0"/>
          </a:p>
        </p:txBody>
      </p:sp>
      <p:sp>
        <p:nvSpPr>
          <p:cNvPr id="20" name="Text 16"/>
          <p:cNvSpPr/>
          <p:nvPr/>
        </p:nvSpPr>
        <p:spPr>
          <a:xfrm>
            <a:off x="6635750" y="3587502"/>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TAGS</a:t>
            </a:r>
            <a:endParaRPr lang="en-US" sz="1200" dirty="0"/>
          </a:p>
        </p:txBody>
      </p:sp>
      <p:sp>
        <p:nvSpPr>
          <p:cNvPr id="21" name="Text 17"/>
          <p:cNvSpPr/>
          <p:nvPr/>
        </p:nvSpPr>
        <p:spPr>
          <a:xfrm>
            <a:off x="6635750" y="3864322"/>
            <a:ext cx="867767" cy="264120"/>
          </a:xfrm>
          <a:custGeom>
            <a:avLst/>
            <a:gdLst/>
            <a:ahLst/>
            <a:cxnLst/>
            <a:rect l="l" t="t" r="r" b="b"/>
            <a:pathLst>
              <a:path w="867767" h="264120">
                <a:moveTo>
                  <a:pt x="132060" y="0"/>
                </a:moveTo>
                <a:lnTo>
                  <a:pt x="735707" y="0"/>
                </a:lnTo>
                <a:arcTo hR="132060" wR="132060" stAng="16200000" swAng="5400000"/>
                <a:lnTo>
                  <a:pt x="867767"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inventory</a:t>
            </a:r>
            <a:endParaRPr lang="en-US" sz="1200" dirty="0"/>
          </a:p>
        </p:txBody>
      </p:sp>
      <p:sp>
        <p:nvSpPr>
          <p:cNvPr id="22" name="Text 18"/>
          <p:cNvSpPr/>
          <p:nvPr/>
        </p:nvSpPr>
        <p:spPr>
          <a:xfrm>
            <a:off x="7579717" y="3864322"/>
            <a:ext cx="980877" cy="264120"/>
          </a:xfrm>
          <a:custGeom>
            <a:avLst/>
            <a:gdLst/>
            <a:ahLst/>
            <a:cxnLst/>
            <a:rect l="l" t="t" r="r" b="b"/>
            <a:pathLst>
              <a:path w="980877" h="264120">
                <a:moveTo>
                  <a:pt x="132060" y="0"/>
                </a:moveTo>
                <a:lnTo>
                  <a:pt x="848816" y="0"/>
                </a:lnTo>
                <a:arcTo hR="132060" wR="132060" stAng="16200000" swAng="5400000"/>
                <a:lnTo>
                  <a:pt x="980877"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warehouse</a:t>
            </a:r>
            <a:endParaRPr lang="en-US" sz="1200" dirty="0"/>
          </a:p>
        </p:txBody>
      </p:sp>
      <p:sp>
        <p:nvSpPr>
          <p:cNvPr id="23" name="Text 19"/>
          <p:cNvSpPr/>
          <p:nvPr/>
        </p:nvSpPr>
        <p:spPr>
          <a:xfrm>
            <a:off x="8636794" y="3864322"/>
            <a:ext cx="596999" cy="264120"/>
          </a:xfrm>
          <a:custGeom>
            <a:avLst/>
            <a:gdLst/>
            <a:ahLst/>
            <a:cxnLst/>
            <a:rect l="l" t="t" r="r" b="b"/>
            <a:pathLst>
              <a:path w="596999" h="264120">
                <a:moveTo>
                  <a:pt x="132060" y="0"/>
                </a:moveTo>
                <a:lnTo>
                  <a:pt x="464939" y="0"/>
                </a:lnTo>
                <a:arcTo hR="132060" wR="132060" stAng="16200000" swAng="5400000"/>
                <a:lnTo>
                  <a:pt x="596999"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stock</a:t>
            </a:r>
            <a:endParaRPr lang="en-US" sz="1200" dirty="0"/>
          </a:p>
        </p:txBody>
      </p:sp>
      <p:sp>
        <p:nvSpPr>
          <p:cNvPr id="24" name="Text 20"/>
          <p:cNvSpPr/>
          <p:nvPr/>
        </p:nvSpPr>
        <p:spPr>
          <a:xfrm>
            <a:off x="6635750" y="4255443"/>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EXAMPLE PROMPT</a:t>
            </a:r>
            <a:endParaRPr lang="en-US" sz="1200" dirty="0"/>
          </a:p>
        </p:txBody>
      </p:sp>
      <p:sp>
        <p:nvSpPr>
          <p:cNvPr id="25" name="Text 21"/>
          <p:cNvSpPr/>
          <p:nvPr/>
        </p:nvSpPr>
        <p:spPr>
          <a:xfrm>
            <a:off x="6635750" y="4506863"/>
            <a:ext cx="4617593" cy="27429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41B2D"/>
                </a:solidFill>
                <a:latin typeface="IBM Plex Sans" pitchFamily="34" charset="0"/>
                <a:ea typeface="IBM Plex Sans" pitchFamily="34" charset="-122"/>
                <a:cs typeface="IBM Plex Sans" pitchFamily="34" charset="-120"/>
              </a:rPr>
              <a:t>“How many laptops are left?”</a:t>
            </a:r>
            <a:endParaRPr lang="en-US" sz="1400" dirty="0"/>
          </a:p>
        </p:txBody>
      </p:sp>
      <p:sp>
        <p:nvSpPr>
          <p:cNvPr id="26" name="Text 22"/>
          <p:cNvSpPr/>
          <p:nvPr/>
        </p:nvSpPr>
        <p:spPr>
          <a:xfrm>
            <a:off x="6635750" y="4882753"/>
            <a:ext cx="63436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INPUT</a:t>
            </a:r>
            <a:endParaRPr lang="en-US" sz="1200" dirty="0"/>
          </a:p>
        </p:txBody>
      </p:sp>
      <p:sp>
        <p:nvSpPr>
          <p:cNvPr id="27" name="Text 23"/>
          <p:cNvSpPr/>
          <p:nvPr/>
        </p:nvSpPr>
        <p:spPr>
          <a:xfrm>
            <a:off x="6635750" y="5121473"/>
            <a:ext cx="5794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Text</a:t>
            </a:r>
            <a:endParaRPr lang="en-US" sz="1400" dirty="0"/>
          </a:p>
        </p:txBody>
      </p:sp>
      <p:sp>
        <p:nvSpPr>
          <p:cNvPr id="28" name="Text 24"/>
          <p:cNvSpPr/>
          <p:nvPr/>
        </p:nvSpPr>
        <p:spPr>
          <a:xfrm>
            <a:off x="7570788" y="4882753"/>
            <a:ext cx="97646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OUTPUT</a:t>
            </a:r>
            <a:endParaRPr lang="en-US" sz="1200" dirty="0"/>
          </a:p>
        </p:txBody>
      </p:sp>
      <p:sp>
        <p:nvSpPr>
          <p:cNvPr id="29" name="Text 25"/>
          <p:cNvSpPr/>
          <p:nvPr/>
        </p:nvSpPr>
        <p:spPr>
          <a:xfrm>
            <a:off x="7570788" y="5121473"/>
            <a:ext cx="11107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Text · JSON</a:t>
            </a:r>
            <a:endParaRPr lang="en-US" sz="1400" dirty="0"/>
          </a:p>
        </p:txBody>
      </p:sp>
      <p:sp>
        <p:nvSpPr>
          <p:cNvPr id="30" name="Text 26"/>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1" name="Text 27"/>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BUILDING BLOCKS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The Agent Card: a public business card</a:t>
            </a:r>
            <a:endParaRPr lang="en-US" sz="3200" dirty="0"/>
          </a:p>
        </p:txBody>
      </p:sp>
      <p:pic>
        <p:nvPicPr>
          <p:cNvPr id="4" name="Image 0" descr="Search">    </p:cNvPr>
          <p:cNvPicPr>
            <a:picLocks noChangeAspect="1"/>
          </p:cNvPicPr>
          <p:nvPr/>
        </p:nvPicPr>
        <p:blipFill>
          <a:blip r:embed="rId1"/>
          <a:srcRect l="0" r="0" t="0" b="0"/>
          <a:stretch/>
        </p:blipFill>
        <p:spPr>
          <a:xfrm>
            <a:off x="812800" y="1823641"/>
            <a:ext cx="279400" cy="279400"/>
          </a:xfrm>
          <a:prstGeom prst="rect">
            <a:avLst/>
          </a:prstGeom>
        </p:spPr>
      </p:pic>
      <p:sp>
        <p:nvSpPr>
          <p:cNvPr id="5" name="Text 2"/>
          <p:cNvSpPr/>
          <p:nvPr/>
        </p:nvSpPr>
        <p:spPr>
          <a:xfrm>
            <a:off x="1219200" y="1823641"/>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What does it do?</a:t>
            </a:r>
            <a:endParaRPr lang="en-US" sz="1600" dirty="0"/>
          </a:p>
        </p:txBody>
      </p:sp>
      <p:sp>
        <p:nvSpPr>
          <p:cNvPr id="6" name="Text 3"/>
          <p:cNvSpPr/>
          <p:nvPr/>
        </p:nvSpPr>
        <p:spPr>
          <a:xfrm>
            <a:off x="1219200" y="2105571"/>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Name, description, version and provider — plus its full menu of skills.</a:t>
            </a:r>
            <a:endParaRPr lang="en-US" sz="1300" dirty="0"/>
          </a:p>
        </p:txBody>
      </p:sp>
      <p:pic>
        <p:nvPicPr>
          <p:cNvPr id="7" name="Image 1" descr="Home">    </p:cNvPr>
          <p:cNvPicPr>
            <a:picLocks noChangeAspect="1"/>
          </p:cNvPicPr>
          <p:nvPr/>
        </p:nvPicPr>
        <p:blipFill>
          <a:blip r:embed="rId2"/>
          <a:srcRect l="0" r="0" t="0" b="0"/>
          <a:stretch/>
        </p:blipFill>
        <p:spPr>
          <a:xfrm>
            <a:off x="812800" y="2796431"/>
            <a:ext cx="279400" cy="279400"/>
          </a:xfrm>
          <a:prstGeom prst="rect">
            <a:avLst/>
          </a:prstGeom>
        </p:spPr>
      </p:pic>
      <p:sp>
        <p:nvSpPr>
          <p:cNvPr id="8" name="Text 4"/>
          <p:cNvSpPr/>
          <p:nvPr/>
        </p:nvSpPr>
        <p:spPr>
          <a:xfrm>
            <a:off x="1219200" y="2796431"/>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Where does it live?</a:t>
            </a:r>
            <a:endParaRPr lang="en-US" sz="1600" dirty="0"/>
          </a:p>
        </p:txBody>
      </p:sp>
      <p:sp>
        <p:nvSpPr>
          <p:cNvPr id="9" name="Text 5"/>
          <p:cNvSpPr/>
          <p:nvPr/>
        </p:nvSpPr>
        <p:spPr>
          <a:xfrm>
            <a:off x="1219200" y="3078361"/>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Its service endpoint. The card itself is published at a standard path: /.well-known/agent-card.json</a:t>
            </a:r>
            <a:endParaRPr lang="en-US" sz="1300" dirty="0"/>
          </a:p>
        </p:txBody>
      </p:sp>
      <p:pic>
        <p:nvPicPr>
          <p:cNvPr id="10" name="Image 2" descr="Chat">    </p:cNvPr>
          <p:cNvPicPr>
            <a:picLocks noChangeAspect="1"/>
          </p:cNvPicPr>
          <p:nvPr/>
        </p:nvPicPr>
        <p:blipFill>
          <a:blip r:embed="rId3"/>
          <a:srcRect l="0" r="0" t="0" b="0"/>
          <a:stretch/>
        </p:blipFill>
        <p:spPr>
          <a:xfrm>
            <a:off x="812800" y="3769221"/>
            <a:ext cx="279400" cy="279400"/>
          </a:xfrm>
          <a:prstGeom prst="rect">
            <a:avLst/>
          </a:prstGeom>
        </p:spPr>
      </p:pic>
      <p:sp>
        <p:nvSpPr>
          <p:cNvPr id="11" name="Text 6"/>
          <p:cNvSpPr/>
          <p:nvPr/>
        </p:nvSpPr>
        <p:spPr>
          <a:xfrm>
            <a:off x="1219200" y="3769221"/>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How do I talk to it?</a:t>
            </a:r>
            <a:endParaRPr lang="en-US" sz="1600" dirty="0"/>
          </a:p>
        </p:txBody>
      </p:sp>
      <p:sp>
        <p:nvSpPr>
          <p:cNvPr id="12" name="Text 7"/>
          <p:cNvSpPr/>
          <p:nvPr/>
        </p:nvSpPr>
        <p:spPr>
          <a:xfrm>
            <a:off x="1219200" y="4051151"/>
            <a:ext cx="418592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Transports, streaming and push support, input/output modes, security schemes — and whether an extended card exists.</a:t>
            </a:r>
            <a:endParaRPr lang="en-US" sz="1300" dirty="0"/>
          </a:p>
        </p:txBody>
      </p:sp>
      <p:sp>
        <p:nvSpPr>
          <p:cNvPr id="13" name="Shape 8"/>
          <p:cNvSpPr/>
          <p:nvPr/>
        </p:nvSpPr>
        <p:spPr>
          <a:xfrm>
            <a:off x="5641975" y="1826816"/>
            <a:ext cx="5734050" cy="4012009"/>
          </a:xfrm>
          <a:prstGeom prst="roundRect">
            <a:avLst>
              <a:gd name="adj" fmla="val 3719"/>
            </a:avLst>
          </a:prstGeom>
          <a:solidFill>
            <a:srgbClr val="FCFBF8"/>
          </a:solidFill>
          <a:ln w="6350">
            <a:solidFill>
              <a:srgbClr val="DAD6CC"/>
            </a:solidFill>
            <a:prstDash val="solid"/>
          </a:ln>
          <a:effectLst>
            <a:outerShdw sx="100000" sy="100000" kx="0" ky="0" algn="bl" rotWithShape="0" blurRad="254000" dist="76200" dir="5400000">
              <a:srgbClr val="141B2D">
                <a:alpha val="8000"/>
              </a:srgbClr>
            </a:outerShdw>
          </a:effectLst>
        </p:spPr>
      </p:sp>
      <p:sp>
        <p:nvSpPr>
          <p:cNvPr id="14" name="Shape 9"/>
          <p:cNvSpPr/>
          <p:nvPr/>
        </p:nvSpPr>
        <p:spPr>
          <a:xfrm>
            <a:off x="5873750" y="2080121"/>
            <a:ext cx="457200" cy="457200"/>
          </a:xfrm>
          <a:prstGeom prst="roundRect">
            <a:avLst>
              <a:gd name="adj" fmla="val 25000"/>
            </a:avLst>
          </a:prstGeom>
          <a:solidFill>
            <a:srgbClr val="141B2D"/>
          </a:solidFill>
          <a:ln/>
        </p:spPr>
      </p:sp>
      <p:pic>
        <p:nvPicPr>
          <p:cNvPr id="15" name="Image 3" descr="Database">    </p:cNvPr>
          <p:cNvPicPr>
            <a:picLocks noChangeAspect="1"/>
          </p:cNvPicPr>
          <p:nvPr/>
        </p:nvPicPr>
        <p:blipFill>
          <a:blip r:embed="rId4"/>
          <a:srcRect l="0" r="0" t="0" b="0"/>
          <a:stretch/>
        </p:blipFill>
        <p:spPr>
          <a:xfrm>
            <a:off x="5975350" y="2181721"/>
            <a:ext cx="254000" cy="254000"/>
          </a:xfrm>
          <a:prstGeom prst="rect">
            <a:avLst/>
          </a:prstGeom>
        </p:spPr>
      </p:pic>
      <p:sp>
        <p:nvSpPr>
          <p:cNvPr id="16" name="Text 10"/>
          <p:cNvSpPr/>
          <p:nvPr/>
        </p:nvSpPr>
        <p:spPr>
          <a:xfrm>
            <a:off x="6457950" y="2058591"/>
            <a:ext cx="367694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B2D"/>
                </a:solidFill>
                <a:latin typeface="Space Grotesk" pitchFamily="34" charset="0"/>
                <a:ea typeface="Space Grotesk" pitchFamily="34" charset="-122"/>
                <a:cs typeface="Space Grotesk" pitchFamily="34" charset="-120"/>
              </a:rPr>
              <a:t>Warehouse Inventory Agent</a:t>
            </a:r>
            <a:endParaRPr lang="en-US" sz="1800" dirty="0"/>
          </a:p>
        </p:txBody>
      </p:sp>
      <p:sp>
        <p:nvSpPr>
          <p:cNvPr id="17" name="Text 11"/>
          <p:cNvSpPr/>
          <p:nvPr/>
        </p:nvSpPr>
        <p:spPr>
          <a:xfrm>
            <a:off x="6457950" y="2345581"/>
            <a:ext cx="31560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v1.0.0 · Provider: Acme Logistics</a:t>
            </a:r>
            <a:endParaRPr lang="en-US" sz="1200" dirty="0"/>
          </a:p>
        </p:txBody>
      </p:sp>
      <p:sp>
        <p:nvSpPr>
          <p:cNvPr id="18" name="Shape 12"/>
          <p:cNvSpPr/>
          <p:nvPr/>
        </p:nvSpPr>
        <p:spPr>
          <a:xfrm>
            <a:off x="5873750" y="2673201"/>
            <a:ext cx="5270500" cy="629841"/>
          </a:xfrm>
          <a:prstGeom prst="roundRect">
            <a:avLst>
              <a:gd name="adj" fmla="val 12098"/>
            </a:avLst>
          </a:prstGeom>
          <a:solidFill>
            <a:srgbClr val="F0EDE6"/>
          </a:solidFill>
          <a:ln/>
        </p:spPr>
      </p:sp>
      <p:sp>
        <p:nvSpPr>
          <p:cNvPr id="19" name="Text 13"/>
          <p:cNvSpPr/>
          <p:nvPr/>
        </p:nvSpPr>
        <p:spPr>
          <a:xfrm>
            <a:off x="6000750" y="276210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JetBrains Mono" pitchFamily="49" charset="0"/>
                <a:ea typeface="JetBrains Mono" pitchFamily="49" charset="-122"/>
                <a:cs typeface="JetBrains Mono" pitchFamily="49" charset="-120"/>
              </a:rPr>
              <a:t>inventory.acme.example/a2a</a:t>
            </a:r>
            <a:endParaRPr lang="en-US" sz="1200" dirty="0"/>
          </a:p>
        </p:txBody>
      </p:sp>
      <p:sp>
        <p:nvSpPr>
          <p:cNvPr id="20" name="Text 14"/>
          <p:cNvSpPr/>
          <p:nvPr/>
        </p:nvSpPr>
        <p:spPr>
          <a:xfrm>
            <a:off x="6000750" y="300082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Card at /.well-known/agent-card.json</a:t>
            </a:r>
            <a:endParaRPr lang="en-US" sz="1200" dirty="0"/>
          </a:p>
        </p:txBody>
      </p:sp>
      <p:sp>
        <p:nvSpPr>
          <p:cNvPr id="21" name="Shape 15"/>
          <p:cNvSpPr/>
          <p:nvPr/>
        </p:nvSpPr>
        <p:spPr>
          <a:xfrm>
            <a:off x="5873750" y="3417342"/>
            <a:ext cx="1081435" cy="289520"/>
          </a:xfrm>
          <a:prstGeom prst="roundRect">
            <a:avLst>
              <a:gd name="adj" fmla="val 50000"/>
            </a:avLst>
          </a:prstGeom>
          <a:solidFill>
            <a:srgbClr val="E7EEF9"/>
          </a:solidFill>
          <a:ln/>
        </p:spPr>
      </p:sp>
      <p:pic>
        <p:nvPicPr>
          <p:cNvPr id="22" name="Image 4" descr="Check">    </p:cNvPr>
          <p:cNvPicPr>
            <a:picLocks noChangeAspect="1"/>
          </p:cNvPicPr>
          <p:nvPr/>
        </p:nvPicPr>
        <p:blipFill>
          <a:blip r:embed="rId5"/>
          <a:srcRect l="0" r="0" t="0" b="0"/>
          <a:stretch/>
        </p:blipFill>
        <p:spPr>
          <a:xfrm>
            <a:off x="5962650" y="3485902"/>
            <a:ext cx="152400" cy="152400"/>
          </a:xfrm>
          <a:prstGeom prst="rect">
            <a:avLst/>
          </a:prstGeom>
        </p:spPr>
      </p:pic>
      <p:sp>
        <p:nvSpPr>
          <p:cNvPr id="23" name="Text 16"/>
          <p:cNvSpPr/>
          <p:nvPr/>
        </p:nvSpPr>
        <p:spPr>
          <a:xfrm>
            <a:off x="6165850" y="3455442"/>
            <a:ext cx="7893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Streaming</a:t>
            </a:r>
            <a:endParaRPr lang="en-US" sz="1200" dirty="0"/>
          </a:p>
        </p:txBody>
      </p:sp>
      <p:sp>
        <p:nvSpPr>
          <p:cNvPr id="24" name="Shape 17"/>
          <p:cNvSpPr/>
          <p:nvPr/>
        </p:nvSpPr>
        <p:spPr>
          <a:xfrm>
            <a:off x="7031385" y="3417342"/>
            <a:ext cx="1602333" cy="289520"/>
          </a:xfrm>
          <a:prstGeom prst="roundRect">
            <a:avLst>
              <a:gd name="adj" fmla="val 50000"/>
            </a:avLst>
          </a:prstGeom>
          <a:solidFill>
            <a:srgbClr val="E7EEF9"/>
          </a:solidFill>
          <a:ln/>
        </p:spPr>
      </p:sp>
      <p:pic>
        <p:nvPicPr>
          <p:cNvPr id="25" name="Image 5" descr="Check">    </p:cNvPr>
          <p:cNvPicPr>
            <a:picLocks noChangeAspect="1"/>
          </p:cNvPicPr>
          <p:nvPr/>
        </p:nvPicPr>
        <p:blipFill>
          <a:blip r:embed="rId6"/>
          <a:srcRect l="0" r="0" t="0" b="0"/>
          <a:stretch/>
        </p:blipFill>
        <p:spPr>
          <a:xfrm>
            <a:off x="7120285" y="3485902"/>
            <a:ext cx="152400" cy="152400"/>
          </a:xfrm>
          <a:prstGeom prst="rect">
            <a:avLst/>
          </a:prstGeom>
        </p:spPr>
      </p:pic>
      <p:sp>
        <p:nvSpPr>
          <p:cNvPr id="26" name="Text 18"/>
          <p:cNvSpPr/>
          <p:nvPr/>
        </p:nvSpPr>
        <p:spPr>
          <a:xfrm>
            <a:off x="7323485" y="3455442"/>
            <a:ext cx="1310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Push notifications</a:t>
            </a:r>
            <a:endParaRPr lang="en-US" sz="1200" dirty="0"/>
          </a:p>
        </p:txBody>
      </p:sp>
      <p:sp>
        <p:nvSpPr>
          <p:cNvPr id="27" name="Shape 19"/>
          <p:cNvSpPr/>
          <p:nvPr/>
        </p:nvSpPr>
        <p:spPr>
          <a:xfrm>
            <a:off x="8709918" y="3417342"/>
            <a:ext cx="1368127" cy="289520"/>
          </a:xfrm>
          <a:prstGeom prst="roundRect">
            <a:avLst>
              <a:gd name="adj" fmla="val 50000"/>
            </a:avLst>
          </a:prstGeom>
          <a:solidFill>
            <a:srgbClr val="E7EEF9"/>
          </a:solidFill>
          <a:ln/>
        </p:spPr>
      </p:sp>
      <p:pic>
        <p:nvPicPr>
          <p:cNvPr id="28" name="Image 6" descr="Check">    </p:cNvPr>
          <p:cNvPicPr>
            <a:picLocks noChangeAspect="1"/>
          </p:cNvPicPr>
          <p:nvPr/>
        </p:nvPicPr>
        <p:blipFill>
          <a:blip r:embed="rId7"/>
          <a:srcRect l="0" r="0" t="0" b="0"/>
          <a:stretch/>
        </p:blipFill>
        <p:spPr>
          <a:xfrm>
            <a:off x="8798818" y="3485902"/>
            <a:ext cx="152400" cy="152400"/>
          </a:xfrm>
          <a:prstGeom prst="rect">
            <a:avLst/>
          </a:prstGeom>
        </p:spPr>
      </p:pic>
      <p:sp>
        <p:nvSpPr>
          <p:cNvPr id="29" name="Text 20"/>
          <p:cNvSpPr/>
          <p:nvPr/>
        </p:nvSpPr>
        <p:spPr>
          <a:xfrm>
            <a:off x="9002018" y="3455442"/>
            <a:ext cx="10760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Extended card</a:t>
            </a:r>
            <a:endParaRPr lang="en-US" sz="1200" dirty="0"/>
          </a:p>
        </p:txBody>
      </p:sp>
      <p:sp>
        <p:nvSpPr>
          <p:cNvPr id="30" name="Text 21"/>
          <p:cNvSpPr/>
          <p:nvPr/>
        </p:nvSpPr>
        <p:spPr>
          <a:xfrm>
            <a:off x="5873750" y="3821162"/>
            <a:ext cx="26358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SECURITY</a:t>
            </a:r>
            <a:endParaRPr lang="en-US" sz="1200" dirty="0"/>
          </a:p>
        </p:txBody>
      </p:sp>
      <p:sp>
        <p:nvSpPr>
          <p:cNvPr id="31" name="Text 22"/>
          <p:cNvSpPr/>
          <p:nvPr/>
        </p:nvSpPr>
        <p:spPr>
          <a:xfrm>
            <a:off x="5873750" y="4047182"/>
            <a:ext cx="2635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IBM Plex Sans" pitchFamily="34" charset="0"/>
                <a:ea typeface="IBM Plex Sans" pitchFamily="34" charset="-122"/>
                <a:cs typeface="IBM Plex Sans" pitchFamily="34" charset="-120"/>
              </a:rPr>
              <a:t>OAuth 2.0 · OpenID Connect</a:t>
            </a:r>
            <a:endParaRPr lang="en-US" sz="1200" dirty="0"/>
          </a:p>
        </p:txBody>
      </p:sp>
      <p:sp>
        <p:nvSpPr>
          <p:cNvPr id="32" name="Text 23"/>
          <p:cNvSpPr/>
          <p:nvPr/>
        </p:nvSpPr>
        <p:spPr>
          <a:xfrm>
            <a:off x="8585200" y="3821162"/>
            <a:ext cx="26358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TRANSPORTS</a:t>
            </a:r>
            <a:endParaRPr lang="en-US" sz="1200" dirty="0"/>
          </a:p>
        </p:txBody>
      </p:sp>
      <p:sp>
        <p:nvSpPr>
          <p:cNvPr id="33" name="Text 24"/>
          <p:cNvSpPr/>
          <p:nvPr/>
        </p:nvSpPr>
        <p:spPr>
          <a:xfrm>
            <a:off x="8585200" y="4047182"/>
            <a:ext cx="2635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IBM Plex Sans" pitchFamily="34" charset="0"/>
                <a:ea typeface="IBM Plex Sans" pitchFamily="34" charset="-122"/>
                <a:cs typeface="IBM Plex Sans" pitchFamily="34" charset="-120"/>
              </a:rPr>
              <a:t>JSON-RPC · gRPC · HTTP+JSON</a:t>
            </a:r>
            <a:endParaRPr lang="en-US" sz="1200" dirty="0"/>
          </a:p>
        </p:txBody>
      </p:sp>
      <p:sp>
        <p:nvSpPr>
          <p:cNvPr id="34" name="Text 25"/>
          <p:cNvSpPr/>
          <p:nvPr/>
        </p:nvSpPr>
        <p:spPr>
          <a:xfrm>
            <a:off x="5873750" y="4374803"/>
            <a:ext cx="54286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SKILLS (2)</a:t>
            </a:r>
            <a:endParaRPr lang="en-US" sz="1200" dirty="0"/>
          </a:p>
        </p:txBody>
      </p:sp>
      <p:sp>
        <p:nvSpPr>
          <p:cNvPr id="35" name="Shape 26"/>
          <p:cNvSpPr/>
          <p:nvPr/>
        </p:nvSpPr>
        <p:spPr>
          <a:xfrm>
            <a:off x="5876925" y="4654798"/>
            <a:ext cx="5264150" cy="321270"/>
          </a:xfrm>
          <a:prstGeom prst="roundRect">
            <a:avLst>
              <a:gd name="adj" fmla="val 22730"/>
            </a:avLst>
          </a:prstGeom>
          <a:noFill/>
          <a:ln w="6350">
            <a:solidFill>
              <a:srgbClr val="DAD6CC"/>
            </a:solidFill>
            <a:prstDash val="solid"/>
          </a:ln>
        </p:spPr>
      </p:sp>
      <p:pic>
        <p:nvPicPr>
          <p:cNvPr id="36" name="Image 7" descr="Database">    </p:cNvPr>
          <p:cNvPicPr>
            <a:picLocks noChangeAspect="1"/>
          </p:cNvPicPr>
          <p:nvPr/>
        </p:nvPicPr>
        <p:blipFill>
          <a:blip r:embed="rId8"/>
          <a:srcRect l="0" r="0" t="0" b="0"/>
          <a:stretch/>
        </p:blipFill>
        <p:spPr>
          <a:xfrm>
            <a:off x="5981700" y="4726533"/>
            <a:ext cx="177800" cy="177800"/>
          </a:xfrm>
          <a:prstGeom prst="rect">
            <a:avLst/>
          </a:prstGeom>
        </p:spPr>
      </p:pic>
      <p:sp>
        <p:nvSpPr>
          <p:cNvPr id="37" name="Text 27"/>
          <p:cNvSpPr/>
          <p:nvPr/>
        </p:nvSpPr>
        <p:spPr>
          <a:xfrm>
            <a:off x="6248400" y="4708773"/>
            <a:ext cx="20010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Check warehouse stock</a:t>
            </a:r>
            <a:endParaRPr lang="en-US" sz="1200" dirty="0"/>
          </a:p>
        </p:txBody>
      </p:sp>
      <p:sp>
        <p:nvSpPr>
          <p:cNvPr id="38" name="Text 28"/>
          <p:cNvSpPr/>
          <p:nvPr/>
        </p:nvSpPr>
        <p:spPr>
          <a:xfrm>
            <a:off x="10030420" y="4708773"/>
            <a:ext cx="1107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check_stock</a:t>
            </a:r>
            <a:endParaRPr lang="en-US" sz="1200" dirty="0"/>
          </a:p>
        </p:txBody>
      </p:sp>
      <p:sp>
        <p:nvSpPr>
          <p:cNvPr id="39" name="Shape 29"/>
          <p:cNvSpPr/>
          <p:nvPr/>
        </p:nvSpPr>
        <p:spPr>
          <a:xfrm>
            <a:off x="5876925" y="5045918"/>
            <a:ext cx="5264150" cy="321270"/>
          </a:xfrm>
          <a:prstGeom prst="roundRect">
            <a:avLst>
              <a:gd name="adj" fmla="val 22730"/>
            </a:avLst>
          </a:prstGeom>
          <a:noFill/>
          <a:ln w="6350">
            <a:solidFill>
              <a:srgbClr val="DAD6CC"/>
            </a:solidFill>
            <a:prstDash val="solid"/>
          </a:ln>
        </p:spPr>
      </p:sp>
      <p:pic>
        <p:nvPicPr>
          <p:cNvPr id="40" name="Image 8" descr="Check">    </p:cNvPr>
          <p:cNvPicPr>
            <a:picLocks noChangeAspect="1"/>
          </p:cNvPicPr>
          <p:nvPr/>
        </p:nvPicPr>
        <p:blipFill>
          <a:blip r:embed="rId9"/>
          <a:srcRect l="0" r="0" t="0" b="0"/>
          <a:stretch/>
        </p:blipFill>
        <p:spPr>
          <a:xfrm>
            <a:off x="5981700" y="5117654"/>
            <a:ext cx="177800" cy="177800"/>
          </a:xfrm>
          <a:prstGeom prst="rect">
            <a:avLst/>
          </a:prstGeom>
        </p:spPr>
      </p:pic>
      <p:sp>
        <p:nvSpPr>
          <p:cNvPr id="41" name="Text 30"/>
          <p:cNvSpPr/>
          <p:nvPr/>
        </p:nvSpPr>
        <p:spPr>
          <a:xfrm>
            <a:off x="6248400" y="5099893"/>
            <a:ext cx="22625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Reserve &amp; backorder stock</a:t>
            </a:r>
            <a:endParaRPr lang="en-US" sz="1200" dirty="0"/>
          </a:p>
        </p:txBody>
      </p:sp>
      <p:sp>
        <p:nvSpPr>
          <p:cNvPr id="42" name="Text 31"/>
          <p:cNvSpPr/>
          <p:nvPr/>
        </p:nvSpPr>
        <p:spPr>
          <a:xfrm>
            <a:off x="9847560" y="5099893"/>
            <a:ext cx="1290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reserve_stock</a:t>
            </a:r>
            <a:endParaRPr lang="en-US" sz="1200" dirty="0"/>
          </a:p>
        </p:txBody>
      </p:sp>
      <p:sp>
        <p:nvSpPr>
          <p:cNvPr id="43" name="Text 32"/>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44" name="Text 3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99375" y="787400"/>
            <a:ext cx="1053654" cy="289520"/>
          </a:xfrm>
          <a:custGeom>
            <a:avLst/>
            <a:gdLst/>
            <a:ahLst/>
            <a:cxnLst/>
            <a:rect l="l" t="t" r="r" b="b"/>
            <a:pathLst>
              <a:path w="1053654" h="289520">
                <a:moveTo>
                  <a:pt x="144760" y="0"/>
                </a:moveTo>
                <a:lnTo>
                  <a:pt x="908893" y="0"/>
                </a:lnTo>
                <a:arcTo hR="144760" wR="144760" stAng="16200000" swAng="5400000"/>
                <a:lnTo>
                  <a:pt x="105365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429228" y="887710"/>
            <a:ext cx="177800" cy="88900"/>
          </a:xfrm>
          <a:prstGeom prst="rect">
            <a:avLst/>
          </a:prstGeom>
        </p:spPr>
      </p:pic>
      <p:sp>
        <p:nvSpPr>
          <p:cNvPr id="4" name="Text 1"/>
          <p:cNvSpPr/>
          <p:nvPr/>
        </p:nvSpPr>
        <p:spPr>
          <a:xfrm>
            <a:off x="8689578" y="781050"/>
            <a:ext cx="1335088"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7216" y="887710"/>
            <a:ext cx="177800" cy="88900"/>
          </a:xfrm>
          <a:prstGeom prst="rect">
            <a:avLst/>
          </a:prstGeom>
        </p:spPr>
      </p:pic>
      <p:sp>
        <p:nvSpPr>
          <p:cNvPr id="6" name="Text 2"/>
          <p:cNvSpPr/>
          <p:nvPr/>
        </p:nvSpPr>
        <p:spPr>
          <a:xfrm>
            <a:off x="10367566" y="781050"/>
            <a:ext cx="1005284"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3 · Interact</a:t>
            </a:r>
            <a:endParaRPr lang="en-US" sz="1200" dirty="0"/>
          </a:p>
        </p:txBody>
      </p:sp>
      <p:sp>
        <p:nvSpPr>
          <p:cNvPr id="7" name="Text 3"/>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REQUEST LIFECYCLE</a:t>
            </a:r>
            <a:endParaRPr lang="en-US" sz="1200" dirty="0"/>
          </a:p>
        </p:txBody>
      </p:sp>
      <p:sp>
        <p:nvSpPr>
          <p:cNvPr id="8" name="Text 4"/>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1 · Discovery</a:t>
            </a:r>
            <a:endParaRPr lang="en-US" sz="3200" dirty="0"/>
          </a:p>
        </p:txBody>
      </p:sp>
      <p:sp>
        <p:nvSpPr>
          <p:cNvPr id="9" name="Shape 5"/>
          <p:cNvSpPr/>
          <p:nvPr/>
        </p:nvSpPr>
        <p:spPr>
          <a:xfrm>
            <a:off x="815975" y="1826816"/>
            <a:ext cx="10560050" cy="1093391"/>
          </a:xfrm>
          <a:prstGeom prst="roundRect">
            <a:avLst>
              <a:gd name="adj" fmla="val 11325"/>
            </a:avLst>
          </a:prstGeom>
          <a:solidFill>
            <a:srgbClr val="FCFBF8"/>
          </a:solidFill>
          <a:ln w="6350">
            <a:solidFill>
              <a:srgbClr val="DAD6CC"/>
            </a:solidFill>
            <a:prstDash val="solid"/>
          </a:ln>
        </p:spPr>
      </p:sp>
      <p:sp>
        <p:nvSpPr>
          <p:cNvPr id="10" name="Shape 6"/>
          <p:cNvSpPr/>
          <p:nvPr/>
        </p:nvSpPr>
        <p:spPr>
          <a:xfrm>
            <a:off x="1022350" y="2030611"/>
            <a:ext cx="1210915" cy="685750"/>
          </a:xfrm>
          <a:prstGeom prst="roundRect">
            <a:avLst>
              <a:gd name="adj" fmla="val 12964"/>
            </a:avLst>
          </a:prstGeom>
          <a:solidFill>
            <a:srgbClr val="141B2D"/>
          </a:solidFill>
          <a:ln/>
        </p:spPr>
      </p:sp>
      <p:sp>
        <p:nvSpPr>
          <p:cNvPr id="11" name="Text 7"/>
          <p:cNvSpPr/>
          <p:nvPr/>
        </p:nvSpPr>
        <p:spPr>
          <a:xfrm>
            <a:off x="1174750" y="2144911"/>
            <a:ext cx="105851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Sales Agent</a:t>
            </a:r>
            <a:endParaRPr lang="en-US" sz="1300" dirty="0"/>
          </a:p>
        </p:txBody>
      </p:sp>
      <p:sp>
        <p:nvSpPr>
          <p:cNvPr id="12" name="Text 8"/>
          <p:cNvSpPr/>
          <p:nvPr/>
        </p:nvSpPr>
        <p:spPr>
          <a:xfrm>
            <a:off x="1174750" y="2388741"/>
            <a:ext cx="9569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IBM Plex Sans" pitchFamily="34" charset="0"/>
                <a:ea typeface="IBM Plex Sans" pitchFamily="34" charset="-122"/>
                <a:cs typeface="IBM Plex Sans" pitchFamily="34" charset="-120"/>
              </a:rPr>
              <a:t>A2A client</a:t>
            </a:r>
            <a:endParaRPr lang="en-US" sz="1200" dirty="0"/>
          </a:p>
        </p:txBody>
      </p:sp>
      <p:sp>
        <p:nvSpPr>
          <p:cNvPr id="13" name="Text 9"/>
          <p:cNvSpPr/>
          <p:nvPr/>
        </p:nvSpPr>
        <p:spPr>
          <a:xfrm>
            <a:off x="2385665" y="1982391"/>
            <a:ext cx="7289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1 · GET /.well-known/agent-card.json</a:t>
            </a:r>
            <a:endParaRPr lang="en-US" sz="1200" dirty="0"/>
          </a:p>
        </p:txBody>
      </p:sp>
      <p:pic>
        <p:nvPicPr>
          <p:cNvPr id="14" name="Image 2" descr="connector">    </p:cNvPr>
          <p:cNvPicPr>
            <a:picLocks noChangeAspect="1"/>
          </p:cNvPicPr>
          <p:nvPr/>
        </p:nvPicPr>
        <p:blipFill>
          <a:blip r:embed="rId3"/>
          <a:srcRect l="0" r="0" t="0" b="0"/>
          <a:stretch/>
        </p:blipFill>
        <p:spPr>
          <a:xfrm>
            <a:off x="2385665" y="2246511"/>
            <a:ext cx="6350000" cy="101600"/>
          </a:xfrm>
          <a:prstGeom prst="rect">
            <a:avLst/>
          </a:prstGeom>
        </p:spPr>
      </p:pic>
      <p:pic>
        <p:nvPicPr>
          <p:cNvPr id="15" name="Image 3" descr="connector">    </p:cNvPr>
          <p:cNvPicPr>
            <a:picLocks noChangeAspect="1"/>
          </p:cNvPicPr>
          <p:nvPr/>
        </p:nvPicPr>
        <p:blipFill>
          <a:blip r:embed="rId4"/>
          <a:srcRect l="0" r="0" t="0" b="0"/>
          <a:stretch/>
        </p:blipFill>
        <p:spPr>
          <a:xfrm>
            <a:off x="2385665" y="2398911"/>
            <a:ext cx="6350000" cy="101600"/>
          </a:xfrm>
          <a:prstGeom prst="rect">
            <a:avLst/>
          </a:prstGeom>
        </p:spPr>
      </p:pic>
      <p:sp>
        <p:nvSpPr>
          <p:cNvPr id="16" name="Text 10"/>
          <p:cNvSpPr/>
          <p:nvPr/>
        </p:nvSpPr>
        <p:spPr>
          <a:xfrm>
            <a:off x="2385665" y="2551311"/>
            <a:ext cx="7289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2 · Agent Card returned: skills, endpoint, security, capabilities</a:t>
            </a:r>
            <a:endParaRPr lang="en-US" sz="1200" dirty="0"/>
          </a:p>
        </p:txBody>
      </p:sp>
      <p:sp>
        <p:nvSpPr>
          <p:cNvPr id="17" name="Shape 11"/>
          <p:cNvSpPr/>
          <p:nvPr/>
        </p:nvSpPr>
        <p:spPr>
          <a:xfrm>
            <a:off x="9618712" y="2027436"/>
            <a:ext cx="1547763" cy="692100"/>
          </a:xfrm>
          <a:prstGeom prst="roundRect">
            <a:avLst>
              <a:gd name="adj" fmla="val 12386"/>
            </a:avLst>
          </a:prstGeom>
          <a:solidFill>
            <a:srgbClr val="FCE9DD"/>
          </a:solidFill>
          <a:ln w="6350">
            <a:solidFill>
              <a:srgbClr val="F1C9B0"/>
            </a:solidFill>
            <a:prstDash val="solid"/>
          </a:ln>
        </p:spPr>
      </p:sp>
      <p:sp>
        <p:nvSpPr>
          <p:cNvPr id="18" name="Text 12"/>
          <p:cNvSpPr/>
          <p:nvPr/>
        </p:nvSpPr>
        <p:spPr>
          <a:xfrm>
            <a:off x="9774287" y="2144911"/>
            <a:ext cx="138901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IBM Plex Sans" pitchFamily="34" charset="0"/>
                <a:ea typeface="IBM Plex Sans" pitchFamily="34" charset="-122"/>
                <a:cs typeface="IBM Plex Sans" pitchFamily="34" charset="-120"/>
              </a:rPr>
              <a:t>Inventory Agent</a:t>
            </a:r>
            <a:endParaRPr lang="en-US" sz="1300" dirty="0"/>
          </a:p>
        </p:txBody>
      </p:sp>
      <p:sp>
        <p:nvSpPr>
          <p:cNvPr id="19" name="Text 13"/>
          <p:cNvSpPr/>
          <p:nvPr/>
        </p:nvSpPr>
        <p:spPr>
          <a:xfrm>
            <a:off x="9774287" y="2388741"/>
            <a:ext cx="12874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A2A server</a:t>
            </a:r>
            <a:endParaRPr lang="en-US" sz="1200" dirty="0"/>
          </a:p>
        </p:txBody>
      </p:sp>
      <p:sp>
        <p:nvSpPr>
          <p:cNvPr id="20" name="Shape 14"/>
          <p:cNvSpPr/>
          <p:nvPr/>
        </p:nvSpPr>
        <p:spPr>
          <a:xfrm>
            <a:off x="815975" y="3180556"/>
            <a:ext cx="3414167" cy="2658269"/>
          </a:xfrm>
          <a:prstGeom prst="roundRect">
            <a:avLst>
              <a:gd name="adj" fmla="val 4658"/>
            </a:avLst>
          </a:prstGeom>
          <a:solidFill>
            <a:srgbClr val="FCFBF8"/>
          </a:solidFill>
          <a:ln w="6350">
            <a:solidFill>
              <a:srgbClr val="DAD6CC"/>
            </a:solidFill>
            <a:prstDash val="solid"/>
          </a:ln>
        </p:spPr>
      </p:sp>
      <p:pic>
        <p:nvPicPr>
          <p:cNvPr id="21" name="Image 4" descr="Globe">    </p:cNvPr>
          <p:cNvPicPr>
            <a:picLocks noChangeAspect="1"/>
          </p:cNvPicPr>
          <p:nvPr/>
        </p:nvPicPr>
        <p:blipFill>
          <a:blip r:embed="rId5"/>
          <a:srcRect l="0" r="0" t="0" b="0"/>
          <a:stretch/>
        </p:blipFill>
        <p:spPr>
          <a:xfrm>
            <a:off x="1022350" y="3386931"/>
            <a:ext cx="254000" cy="254000"/>
          </a:xfrm>
          <a:prstGeom prst="rect">
            <a:avLst/>
          </a:prstGeom>
        </p:spPr>
      </p:pic>
      <p:sp>
        <p:nvSpPr>
          <p:cNvPr id="22" name="Text 15"/>
          <p:cNvSpPr/>
          <p:nvPr/>
        </p:nvSpPr>
        <p:spPr>
          <a:xfrm>
            <a:off x="1022350" y="371713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Well-known URI</a:t>
            </a:r>
            <a:endParaRPr lang="en-US" sz="1600" dirty="0"/>
          </a:p>
        </p:txBody>
      </p:sp>
      <p:sp>
        <p:nvSpPr>
          <p:cNvPr id="23" name="Text 16"/>
          <p:cNvSpPr/>
          <p:nvPr/>
        </p:nvSpPr>
        <p:spPr>
          <a:xfrm>
            <a:off x="1022350" y="403716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The public front door</a:t>
            </a:r>
            <a:endParaRPr lang="en-US" sz="1200" dirty="0"/>
          </a:p>
        </p:txBody>
      </p:sp>
      <p:sp>
        <p:nvSpPr>
          <p:cNvPr id="24" name="Text 17"/>
          <p:cNvSpPr/>
          <p:nvPr/>
        </p:nvSpPr>
        <p:spPr>
          <a:xfrm>
            <a:off x="1022350" y="4326682"/>
            <a:ext cx="30914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Ask the agent’s domain for its card at the standard /.well-known/ path.</a:t>
            </a:r>
            <a:endParaRPr lang="en-US" sz="1300" dirty="0"/>
          </a:p>
        </p:txBody>
      </p:sp>
      <p:sp>
        <p:nvSpPr>
          <p:cNvPr id="25" name="Text 18"/>
          <p:cNvSpPr/>
          <p:nvPr/>
        </p:nvSpPr>
        <p:spPr>
          <a:xfrm>
            <a:off x="1022350" y="5419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public or partner-facing agents</a:t>
            </a:r>
            <a:endParaRPr lang="en-US" sz="1200" dirty="0"/>
          </a:p>
        </p:txBody>
      </p:sp>
      <p:sp>
        <p:nvSpPr>
          <p:cNvPr id="26" name="Shape 19"/>
          <p:cNvSpPr/>
          <p:nvPr/>
        </p:nvSpPr>
        <p:spPr>
          <a:xfrm>
            <a:off x="4388892" y="3180556"/>
            <a:ext cx="3414216" cy="2658269"/>
          </a:xfrm>
          <a:prstGeom prst="roundRect">
            <a:avLst>
              <a:gd name="adj" fmla="val 4658"/>
            </a:avLst>
          </a:prstGeom>
          <a:solidFill>
            <a:srgbClr val="FCFBF8"/>
          </a:solidFill>
          <a:ln w="6350">
            <a:solidFill>
              <a:srgbClr val="DAD6CC"/>
            </a:solidFill>
            <a:prstDash val="solid"/>
          </a:ln>
        </p:spPr>
      </p:sp>
      <p:pic>
        <p:nvPicPr>
          <p:cNvPr id="27" name="Image 5" descr="Search">    </p:cNvPr>
          <p:cNvPicPr>
            <a:picLocks noChangeAspect="1"/>
          </p:cNvPicPr>
          <p:nvPr/>
        </p:nvPicPr>
        <p:blipFill>
          <a:blip r:embed="rId6"/>
          <a:srcRect l="0" r="0" t="0" b="0"/>
          <a:stretch/>
        </p:blipFill>
        <p:spPr>
          <a:xfrm>
            <a:off x="4595267" y="3386931"/>
            <a:ext cx="254000" cy="254000"/>
          </a:xfrm>
          <a:prstGeom prst="rect">
            <a:avLst/>
          </a:prstGeom>
        </p:spPr>
      </p:pic>
      <p:sp>
        <p:nvSpPr>
          <p:cNvPr id="28" name="Text 20"/>
          <p:cNvSpPr/>
          <p:nvPr/>
        </p:nvSpPr>
        <p:spPr>
          <a:xfrm>
            <a:off x="4595267" y="371713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Curated registry</a:t>
            </a:r>
            <a:endParaRPr lang="en-US" sz="1600" dirty="0"/>
          </a:p>
        </p:txBody>
      </p:sp>
      <p:sp>
        <p:nvSpPr>
          <p:cNvPr id="29" name="Text 21"/>
          <p:cNvSpPr/>
          <p:nvPr/>
        </p:nvSpPr>
        <p:spPr>
          <a:xfrm>
            <a:off x="4595267" y="403716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The company yellow pages</a:t>
            </a:r>
            <a:endParaRPr lang="en-US" sz="1200" dirty="0"/>
          </a:p>
        </p:txBody>
      </p:sp>
      <p:sp>
        <p:nvSpPr>
          <p:cNvPr id="30" name="Text 22"/>
          <p:cNvSpPr/>
          <p:nvPr/>
        </p:nvSpPr>
        <p:spPr>
          <a:xfrm>
            <a:off x="4595267" y="4326682"/>
            <a:ext cx="309151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 central catalog of Agent Cards that clients search by skill, tag or other filters.</a:t>
            </a:r>
            <a:endParaRPr lang="en-US" sz="1300" dirty="0"/>
          </a:p>
        </p:txBody>
      </p:sp>
      <p:sp>
        <p:nvSpPr>
          <p:cNvPr id="31" name="Text 23"/>
          <p:cNvSpPr/>
          <p:nvPr/>
        </p:nvSpPr>
        <p:spPr>
          <a:xfrm>
            <a:off x="4595267" y="541913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enterprises with many agents</a:t>
            </a:r>
            <a:endParaRPr lang="en-US" sz="1200" dirty="0"/>
          </a:p>
        </p:txBody>
      </p:sp>
      <p:sp>
        <p:nvSpPr>
          <p:cNvPr id="32" name="Shape 24"/>
          <p:cNvSpPr/>
          <p:nvPr/>
        </p:nvSpPr>
        <p:spPr>
          <a:xfrm>
            <a:off x="7961858" y="3180556"/>
            <a:ext cx="3414167" cy="2658269"/>
          </a:xfrm>
          <a:prstGeom prst="roundRect">
            <a:avLst>
              <a:gd name="adj" fmla="val 4658"/>
            </a:avLst>
          </a:prstGeom>
          <a:solidFill>
            <a:srgbClr val="FCFBF8"/>
          </a:solidFill>
          <a:ln w="6350">
            <a:solidFill>
              <a:srgbClr val="DAD6CC"/>
            </a:solidFill>
            <a:prstDash val="solid"/>
          </a:ln>
        </p:spPr>
      </p:sp>
      <p:pic>
        <p:nvPicPr>
          <p:cNvPr id="33" name="Image 6" descr="Settings">    </p:cNvPr>
          <p:cNvPicPr>
            <a:picLocks noChangeAspect="1"/>
          </p:cNvPicPr>
          <p:nvPr/>
        </p:nvPicPr>
        <p:blipFill>
          <a:blip r:embed="rId7"/>
          <a:srcRect l="0" r="0" t="0" b="0"/>
          <a:stretch/>
        </p:blipFill>
        <p:spPr>
          <a:xfrm>
            <a:off x="8168233" y="3386931"/>
            <a:ext cx="254000" cy="254000"/>
          </a:xfrm>
          <a:prstGeom prst="rect">
            <a:avLst/>
          </a:prstGeom>
        </p:spPr>
      </p:pic>
      <p:sp>
        <p:nvSpPr>
          <p:cNvPr id="34" name="Text 25"/>
          <p:cNvSpPr/>
          <p:nvPr/>
        </p:nvSpPr>
        <p:spPr>
          <a:xfrm>
            <a:off x="8168233" y="371713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Direct configuration</a:t>
            </a:r>
            <a:endParaRPr lang="en-US" sz="1600" dirty="0"/>
          </a:p>
        </p:txBody>
      </p:sp>
      <p:sp>
        <p:nvSpPr>
          <p:cNvPr id="35" name="Text 26"/>
          <p:cNvSpPr/>
          <p:nvPr/>
        </p:nvSpPr>
        <p:spPr>
          <a:xfrm>
            <a:off x="8168233" y="403716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The saved speed-dial</a:t>
            </a:r>
            <a:endParaRPr lang="en-US" sz="1200" dirty="0"/>
          </a:p>
        </p:txBody>
      </p:sp>
      <p:sp>
        <p:nvSpPr>
          <p:cNvPr id="36" name="Text 27"/>
          <p:cNvSpPr/>
          <p:nvPr/>
        </p:nvSpPr>
        <p:spPr>
          <a:xfrm>
            <a:off x="8168233" y="4326682"/>
            <a:ext cx="309145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card or its URL is set in config files, environment variables or an internal API.</a:t>
            </a:r>
            <a:endParaRPr lang="en-US" sz="1300" dirty="0"/>
          </a:p>
        </p:txBody>
      </p:sp>
      <p:sp>
        <p:nvSpPr>
          <p:cNvPr id="37" name="Text 28"/>
          <p:cNvSpPr/>
          <p:nvPr/>
        </p:nvSpPr>
        <p:spPr>
          <a:xfrm>
            <a:off x="8168233" y="5419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tight coupling, local dev</a:t>
            </a:r>
            <a:endParaRPr lang="en-US" sz="1200" dirty="0"/>
          </a:p>
        </p:txBody>
      </p:sp>
      <p:sp>
        <p:nvSpPr>
          <p:cNvPr id="38" name="Text 29"/>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9" name="Text 3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309793" y="787400"/>
            <a:ext cx="1029494" cy="289520"/>
          </a:xfrm>
          <a:custGeom>
            <a:avLst/>
            <a:gdLst/>
            <a:ahLst/>
            <a:cxnLst/>
            <a:rect l="l" t="t" r="r" b="b"/>
            <a:pathLst>
              <a:path w="1029494" h="289520">
                <a:moveTo>
                  <a:pt x="144760" y="0"/>
                </a:moveTo>
                <a:lnTo>
                  <a:pt x="884734" y="0"/>
                </a:lnTo>
                <a:arcTo hR="144760" wR="144760" stAng="16200000" swAng="5400000"/>
                <a:lnTo>
                  <a:pt x="1029494"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415486" y="887710"/>
            <a:ext cx="177800" cy="88900"/>
          </a:xfrm>
          <a:prstGeom prst="rect">
            <a:avLst/>
          </a:prstGeom>
        </p:spPr>
      </p:pic>
      <p:sp>
        <p:nvSpPr>
          <p:cNvPr id="4" name="Text 1"/>
          <p:cNvSpPr/>
          <p:nvPr/>
        </p:nvSpPr>
        <p:spPr>
          <a:xfrm>
            <a:off x="8669486" y="787400"/>
            <a:ext cx="1361529" cy="289520"/>
          </a:xfrm>
          <a:custGeom>
            <a:avLst/>
            <a:gdLst/>
            <a:ahLst/>
            <a:cxnLst/>
            <a:rect l="l" t="t" r="r" b="b"/>
            <a:pathLst>
              <a:path w="1361529" h="289520">
                <a:moveTo>
                  <a:pt x="144760" y="0"/>
                </a:moveTo>
                <a:lnTo>
                  <a:pt x="1216769" y="0"/>
                </a:lnTo>
                <a:arcTo hR="144760" wR="144760" stAng="16200000" swAng="5400000"/>
                <a:lnTo>
                  <a:pt x="1361529"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7216" y="887710"/>
            <a:ext cx="177800" cy="88900"/>
          </a:xfrm>
          <a:prstGeom prst="rect">
            <a:avLst/>
          </a:prstGeom>
        </p:spPr>
      </p:pic>
      <p:sp>
        <p:nvSpPr>
          <p:cNvPr id="6" name="Text 2"/>
          <p:cNvSpPr/>
          <p:nvPr/>
        </p:nvSpPr>
        <p:spPr>
          <a:xfrm>
            <a:off x="10367566" y="781050"/>
            <a:ext cx="1005284"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3 · Interact</a:t>
            </a:r>
            <a:endParaRPr lang="en-US" sz="1200" dirty="0"/>
          </a:p>
        </p:txBody>
      </p:sp>
      <p:sp>
        <p:nvSpPr>
          <p:cNvPr id="7" name="Text 3"/>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REQUEST LIFECYCLE</a:t>
            </a:r>
            <a:endParaRPr lang="en-US" sz="1200" dirty="0"/>
          </a:p>
        </p:txBody>
      </p:sp>
      <p:sp>
        <p:nvSpPr>
          <p:cNvPr id="8" name="Text 4"/>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2 · Authentication</a:t>
            </a:r>
            <a:endParaRPr lang="en-US" sz="3200" dirty="0"/>
          </a:p>
        </p:txBody>
      </p:sp>
      <p:sp>
        <p:nvSpPr>
          <p:cNvPr id="9" name="Shape 5"/>
          <p:cNvSpPr/>
          <p:nvPr/>
        </p:nvSpPr>
        <p:spPr>
          <a:xfrm>
            <a:off x="815975" y="1826816"/>
            <a:ext cx="2520950" cy="1842740"/>
          </a:xfrm>
          <a:prstGeom prst="roundRect">
            <a:avLst>
              <a:gd name="adj" fmla="val 6720"/>
            </a:avLst>
          </a:prstGeom>
          <a:solidFill>
            <a:srgbClr val="FCFBF8"/>
          </a:solidFill>
          <a:ln w="6350">
            <a:solidFill>
              <a:srgbClr val="DAD6CC"/>
            </a:solidFill>
            <a:prstDash val="solid"/>
          </a:ln>
        </p:spPr>
      </p:sp>
      <p:sp>
        <p:nvSpPr>
          <p:cNvPr id="10" name="Text 6"/>
          <p:cNvSpPr/>
          <p:nvPr/>
        </p:nvSpPr>
        <p:spPr>
          <a:xfrm>
            <a:off x="1022350" y="203319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1</a:t>
            </a:r>
            <a:endParaRPr lang="en-US" sz="1400" dirty="0"/>
          </a:p>
        </p:txBody>
      </p:sp>
      <p:sp>
        <p:nvSpPr>
          <p:cNvPr id="11" name="Text 7"/>
          <p:cNvSpPr/>
          <p:nvPr/>
        </p:nvSpPr>
        <p:spPr>
          <a:xfrm>
            <a:off x="1022350" y="24649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Space Grotesk" pitchFamily="34" charset="0"/>
                <a:ea typeface="Space Grotesk" pitchFamily="34" charset="-122"/>
                <a:cs typeface="Space Grotesk" pitchFamily="34" charset="-120"/>
              </a:rPr>
              <a:t>Read the card</a:t>
            </a:r>
            <a:endParaRPr lang="en-US" sz="1500" dirty="0"/>
          </a:p>
        </p:txBody>
      </p:sp>
      <p:sp>
        <p:nvSpPr>
          <p:cNvPr id="12" name="Text 8"/>
          <p:cNvSpPr/>
          <p:nvPr/>
        </p:nvSpPr>
        <p:spPr>
          <a:xfrm>
            <a:off x="1022350" y="276979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Its security section says what it accepts, e.g. OAuth 2.0 or OpenID Connect.</a:t>
            </a:r>
            <a:endParaRPr lang="en-US" sz="1300" dirty="0"/>
          </a:p>
        </p:txBody>
      </p:sp>
      <p:sp>
        <p:nvSpPr>
          <p:cNvPr id="13" name="Shape 9"/>
          <p:cNvSpPr/>
          <p:nvPr/>
        </p:nvSpPr>
        <p:spPr>
          <a:xfrm>
            <a:off x="3495675" y="1826816"/>
            <a:ext cx="2520950" cy="1842740"/>
          </a:xfrm>
          <a:prstGeom prst="roundRect">
            <a:avLst>
              <a:gd name="adj" fmla="val 6720"/>
            </a:avLst>
          </a:prstGeom>
          <a:solidFill>
            <a:srgbClr val="FCFBF8"/>
          </a:solidFill>
          <a:ln w="6350">
            <a:solidFill>
              <a:srgbClr val="DAD6CC"/>
            </a:solidFill>
            <a:prstDash val="solid"/>
          </a:ln>
        </p:spPr>
      </p:sp>
      <p:sp>
        <p:nvSpPr>
          <p:cNvPr id="14" name="Text 10"/>
          <p:cNvSpPr/>
          <p:nvPr/>
        </p:nvSpPr>
        <p:spPr>
          <a:xfrm>
            <a:off x="3702050" y="203319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2</a:t>
            </a:r>
            <a:endParaRPr lang="en-US" sz="1400" dirty="0"/>
          </a:p>
        </p:txBody>
      </p:sp>
      <p:sp>
        <p:nvSpPr>
          <p:cNvPr id="15" name="Text 11"/>
          <p:cNvSpPr/>
          <p:nvPr/>
        </p:nvSpPr>
        <p:spPr>
          <a:xfrm>
            <a:off x="3702050" y="24649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Space Grotesk" pitchFamily="34" charset="0"/>
                <a:ea typeface="Space Grotesk" pitchFamily="34" charset="-122"/>
                <a:cs typeface="Space Grotesk" pitchFamily="34" charset="-120"/>
              </a:rPr>
              <a:t>Get a token</a:t>
            </a:r>
            <a:endParaRPr lang="en-US" sz="1500" dirty="0"/>
          </a:p>
        </p:txBody>
      </p:sp>
      <p:sp>
        <p:nvSpPr>
          <p:cNvPr id="16" name="Text 12"/>
          <p:cNvSpPr/>
          <p:nvPr/>
        </p:nvSpPr>
        <p:spPr>
          <a:xfrm>
            <a:off x="3702050" y="276979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From the company identity provider — not from the agent. Often a JWT.</a:t>
            </a:r>
            <a:endParaRPr lang="en-US" sz="1300" dirty="0"/>
          </a:p>
        </p:txBody>
      </p:sp>
      <p:sp>
        <p:nvSpPr>
          <p:cNvPr id="17" name="Shape 13"/>
          <p:cNvSpPr/>
          <p:nvPr/>
        </p:nvSpPr>
        <p:spPr>
          <a:xfrm>
            <a:off x="6175375" y="1826816"/>
            <a:ext cx="2520950" cy="1842740"/>
          </a:xfrm>
          <a:prstGeom prst="roundRect">
            <a:avLst>
              <a:gd name="adj" fmla="val 6720"/>
            </a:avLst>
          </a:prstGeom>
          <a:solidFill>
            <a:srgbClr val="FCFBF8"/>
          </a:solidFill>
          <a:ln w="6350">
            <a:solidFill>
              <a:srgbClr val="DAD6CC"/>
            </a:solidFill>
            <a:prstDash val="solid"/>
          </a:ln>
        </p:spPr>
      </p:sp>
      <p:sp>
        <p:nvSpPr>
          <p:cNvPr id="18" name="Text 14"/>
          <p:cNvSpPr/>
          <p:nvPr/>
        </p:nvSpPr>
        <p:spPr>
          <a:xfrm>
            <a:off x="6381750" y="203319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3</a:t>
            </a:r>
            <a:endParaRPr lang="en-US" sz="1400" dirty="0"/>
          </a:p>
        </p:txBody>
      </p:sp>
      <p:sp>
        <p:nvSpPr>
          <p:cNvPr id="19" name="Text 15"/>
          <p:cNvSpPr/>
          <p:nvPr/>
        </p:nvSpPr>
        <p:spPr>
          <a:xfrm>
            <a:off x="6381750" y="24649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Space Grotesk" pitchFamily="34" charset="0"/>
                <a:ea typeface="Space Grotesk" pitchFamily="34" charset="-122"/>
                <a:cs typeface="Space Grotesk" pitchFamily="34" charset="-120"/>
              </a:rPr>
              <a:t>Call with the token</a:t>
            </a:r>
            <a:endParaRPr lang="en-US" sz="1500" dirty="0"/>
          </a:p>
        </p:txBody>
      </p:sp>
      <p:sp>
        <p:nvSpPr>
          <p:cNvPr id="20" name="Text 16"/>
          <p:cNvSpPr/>
          <p:nvPr/>
        </p:nvSpPr>
        <p:spPr>
          <a:xfrm>
            <a:off x="6381750" y="276979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token rides in the HTTP header, never inside the A2A message itself.</a:t>
            </a:r>
            <a:endParaRPr lang="en-US" sz="1300" dirty="0"/>
          </a:p>
        </p:txBody>
      </p:sp>
      <p:sp>
        <p:nvSpPr>
          <p:cNvPr id="21" name="Shape 17"/>
          <p:cNvSpPr/>
          <p:nvPr/>
        </p:nvSpPr>
        <p:spPr>
          <a:xfrm>
            <a:off x="8855075" y="1826816"/>
            <a:ext cx="2520950" cy="1842740"/>
          </a:xfrm>
          <a:prstGeom prst="roundRect">
            <a:avLst>
              <a:gd name="adj" fmla="val 6720"/>
            </a:avLst>
          </a:prstGeom>
          <a:solidFill>
            <a:srgbClr val="FCFBF8"/>
          </a:solidFill>
          <a:ln w="6350">
            <a:solidFill>
              <a:srgbClr val="DAD6CC"/>
            </a:solidFill>
            <a:prstDash val="solid"/>
          </a:ln>
        </p:spPr>
      </p:sp>
      <p:sp>
        <p:nvSpPr>
          <p:cNvPr id="22" name="Text 18"/>
          <p:cNvSpPr/>
          <p:nvPr/>
        </p:nvSpPr>
        <p:spPr>
          <a:xfrm>
            <a:off x="9061450" y="2033191"/>
            <a:ext cx="355600" cy="355600"/>
          </a:xfrm>
          <a:prstGeom prst="roundRect">
            <a:avLst>
              <a:gd name="adj" fmla="val 50000"/>
            </a:avLst>
          </a:prstGeom>
          <a:solidFill>
            <a:srgbClr val="B9531E"/>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4</a:t>
            </a:r>
            <a:endParaRPr lang="en-US" sz="1400" dirty="0"/>
          </a:p>
        </p:txBody>
      </p:sp>
      <p:sp>
        <p:nvSpPr>
          <p:cNvPr id="23" name="Text 19"/>
          <p:cNvSpPr/>
          <p:nvPr/>
        </p:nvSpPr>
        <p:spPr>
          <a:xfrm>
            <a:off x="9061450" y="24649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Space Grotesk" pitchFamily="34" charset="0"/>
                <a:ea typeface="Space Grotesk" pitchFamily="34" charset="-122"/>
                <a:cs typeface="Space Grotesk" pitchFamily="34" charset="-120"/>
              </a:rPr>
              <a:t>Verify and decide</a:t>
            </a:r>
            <a:endParaRPr lang="en-US" sz="1500" dirty="0"/>
          </a:p>
        </p:txBody>
      </p:sp>
      <p:sp>
        <p:nvSpPr>
          <p:cNvPr id="24" name="Text 20"/>
          <p:cNvSpPr/>
          <p:nvPr/>
        </p:nvSpPr>
        <p:spPr>
          <a:xfrm>
            <a:off x="9061450" y="276979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server checks the token and decides what this caller may do.</a:t>
            </a:r>
            <a:endParaRPr lang="en-US" sz="1300" dirty="0"/>
          </a:p>
        </p:txBody>
      </p:sp>
      <p:sp>
        <p:nvSpPr>
          <p:cNvPr id="25" name="Shape 21"/>
          <p:cNvSpPr/>
          <p:nvPr/>
        </p:nvSpPr>
        <p:spPr>
          <a:xfrm>
            <a:off x="812800" y="3926731"/>
            <a:ext cx="3420517" cy="1915269"/>
          </a:xfrm>
          <a:prstGeom prst="roundRect">
            <a:avLst>
              <a:gd name="adj" fmla="val 6631"/>
            </a:avLst>
          </a:prstGeom>
          <a:solidFill>
            <a:srgbClr val="E7EEF9"/>
          </a:solidFill>
          <a:ln/>
        </p:spPr>
      </p:sp>
      <p:pic>
        <p:nvPicPr>
          <p:cNvPr id="26" name="Image 2" descr="Key">    </p:cNvPr>
          <p:cNvPicPr>
            <a:picLocks noChangeAspect="1"/>
          </p:cNvPicPr>
          <p:nvPr/>
        </p:nvPicPr>
        <p:blipFill>
          <a:blip r:embed="rId3"/>
          <a:srcRect l="0" r="0" t="0" b="0"/>
          <a:stretch/>
        </p:blipFill>
        <p:spPr>
          <a:xfrm>
            <a:off x="990600" y="4104531"/>
            <a:ext cx="254000" cy="254000"/>
          </a:xfrm>
          <a:prstGeom prst="rect">
            <a:avLst/>
          </a:prstGeom>
        </p:spPr>
      </p:pic>
      <p:sp>
        <p:nvSpPr>
          <p:cNvPr id="27" name="Text 22"/>
          <p:cNvSpPr/>
          <p:nvPr/>
        </p:nvSpPr>
        <p:spPr>
          <a:xfrm>
            <a:off x="1371600" y="4104531"/>
            <a:ext cx="27644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Space Grotesk" pitchFamily="34" charset="0"/>
                <a:ea typeface="Space Grotesk" pitchFamily="34" charset="-122"/>
                <a:cs typeface="Space Grotesk" pitchFamily="34" charset="-120"/>
              </a:rPr>
              <a:t>Decoupled</a:t>
            </a:r>
            <a:endParaRPr lang="en-US" sz="1500" dirty="0"/>
          </a:p>
        </p:txBody>
      </p:sp>
      <p:sp>
        <p:nvSpPr>
          <p:cNvPr id="28" name="Text 23"/>
          <p:cNvSpPr/>
          <p:nvPr/>
        </p:nvSpPr>
        <p:spPr>
          <a:xfrm>
            <a:off x="1371600" y="4371231"/>
            <a:ext cx="276443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05A"/>
                </a:solidFill>
                <a:latin typeface="IBM Plex Sans" pitchFamily="34" charset="0"/>
                <a:ea typeface="IBM Plex Sans" pitchFamily="34" charset="-122"/>
                <a:cs typeface="IBM Plex Sans" pitchFamily="34" charset="-120"/>
              </a:rPr>
              <a:t>No secrets hard-coded between agents — reuse the identity provider you already run.</a:t>
            </a:r>
            <a:endParaRPr lang="en-US" sz="1300" dirty="0"/>
          </a:p>
        </p:txBody>
      </p:sp>
      <p:sp>
        <p:nvSpPr>
          <p:cNvPr id="29" name="Shape 24"/>
          <p:cNvSpPr/>
          <p:nvPr/>
        </p:nvSpPr>
        <p:spPr>
          <a:xfrm>
            <a:off x="4385717" y="3926731"/>
            <a:ext cx="3420566" cy="1915269"/>
          </a:xfrm>
          <a:prstGeom prst="roundRect">
            <a:avLst>
              <a:gd name="adj" fmla="val 6631"/>
            </a:avLst>
          </a:prstGeom>
          <a:solidFill>
            <a:srgbClr val="E7EEF9"/>
          </a:solidFill>
          <a:ln/>
        </p:spPr>
      </p:sp>
      <p:pic>
        <p:nvPicPr>
          <p:cNvPr id="30" name="Image 3" descr="Lock">    </p:cNvPr>
          <p:cNvPicPr>
            <a:picLocks noChangeAspect="1"/>
          </p:cNvPicPr>
          <p:nvPr/>
        </p:nvPicPr>
        <p:blipFill>
          <a:blip r:embed="rId4"/>
          <a:srcRect l="0" r="0" t="0" b="0"/>
          <a:stretch/>
        </p:blipFill>
        <p:spPr>
          <a:xfrm>
            <a:off x="4563517" y="4104531"/>
            <a:ext cx="254000" cy="254000"/>
          </a:xfrm>
          <a:prstGeom prst="rect">
            <a:avLst/>
          </a:prstGeom>
        </p:spPr>
      </p:pic>
      <p:sp>
        <p:nvSpPr>
          <p:cNvPr id="31" name="Text 25"/>
          <p:cNvSpPr/>
          <p:nvPr/>
        </p:nvSpPr>
        <p:spPr>
          <a:xfrm>
            <a:off x="4944517" y="4104531"/>
            <a:ext cx="27644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Space Grotesk" pitchFamily="34" charset="0"/>
                <a:ea typeface="Space Grotesk" pitchFamily="34" charset="-122"/>
                <a:cs typeface="Space Grotesk" pitchFamily="34" charset="-120"/>
              </a:rPr>
              <a:t>Familiar schemes</a:t>
            </a:r>
            <a:endParaRPr lang="en-US" sz="1500" dirty="0"/>
          </a:p>
        </p:txBody>
      </p:sp>
      <p:sp>
        <p:nvSpPr>
          <p:cNvPr id="32" name="Text 26"/>
          <p:cNvSpPr/>
          <p:nvPr/>
        </p:nvSpPr>
        <p:spPr>
          <a:xfrm>
            <a:off x="4944517" y="4371231"/>
            <a:ext cx="276448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05A"/>
                </a:solidFill>
                <a:latin typeface="IBM Plex Sans" pitchFamily="34" charset="0"/>
                <a:ea typeface="IBM Plex Sans" pitchFamily="34" charset="-122"/>
                <a:cs typeface="IBM Plex Sans" pitchFamily="34" charset="-120"/>
              </a:rPr>
              <a:t>API keys, HTTP bearer, OAuth 2.0, OpenID Connect and mutual TLS.</a:t>
            </a:r>
            <a:endParaRPr lang="en-US" sz="1300" dirty="0"/>
          </a:p>
        </p:txBody>
      </p:sp>
      <p:sp>
        <p:nvSpPr>
          <p:cNvPr id="33" name="Shape 27"/>
          <p:cNvSpPr/>
          <p:nvPr/>
        </p:nvSpPr>
        <p:spPr>
          <a:xfrm>
            <a:off x="7958683" y="3926731"/>
            <a:ext cx="3420517" cy="1915269"/>
          </a:xfrm>
          <a:prstGeom prst="roundRect">
            <a:avLst>
              <a:gd name="adj" fmla="val 6631"/>
            </a:avLst>
          </a:prstGeom>
          <a:solidFill>
            <a:srgbClr val="E7EEF9"/>
          </a:solidFill>
          <a:ln/>
        </p:spPr>
      </p:sp>
      <p:pic>
        <p:nvPicPr>
          <p:cNvPr id="34" name="Image 4" descr="Verified">    </p:cNvPr>
          <p:cNvPicPr>
            <a:picLocks noChangeAspect="1"/>
          </p:cNvPicPr>
          <p:nvPr/>
        </p:nvPicPr>
        <p:blipFill>
          <a:blip r:embed="rId5"/>
          <a:srcRect l="0" r="0" t="0" b="0"/>
          <a:stretch/>
        </p:blipFill>
        <p:spPr>
          <a:xfrm>
            <a:off x="8136483" y="4104531"/>
            <a:ext cx="254000" cy="254000"/>
          </a:xfrm>
          <a:prstGeom prst="rect">
            <a:avLst/>
          </a:prstGeom>
        </p:spPr>
      </p:pic>
      <p:sp>
        <p:nvSpPr>
          <p:cNvPr id="35" name="Text 28"/>
          <p:cNvSpPr/>
          <p:nvPr/>
        </p:nvSpPr>
        <p:spPr>
          <a:xfrm>
            <a:off x="8517483" y="4104531"/>
            <a:ext cx="27644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Space Grotesk" pitchFamily="34" charset="0"/>
                <a:ea typeface="Space Grotesk" pitchFamily="34" charset="-122"/>
                <a:cs typeface="Space Grotesk" pitchFamily="34" charset="-120"/>
              </a:rPr>
              <a:t>Extended card</a:t>
            </a:r>
            <a:endParaRPr lang="en-US" sz="1500" dirty="0"/>
          </a:p>
        </p:txBody>
      </p:sp>
      <p:sp>
        <p:nvSpPr>
          <p:cNvPr id="36" name="Text 29"/>
          <p:cNvSpPr/>
          <p:nvPr/>
        </p:nvSpPr>
        <p:spPr>
          <a:xfrm>
            <a:off x="8517483" y="4371231"/>
            <a:ext cx="276443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05A"/>
                </a:solidFill>
                <a:latin typeface="IBM Plex Sans" pitchFamily="34" charset="0"/>
                <a:ea typeface="IBM Plex Sans" pitchFamily="34" charset="-122"/>
                <a:cs typeface="IBM Plex Sans" pitchFamily="34" charset="-120"/>
              </a:rPr>
              <a:t>Once authenticated, a client may see extra skills the public card hides.</a:t>
            </a:r>
            <a:endParaRPr lang="en-US" sz="1300" dirty="0"/>
          </a:p>
        </p:txBody>
      </p:sp>
      <p:sp>
        <p:nvSpPr>
          <p:cNvPr id="37" name="Text 30"/>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8" name="Text 3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347645" y="774700"/>
            <a:ext cx="1029494" cy="289520"/>
          </a:xfrm>
          <a:custGeom>
            <a:avLst/>
            <a:gdLst/>
            <a:ahLst/>
            <a:cxnLst/>
            <a:rect l="l" t="t" r="r" b="b"/>
            <a:pathLst>
              <a:path w="1029494" h="289520">
                <a:moveTo>
                  <a:pt x="144760" y="0"/>
                </a:moveTo>
                <a:lnTo>
                  <a:pt x="884734" y="0"/>
                </a:lnTo>
                <a:arcTo hR="144760" wR="144760" stAng="16200000" swAng="5400000"/>
                <a:lnTo>
                  <a:pt x="1029494"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453338" y="875010"/>
            <a:ext cx="177800" cy="88900"/>
          </a:xfrm>
          <a:prstGeom prst="rect">
            <a:avLst/>
          </a:prstGeom>
        </p:spPr>
      </p:pic>
      <p:sp>
        <p:nvSpPr>
          <p:cNvPr id="4" name="Text 1"/>
          <p:cNvSpPr/>
          <p:nvPr/>
        </p:nvSpPr>
        <p:spPr>
          <a:xfrm>
            <a:off x="8707338" y="774700"/>
            <a:ext cx="1322388" cy="289520"/>
          </a:xfrm>
          <a:custGeom>
            <a:avLst/>
            <a:gdLst/>
            <a:ahLst/>
            <a:cxnLst/>
            <a:rect l="l" t="t" r="r" b="b"/>
            <a:pathLst>
              <a:path w="1322388" h="289520">
                <a:moveTo>
                  <a:pt x="144760" y="0"/>
                </a:moveTo>
                <a:lnTo>
                  <a:pt x="1177627" y="0"/>
                </a:lnTo>
                <a:arcTo hR="144760" wR="144760" stAng="16200000" swAng="5400000"/>
                <a:lnTo>
                  <a:pt x="13223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5926" y="875010"/>
            <a:ext cx="177800" cy="88900"/>
          </a:xfrm>
          <a:prstGeom prst="rect">
            <a:avLst/>
          </a:prstGeom>
        </p:spPr>
      </p:pic>
      <p:sp>
        <p:nvSpPr>
          <p:cNvPr id="6" name="Text 2"/>
          <p:cNvSpPr/>
          <p:nvPr/>
        </p:nvSpPr>
        <p:spPr>
          <a:xfrm>
            <a:off x="10359926" y="774700"/>
            <a:ext cx="1019274" cy="289520"/>
          </a:xfrm>
          <a:custGeom>
            <a:avLst/>
            <a:gdLst/>
            <a:ahLst/>
            <a:cxnLst/>
            <a:rect l="l" t="t" r="r" b="b"/>
            <a:pathLst>
              <a:path w="1019274" h="289520">
                <a:moveTo>
                  <a:pt x="144760" y="0"/>
                </a:moveTo>
                <a:lnTo>
                  <a:pt x="874514" y="0"/>
                </a:lnTo>
                <a:arcTo hR="144760" wR="144760" stAng="16200000" swAng="5400000"/>
                <a:lnTo>
                  <a:pt x="101927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3 · Interact</a:t>
            </a:r>
            <a:endParaRPr lang="en-US" sz="1200" dirty="0"/>
          </a:p>
        </p:txBody>
      </p:sp>
      <p:sp>
        <p:nvSpPr>
          <p:cNvPr id="7" name="Text 3"/>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REQUEST LIFECYCLE</a:t>
            </a:r>
            <a:endParaRPr lang="en-US" sz="1200" dirty="0"/>
          </a:p>
        </p:txBody>
      </p:sp>
      <p:sp>
        <p:nvSpPr>
          <p:cNvPr id="8" name="Text 4"/>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3 · Three ways to interact</a:t>
            </a:r>
            <a:endParaRPr lang="en-US" sz="3200" dirty="0"/>
          </a:p>
        </p:txBody>
      </p:sp>
      <p:sp>
        <p:nvSpPr>
          <p:cNvPr id="9" name="Shape 5"/>
          <p:cNvSpPr/>
          <p:nvPr/>
        </p:nvSpPr>
        <p:spPr>
          <a:xfrm>
            <a:off x="815975" y="1826816"/>
            <a:ext cx="3414167" cy="4012009"/>
          </a:xfrm>
          <a:prstGeom prst="roundRect">
            <a:avLst>
              <a:gd name="adj" fmla="val 3627"/>
            </a:avLst>
          </a:prstGeom>
          <a:solidFill>
            <a:srgbClr val="FCFBF8"/>
          </a:solidFill>
          <a:ln w="6350">
            <a:solidFill>
              <a:srgbClr val="DAD6CC"/>
            </a:solidFill>
            <a:prstDash val="solid"/>
          </a:ln>
        </p:spPr>
      </p:sp>
      <p:pic>
        <p:nvPicPr>
          <p:cNvPr id="10" name="Image 2" descr="Chat">    </p:cNvPr>
          <p:cNvPicPr>
            <a:picLocks noChangeAspect="1"/>
          </p:cNvPicPr>
          <p:nvPr/>
        </p:nvPicPr>
        <p:blipFill>
          <a:blip r:embed="rId3"/>
          <a:srcRect l="0" r="0" t="0" b="0"/>
          <a:stretch/>
        </p:blipFill>
        <p:spPr>
          <a:xfrm>
            <a:off x="1047750" y="2058591"/>
            <a:ext cx="279400" cy="279400"/>
          </a:xfrm>
          <a:prstGeom prst="rect">
            <a:avLst/>
          </a:prstGeom>
        </p:spPr>
      </p:pic>
      <p:sp>
        <p:nvSpPr>
          <p:cNvPr id="11" name="Text 6"/>
          <p:cNvSpPr/>
          <p:nvPr/>
        </p:nvSpPr>
        <p:spPr>
          <a:xfrm>
            <a:off x="1428750" y="2076351"/>
            <a:ext cx="228373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Request / response</a:t>
            </a:r>
            <a:endParaRPr lang="en-US" sz="1600" dirty="0"/>
          </a:p>
        </p:txBody>
      </p:sp>
      <p:sp>
        <p:nvSpPr>
          <p:cNvPr id="12" name="Text 7"/>
          <p:cNvSpPr/>
          <p:nvPr/>
        </p:nvSpPr>
        <p:spPr>
          <a:xfrm>
            <a:off x="1047750" y="2439591"/>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Send message</a:t>
            </a:r>
            <a:endParaRPr lang="en-US" sz="1200" dirty="0"/>
          </a:p>
        </p:txBody>
      </p:sp>
      <p:sp>
        <p:nvSpPr>
          <p:cNvPr id="13" name="Text 8"/>
          <p:cNvSpPr/>
          <p:nvPr/>
        </p:nvSpPr>
        <p:spPr>
          <a:xfrm>
            <a:off x="1047750" y="2754511"/>
            <a:ext cx="3039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Send a message, get a reply: a quick Message, or a Task the client can track.</a:t>
            </a:r>
            <a:endParaRPr lang="en-US" sz="1300" dirty="0"/>
          </a:p>
        </p:txBody>
      </p:sp>
      <p:sp>
        <p:nvSpPr>
          <p:cNvPr id="14" name="Shape 9"/>
          <p:cNvSpPr/>
          <p:nvPr/>
        </p:nvSpPr>
        <p:spPr>
          <a:xfrm>
            <a:off x="1047750" y="3318371"/>
            <a:ext cx="2950617" cy="731441"/>
          </a:xfrm>
          <a:prstGeom prst="roundRect">
            <a:avLst>
              <a:gd name="adj" fmla="val 12154"/>
            </a:avLst>
          </a:prstGeom>
          <a:solidFill>
            <a:srgbClr val="F0EDE6"/>
          </a:solidFill>
          <a:ln/>
        </p:spPr>
      </p:sp>
      <p:sp>
        <p:nvSpPr>
          <p:cNvPr id="15" name="Text 10"/>
          <p:cNvSpPr/>
          <p:nvPr/>
        </p:nvSpPr>
        <p:spPr>
          <a:xfrm>
            <a:off x="1174750" y="344537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 “How many X1 laptops left?”</a:t>
            </a:r>
            <a:endParaRPr lang="en-US" sz="1200" dirty="0"/>
          </a:p>
        </p:txBody>
      </p:sp>
      <p:sp>
        <p:nvSpPr>
          <p:cNvPr id="16" name="Text 11"/>
          <p:cNvSpPr/>
          <p:nvPr/>
        </p:nvSpPr>
        <p:spPr>
          <a:xfrm>
            <a:off x="1174750" y="370949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 Message: “20 in stock”</a:t>
            </a:r>
            <a:endParaRPr lang="en-US" sz="1200" dirty="0"/>
          </a:p>
        </p:txBody>
      </p:sp>
      <p:sp>
        <p:nvSpPr>
          <p:cNvPr id="17" name="Text 12"/>
          <p:cNvSpPr/>
          <p:nvPr/>
        </p:nvSpPr>
        <p:spPr>
          <a:xfrm>
            <a:off x="1047750" y="5393730"/>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quick lookups</a:t>
            </a:r>
            <a:endParaRPr lang="en-US" sz="1200" dirty="0"/>
          </a:p>
        </p:txBody>
      </p:sp>
      <p:sp>
        <p:nvSpPr>
          <p:cNvPr id="18" name="Shape 13"/>
          <p:cNvSpPr/>
          <p:nvPr/>
        </p:nvSpPr>
        <p:spPr>
          <a:xfrm>
            <a:off x="4388892" y="1826816"/>
            <a:ext cx="3414216" cy="4012009"/>
          </a:xfrm>
          <a:prstGeom prst="roundRect">
            <a:avLst>
              <a:gd name="adj" fmla="val 3627"/>
            </a:avLst>
          </a:prstGeom>
          <a:solidFill>
            <a:srgbClr val="FCFBF8"/>
          </a:solidFill>
          <a:ln w="6350">
            <a:solidFill>
              <a:srgbClr val="DAD6CC"/>
            </a:solidFill>
            <a:prstDash val="solid"/>
          </a:ln>
        </p:spPr>
      </p:sp>
      <p:pic>
        <p:nvPicPr>
          <p:cNvPr id="19" name="Image 3" descr="Lightning">    </p:cNvPr>
          <p:cNvPicPr>
            <a:picLocks noChangeAspect="1"/>
          </p:cNvPicPr>
          <p:nvPr/>
        </p:nvPicPr>
        <p:blipFill>
          <a:blip r:embed="rId4"/>
          <a:srcRect l="0" r="0" t="0" b="0"/>
          <a:stretch/>
        </p:blipFill>
        <p:spPr>
          <a:xfrm>
            <a:off x="4620667" y="2058591"/>
            <a:ext cx="279400" cy="279400"/>
          </a:xfrm>
          <a:prstGeom prst="rect">
            <a:avLst/>
          </a:prstGeom>
        </p:spPr>
      </p:pic>
      <p:sp>
        <p:nvSpPr>
          <p:cNvPr id="20" name="Text 14"/>
          <p:cNvSpPr/>
          <p:nvPr/>
        </p:nvSpPr>
        <p:spPr>
          <a:xfrm>
            <a:off x="5001667" y="2076351"/>
            <a:ext cx="12109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Streaming</a:t>
            </a:r>
            <a:endParaRPr lang="en-US" sz="1600" dirty="0"/>
          </a:p>
        </p:txBody>
      </p:sp>
      <p:sp>
        <p:nvSpPr>
          <p:cNvPr id="21" name="Text 15"/>
          <p:cNvSpPr/>
          <p:nvPr/>
        </p:nvSpPr>
        <p:spPr>
          <a:xfrm>
            <a:off x="4620667" y="2439591"/>
            <a:ext cx="30391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Stream message · SSE</a:t>
            </a:r>
            <a:endParaRPr lang="en-US" sz="1200" dirty="0"/>
          </a:p>
        </p:txBody>
      </p:sp>
      <p:sp>
        <p:nvSpPr>
          <p:cNvPr id="22" name="Text 16"/>
          <p:cNvSpPr/>
          <p:nvPr/>
        </p:nvSpPr>
        <p:spPr>
          <a:xfrm>
            <a:off x="4620667" y="2754511"/>
            <a:ext cx="303918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connection stays open; the server pushes live updates as Server-Sent Events.</a:t>
            </a:r>
            <a:endParaRPr lang="en-US" sz="1300" dirty="0"/>
          </a:p>
        </p:txBody>
      </p:sp>
      <p:sp>
        <p:nvSpPr>
          <p:cNvPr id="23" name="Shape 17"/>
          <p:cNvSpPr/>
          <p:nvPr/>
        </p:nvSpPr>
        <p:spPr>
          <a:xfrm>
            <a:off x="4620667" y="3549501"/>
            <a:ext cx="2950666" cy="1523802"/>
          </a:xfrm>
          <a:prstGeom prst="roundRect">
            <a:avLst>
              <a:gd name="adj" fmla="val 5834"/>
            </a:avLst>
          </a:prstGeom>
          <a:solidFill>
            <a:srgbClr val="F0EDE6"/>
          </a:solidFill>
          <a:ln/>
        </p:spPr>
      </p:sp>
      <p:sp>
        <p:nvSpPr>
          <p:cNvPr id="24" name="Text 18"/>
          <p:cNvSpPr/>
          <p:nvPr/>
        </p:nvSpPr>
        <p:spPr>
          <a:xfrm>
            <a:off x="4747667" y="367650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Task · submitted</a:t>
            </a:r>
            <a:endParaRPr lang="en-US" sz="1200" dirty="0"/>
          </a:p>
        </p:txBody>
      </p:sp>
      <p:sp>
        <p:nvSpPr>
          <p:cNvPr id="25" name="Text 19"/>
          <p:cNvSpPr/>
          <p:nvPr/>
        </p:nvSpPr>
        <p:spPr>
          <a:xfrm>
            <a:off x="4747667" y="394062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Status · working</a:t>
            </a:r>
            <a:endParaRPr lang="en-US" sz="1200" dirty="0"/>
          </a:p>
        </p:txBody>
      </p:sp>
      <p:sp>
        <p:nvSpPr>
          <p:cNvPr id="26" name="Text 20"/>
          <p:cNvSpPr/>
          <p:nvPr/>
        </p:nvSpPr>
        <p:spPr>
          <a:xfrm>
            <a:off x="4747667" y="420474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Artifact A · stock</a:t>
            </a:r>
            <a:endParaRPr lang="en-US" sz="1200" dirty="0"/>
          </a:p>
        </p:txBody>
      </p:sp>
      <p:sp>
        <p:nvSpPr>
          <p:cNvPr id="27" name="Text 21"/>
          <p:cNvSpPr/>
          <p:nvPr/>
        </p:nvSpPr>
        <p:spPr>
          <a:xfrm>
            <a:off x="4747667" y="446886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Artifact B · backorder</a:t>
            </a:r>
            <a:endParaRPr lang="en-US" sz="1200" dirty="0"/>
          </a:p>
        </p:txBody>
      </p:sp>
      <p:sp>
        <p:nvSpPr>
          <p:cNvPr id="28" name="Text 22"/>
          <p:cNvSpPr/>
          <p:nvPr/>
        </p:nvSpPr>
        <p:spPr>
          <a:xfrm>
            <a:off x="4747667" y="473298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Status · completed</a:t>
            </a:r>
            <a:endParaRPr lang="en-US" sz="1200" dirty="0"/>
          </a:p>
        </p:txBody>
      </p:sp>
      <p:sp>
        <p:nvSpPr>
          <p:cNvPr id="29" name="Text 23"/>
          <p:cNvSpPr/>
          <p:nvPr/>
        </p:nvSpPr>
        <p:spPr>
          <a:xfrm>
            <a:off x="4620667" y="5393730"/>
            <a:ext cx="30391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long, watched tasks</a:t>
            </a:r>
            <a:endParaRPr lang="en-US" sz="1200" dirty="0"/>
          </a:p>
        </p:txBody>
      </p:sp>
      <p:sp>
        <p:nvSpPr>
          <p:cNvPr id="30" name="Shape 24"/>
          <p:cNvSpPr/>
          <p:nvPr/>
        </p:nvSpPr>
        <p:spPr>
          <a:xfrm>
            <a:off x="7961858" y="1826816"/>
            <a:ext cx="3414167" cy="4012009"/>
          </a:xfrm>
          <a:prstGeom prst="roundRect">
            <a:avLst>
              <a:gd name="adj" fmla="val 3627"/>
            </a:avLst>
          </a:prstGeom>
          <a:solidFill>
            <a:srgbClr val="FCFBF8"/>
          </a:solidFill>
          <a:ln w="6350">
            <a:solidFill>
              <a:srgbClr val="DAD6CC"/>
            </a:solidFill>
            <a:prstDash val="solid"/>
          </a:ln>
        </p:spPr>
      </p:sp>
      <p:pic>
        <p:nvPicPr>
          <p:cNvPr id="31" name="Image 4" descr="PaperPlane">    </p:cNvPr>
          <p:cNvPicPr>
            <a:picLocks noChangeAspect="1"/>
          </p:cNvPicPr>
          <p:nvPr/>
        </p:nvPicPr>
        <p:blipFill>
          <a:blip r:embed="rId5"/>
          <a:srcRect l="0" r="0" t="0" b="0"/>
          <a:stretch/>
        </p:blipFill>
        <p:spPr>
          <a:xfrm>
            <a:off x="8193633" y="2058591"/>
            <a:ext cx="279400" cy="279400"/>
          </a:xfrm>
          <a:prstGeom prst="rect">
            <a:avLst/>
          </a:prstGeom>
        </p:spPr>
      </p:pic>
      <p:sp>
        <p:nvSpPr>
          <p:cNvPr id="32" name="Text 25"/>
          <p:cNvSpPr/>
          <p:nvPr/>
        </p:nvSpPr>
        <p:spPr>
          <a:xfrm>
            <a:off x="8574633" y="2076351"/>
            <a:ext cx="214949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Push notifications</a:t>
            </a:r>
            <a:endParaRPr lang="en-US" sz="1600" dirty="0"/>
          </a:p>
        </p:txBody>
      </p:sp>
      <p:sp>
        <p:nvSpPr>
          <p:cNvPr id="33" name="Text 26"/>
          <p:cNvSpPr/>
          <p:nvPr/>
        </p:nvSpPr>
        <p:spPr>
          <a:xfrm>
            <a:off x="8193633" y="2439591"/>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Webhook callback</a:t>
            </a:r>
            <a:endParaRPr lang="en-US" sz="1200" dirty="0"/>
          </a:p>
        </p:txBody>
      </p:sp>
      <p:sp>
        <p:nvSpPr>
          <p:cNvPr id="34" name="Text 27"/>
          <p:cNvSpPr/>
          <p:nvPr/>
        </p:nvSpPr>
        <p:spPr>
          <a:xfrm>
            <a:off x="8193633" y="2754511"/>
            <a:ext cx="30391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client leaves a webhook URL and hangs up; the server calls back on changes.</a:t>
            </a:r>
            <a:endParaRPr lang="en-US" sz="1300" dirty="0"/>
          </a:p>
        </p:txBody>
      </p:sp>
      <p:sp>
        <p:nvSpPr>
          <p:cNvPr id="35" name="Shape 28"/>
          <p:cNvSpPr/>
          <p:nvPr/>
        </p:nvSpPr>
        <p:spPr>
          <a:xfrm>
            <a:off x="8193633" y="3549501"/>
            <a:ext cx="2950617" cy="1208881"/>
          </a:xfrm>
          <a:prstGeom prst="roundRect">
            <a:avLst>
              <a:gd name="adj" fmla="val 7354"/>
            </a:avLst>
          </a:prstGeom>
          <a:solidFill>
            <a:srgbClr val="F0EDE6"/>
          </a:solidFill>
          <a:ln/>
        </p:spPr>
      </p:sp>
      <p:sp>
        <p:nvSpPr>
          <p:cNvPr id="36" name="Text 29"/>
          <p:cNvSpPr/>
          <p:nvPr/>
        </p:nvSpPr>
        <p:spPr>
          <a:xfrm>
            <a:off x="8320633" y="367650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 Task + webhook URL</a:t>
            </a:r>
            <a:endParaRPr lang="en-US" sz="1200" dirty="0"/>
          </a:p>
        </p:txBody>
      </p:sp>
      <p:sp>
        <p:nvSpPr>
          <p:cNvPr id="37" name="Text 30"/>
          <p:cNvSpPr/>
          <p:nvPr/>
        </p:nvSpPr>
        <p:spPr>
          <a:xfrm>
            <a:off x="8320633" y="3940621"/>
            <a:ext cx="2777515"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E6573"/>
                </a:solidFill>
                <a:latin typeface="IBM Plex Sans" pitchFamily="34" charset="0"/>
                <a:ea typeface="IBM Plex Sans" pitchFamily="34" charset="-122"/>
                <a:cs typeface="IBM Plex Sans" pitchFamily="34" charset="-120"/>
              </a:rPr>
              <a:t>… client disconnects for hours</a:t>
            </a:r>
            <a:endParaRPr lang="en-US" sz="1200" dirty="0"/>
          </a:p>
        </p:txBody>
      </p:sp>
      <p:sp>
        <p:nvSpPr>
          <p:cNvPr id="38" name="Text 31"/>
          <p:cNvSpPr/>
          <p:nvPr/>
        </p:nvSpPr>
        <p:spPr>
          <a:xfrm>
            <a:off x="8320633" y="4204742"/>
            <a:ext cx="27775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 Server calls the webhook: “completed”</a:t>
            </a:r>
            <a:endParaRPr lang="en-US" sz="1200" dirty="0"/>
          </a:p>
        </p:txBody>
      </p:sp>
      <p:sp>
        <p:nvSpPr>
          <p:cNvPr id="39" name="Text 32"/>
          <p:cNvSpPr/>
          <p:nvPr/>
        </p:nvSpPr>
        <p:spPr>
          <a:xfrm>
            <a:off x="8193633" y="5393730"/>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hours-long jobs</a:t>
            </a:r>
            <a:endParaRPr lang="en-US" sz="1200" dirty="0"/>
          </a:p>
        </p:txBody>
      </p:sp>
      <p:sp>
        <p:nvSpPr>
          <p:cNvPr id="40" name="Text 33"/>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41" name="Text 3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347645" y="774700"/>
            <a:ext cx="1029494" cy="289520"/>
          </a:xfrm>
          <a:custGeom>
            <a:avLst/>
            <a:gdLst/>
            <a:ahLst/>
            <a:cxnLst/>
            <a:rect l="l" t="t" r="r" b="b"/>
            <a:pathLst>
              <a:path w="1029494" h="289520">
                <a:moveTo>
                  <a:pt x="144760" y="0"/>
                </a:moveTo>
                <a:lnTo>
                  <a:pt x="884734" y="0"/>
                </a:lnTo>
                <a:arcTo hR="144760" wR="144760" stAng="16200000" swAng="5400000"/>
                <a:lnTo>
                  <a:pt x="1029494"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453338" y="875010"/>
            <a:ext cx="177800" cy="88900"/>
          </a:xfrm>
          <a:prstGeom prst="rect">
            <a:avLst/>
          </a:prstGeom>
        </p:spPr>
      </p:pic>
      <p:sp>
        <p:nvSpPr>
          <p:cNvPr id="4" name="Text 1"/>
          <p:cNvSpPr/>
          <p:nvPr/>
        </p:nvSpPr>
        <p:spPr>
          <a:xfrm>
            <a:off x="8707338" y="774700"/>
            <a:ext cx="1322388" cy="289520"/>
          </a:xfrm>
          <a:custGeom>
            <a:avLst/>
            <a:gdLst/>
            <a:ahLst/>
            <a:cxnLst/>
            <a:rect l="l" t="t" r="r" b="b"/>
            <a:pathLst>
              <a:path w="1322388" h="289520">
                <a:moveTo>
                  <a:pt x="144760" y="0"/>
                </a:moveTo>
                <a:lnTo>
                  <a:pt x="1177627" y="0"/>
                </a:lnTo>
                <a:arcTo hR="144760" wR="144760" stAng="16200000" swAng="5400000"/>
                <a:lnTo>
                  <a:pt x="13223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5926" y="875010"/>
            <a:ext cx="177800" cy="88900"/>
          </a:xfrm>
          <a:prstGeom prst="rect">
            <a:avLst/>
          </a:prstGeom>
        </p:spPr>
      </p:pic>
      <p:sp>
        <p:nvSpPr>
          <p:cNvPr id="6" name="Text 2"/>
          <p:cNvSpPr/>
          <p:nvPr/>
        </p:nvSpPr>
        <p:spPr>
          <a:xfrm>
            <a:off x="10359926" y="774700"/>
            <a:ext cx="1019274" cy="289520"/>
          </a:xfrm>
          <a:custGeom>
            <a:avLst/>
            <a:gdLst/>
            <a:ahLst/>
            <a:cxnLst/>
            <a:rect l="l" t="t" r="r" b="b"/>
            <a:pathLst>
              <a:path w="1019274" h="289520">
                <a:moveTo>
                  <a:pt x="144760" y="0"/>
                </a:moveTo>
                <a:lnTo>
                  <a:pt x="874514" y="0"/>
                </a:lnTo>
                <a:arcTo hR="144760" wR="144760" stAng="16200000" swAng="5400000"/>
                <a:lnTo>
                  <a:pt x="101927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3 · Interact</a:t>
            </a:r>
            <a:endParaRPr lang="en-US" sz="1200" dirty="0"/>
          </a:p>
        </p:txBody>
      </p:sp>
      <p:sp>
        <p:nvSpPr>
          <p:cNvPr id="7" name="Text 3"/>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REQUEST LIFECYCLE</a:t>
            </a:r>
            <a:endParaRPr lang="en-US" sz="1200" dirty="0"/>
          </a:p>
        </p:txBody>
      </p:sp>
      <p:sp>
        <p:nvSpPr>
          <p:cNvPr id="8" name="Text 4"/>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Multi-turn: when an agent needs input</a:t>
            </a:r>
            <a:endParaRPr lang="en-US" sz="3200" dirty="0"/>
          </a:p>
        </p:txBody>
      </p:sp>
      <p:sp>
        <p:nvSpPr>
          <p:cNvPr id="9" name="Shape 5"/>
          <p:cNvSpPr/>
          <p:nvPr/>
        </p:nvSpPr>
        <p:spPr>
          <a:xfrm>
            <a:off x="815975" y="1826816"/>
            <a:ext cx="6343650" cy="4012009"/>
          </a:xfrm>
          <a:prstGeom prst="roundRect">
            <a:avLst>
              <a:gd name="adj" fmla="val 3086"/>
            </a:avLst>
          </a:prstGeom>
          <a:solidFill>
            <a:srgbClr val="FCFBF8"/>
          </a:solidFill>
          <a:ln w="6350">
            <a:solidFill>
              <a:srgbClr val="DAD6CC"/>
            </a:solidFill>
            <a:prstDash val="solid"/>
          </a:ln>
        </p:spPr>
      </p:sp>
      <p:sp>
        <p:nvSpPr>
          <p:cNvPr id="10" name="Text 6"/>
          <p:cNvSpPr/>
          <p:nvPr/>
        </p:nvSpPr>
        <p:spPr>
          <a:xfrm>
            <a:off x="1022350" y="2033191"/>
            <a:ext cx="6108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Task T-481 · one task, several turns</a:t>
            </a:r>
            <a:endParaRPr lang="en-US" sz="1200" dirty="0"/>
          </a:p>
        </p:txBody>
      </p:sp>
      <p:sp>
        <p:nvSpPr>
          <p:cNvPr id="11" name="Shape 7"/>
          <p:cNvSpPr/>
          <p:nvPr/>
        </p:nvSpPr>
        <p:spPr>
          <a:xfrm>
            <a:off x="1022350" y="2348111"/>
            <a:ext cx="5334000" cy="647650"/>
          </a:xfrm>
          <a:prstGeom prst="roundRect">
            <a:avLst>
              <a:gd name="adj" fmla="val 15687"/>
            </a:avLst>
          </a:prstGeom>
          <a:solidFill>
            <a:srgbClr val="E7EEF9"/>
          </a:solidFill>
          <a:ln/>
        </p:spPr>
      </p:sp>
      <p:sp>
        <p:nvSpPr>
          <p:cNvPr id="12" name="Text 8"/>
          <p:cNvSpPr/>
          <p:nvPr/>
        </p:nvSpPr>
        <p:spPr>
          <a:xfrm>
            <a:off x="1162050" y="2437011"/>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IBM Plex Sans" pitchFamily="34" charset="0"/>
                <a:ea typeface="IBM Plex Sans" pitchFamily="34" charset="-122"/>
                <a:cs typeface="IBM Plex Sans" pitchFamily="34" charset="-120"/>
              </a:rPr>
              <a:t>Sales → Inventory</a:t>
            </a:r>
            <a:endParaRPr lang="en-US" sz="1200" dirty="0"/>
          </a:p>
        </p:txBody>
      </p:sp>
      <p:sp>
        <p:nvSpPr>
          <p:cNvPr id="13" name="Text 9"/>
          <p:cNvSpPr/>
          <p:nvPr/>
        </p:nvSpPr>
        <p:spPr>
          <a:xfrm>
            <a:off x="1162050" y="2675731"/>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“Reserve 100 X1 laptops for delivery tomorrow.”</a:t>
            </a:r>
            <a:endParaRPr lang="en-US" sz="1300" dirty="0"/>
          </a:p>
        </p:txBody>
      </p:sp>
      <p:sp>
        <p:nvSpPr>
          <p:cNvPr id="14" name="Shape 10"/>
          <p:cNvSpPr/>
          <p:nvPr/>
        </p:nvSpPr>
        <p:spPr>
          <a:xfrm>
            <a:off x="1619250" y="3097361"/>
            <a:ext cx="5334000" cy="673050"/>
          </a:xfrm>
          <a:prstGeom prst="roundRect">
            <a:avLst>
              <a:gd name="adj" fmla="val 15095"/>
            </a:avLst>
          </a:prstGeom>
          <a:solidFill>
            <a:srgbClr val="FCE9DD"/>
          </a:solidFill>
          <a:ln/>
        </p:spPr>
      </p:sp>
      <p:sp>
        <p:nvSpPr>
          <p:cNvPr id="15" name="Text 11"/>
          <p:cNvSpPr/>
          <p:nvPr/>
        </p:nvSpPr>
        <p:spPr>
          <a:xfrm>
            <a:off x="1758950" y="3198961"/>
            <a:ext cx="13867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IBM Plex Sans" pitchFamily="34" charset="0"/>
                <a:ea typeface="IBM Plex Sans" pitchFamily="34" charset="-122"/>
                <a:cs typeface="IBM Plex Sans" pitchFamily="34" charset="-120"/>
              </a:rPr>
              <a:t>Inventory → Sales</a:t>
            </a:r>
            <a:endParaRPr lang="en-US" sz="1200" dirty="0"/>
          </a:p>
        </p:txBody>
      </p:sp>
      <p:sp>
        <p:nvSpPr>
          <p:cNvPr id="16" name="Text 12"/>
          <p:cNvSpPr/>
          <p:nvPr/>
        </p:nvSpPr>
        <p:spPr>
          <a:xfrm>
            <a:off x="3152031" y="3192611"/>
            <a:ext cx="1470670" cy="226020"/>
          </a:xfrm>
          <a:custGeom>
            <a:avLst/>
            <a:gdLst/>
            <a:ahLst/>
            <a:cxnLst/>
            <a:rect l="l" t="t" r="r" b="b"/>
            <a:pathLst>
              <a:path w="1470670" h="226020">
                <a:moveTo>
                  <a:pt x="113010" y="0"/>
                </a:moveTo>
                <a:lnTo>
                  <a:pt x="1357660" y="0"/>
                </a:lnTo>
                <a:arcTo hR="113010" wR="113010" stAng="16200000" swAng="5400000"/>
                <a:lnTo>
                  <a:pt x="1470670"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input-required</a:t>
            </a:r>
            <a:endParaRPr lang="en-US" sz="1200" dirty="0"/>
          </a:p>
        </p:txBody>
      </p:sp>
      <p:sp>
        <p:nvSpPr>
          <p:cNvPr id="17" name="Text 13"/>
          <p:cNvSpPr/>
          <p:nvPr/>
        </p:nvSpPr>
        <p:spPr>
          <a:xfrm>
            <a:off x="1758950" y="3450382"/>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“Only 20 in stock. Reserve 20, backorder 80?”</a:t>
            </a:r>
            <a:endParaRPr lang="en-US" sz="1300" dirty="0"/>
          </a:p>
        </p:txBody>
      </p:sp>
      <p:sp>
        <p:nvSpPr>
          <p:cNvPr id="18" name="Text 14"/>
          <p:cNvSpPr/>
          <p:nvPr/>
        </p:nvSpPr>
        <p:spPr>
          <a:xfrm>
            <a:off x="933387" y="3872012"/>
            <a:ext cx="6108827" cy="23872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5E6573"/>
                </a:solidFill>
                <a:latin typeface="IBM Plex Sans" pitchFamily="34" charset="0"/>
                <a:ea typeface="IBM Plex Sans" pitchFamily="34" charset="-122"/>
                <a:cs typeface="IBM Plex Sans" pitchFamily="34" charset="-120"/>
              </a:rPr>
              <a:t>Sales checks with the customer — the task waits, nothing is lost</a:t>
            </a:r>
            <a:endParaRPr lang="en-US" sz="1200" dirty="0"/>
          </a:p>
        </p:txBody>
      </p:sp>
      <p:sp>
        <p:nvSpPr>
          <p:cNvPr id="19" name="Shape 15"/>
          <p:cNvSpPr/>
          <p:nvPr/>
        </p:nvSpPr>
        <p:spPr>
          <a:xfrm>
            <a:off x="1022350" y="4186932"/>
            <a:ext cx="5334000" cy="647650"/>
          </a:xfrm>
          <a:prstGeom prst="roundRect">
            <a:avLst>
              <a:gd name="adj" fmla="val 15687"/>
            </a:avLst>
          </a:prstGeom>
          <a:solidFill>
            <a:srgbClr val="E7EEF9"/>
          </a:solidFill>
          <a:ln/>
        </p:spPr>
      </p:sp>
      <p:sp>
        <p:nvSpPr>
          <p:cNvPr id="20" name="Text 16"/>
          <p:cNvSpPr/>
          <p:nvPr/>
        </p:nvSpPr>
        <p:spPr>
          <a:xfrm>
            <a:off x="1162050" y="4275832"/>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IBM Plex Sans" pitchFamily="34" charset="0"/>
                <a:ea typeface="IBM Plex Sans" pitchFamily="34" charset="-122"/>
                <a:cs typeface="IBM Plex Sans" pitchFamily="34" charset="-120"/>
              </a:rPr>
              <a:t>Sales → Inventory · same task</a:t>
            </a:r>
            <a:endParaRPr lang="en-US" sz="1200" dirty="0"/>
          </a:p>
        </p:txBody>
      </p:sp>
      <p:sp>
        <p:nvSpPr>
          <p:cNvPr id="21" name="Text 17"/>
          <p:cNvSpPr/>
          <p:nvPr/>
        </p:nvSpPr>
        <p:spPr>
          <a:xfrm>
            <a:off x="1162050" y="4514552"/>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“Yes — reserve 20, backorder 80.”</a:t>
            </a:r>
            <a:endParaRPr lang="en-US" sz="1300" dirty="0"/>
          </a:p>
        </p:txBody>
      </p:sp>
      <p:sp>
        <p:nvSpPr>
          <p:cNvPr id="22" name="Shape 18"/>
          <p:cNvSpPr/>
          <p:nvPr/>
        </p:nvSpPr>
        <p:spPr>
          <a:xfrm>
            <a:off x="1619250" y="4936182"/>
            <a:ext cx="5334000" cy="647650"/>
          </a:xfrm>
          <a:prstGeom prst="roundRect">
            <a:avLst>
              <a:gd name="adj" fmla="val 15687"/>
            </a:avLst>
          </a:prstGeom>
          <a:solidFill>
            <a:srgbClr val="FCE9DD"/>
          </a:solidFill>
          <a:ln/>
        </p:spPr>
      </p:sp>
      <p:sp>
        <p:nvSpPr>
          <p:cNvPr id="23" name="Text 19"/>
          <p:cNvSpPr/>
          <p:nvPr/>
        </p:nvSpPr>
        <p:spPr>
          <a:xfrm>
            <a:off x="1758950" y="5025082"/>
            <a:ext cx="13867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IBM Plex Sans" pitchFamily="34" charset="0"/>
                <a:ea typeface="IBM Plex Sans" pitchFamily="34" charset="-122"/>
                <a:cs typeface="IBM Plex Sans" pitchFamily="34" charset="-120"/>
              </a:rPr>
              <a:t>Inventory → Sales</a:t>
            </a:r>
            <a:endParaRPr lang="en-US" sz="1200" dirty="0"/>
          </a:p>
        </p:txBody>
      </p:sp>
      <p:sp>
        <p:nvSpPr>
          <p:cNvPr id="24" name="Text 20"/>
          <p:cNvSpPr/>
          <p:nvPr/>
        </p:nvSpPr>
        <p:spPr>
          <a:xfrm>
            <a:off x="3145681" y="5025082"/>
            <a:ext cx="1000770" cy="213320"/>
          </a:xfrm>
          <a:custGeom>
            <a:avLst/>
            <a:gdLst/>
            <a:ahLst/>
            <a:cxnLst/>
            <a:rect l="l" t="t" r="r" b="b"/>
            <a:pathLst>
              <a:path w="1000770" h="213320">
                <a:moveTo>
                  <a:pt x="106660" y="0"/>
                </a:moveTo>
                <a:lnTo>
                  <a:pt x="894110" y="0"/>
                </a:lnTo>
                <a:arcTo hR="106660" wR="106660" stAng="16200000" swAng="5400000"/>
                <a:lnTo>
                  <a:pt x="1000770" y="106660"/>
                </a:lnTo>
                <a:arcTo hR="106660" wR="106660" stAng="0" swAng="5400000"/>
                <a:lnTo>
                  <a:pt x="106660" y="213320"/>
                </a:lnTo>
                <a:arcTo hR="106660" wR="106660" stAng="5400000" swAng="5400000"/>
                <a:lnTo>
                  <a:pt x="0" y="106660"/>
                </a:lnTo>
                <a:arcTo hR="106660" wR="106660" stAng="10800000" swAng="5400000"/>
                <a:close/>
              </a:path>
            </a:pathLst>
          </a:custGeom>
          <a:solidFill>
            <a:srgbClr val="2F6FD1"/>
          </a:solidFill>
          <a:ln/>
        </p:spPr>
        <p:txBody>
          <a:bodyPr wrap="none" lIns="0" tIns="0" rIns="0" bIns="0" rtlCol="0" anchor="ctr">
            <a:normAutofit/>
          </a:bodyPr>
          <a:lstStyle/>
          <a:p>
            <a:pPr algn="ctr" indent="0" marL="0">
              <a:lnSpc>
                <a:spcPts val="1680"/>
              </a:lnSpc>
              <a:buNone/>
            </a:pPr>
            <a:r>
              <a:rPr lang="en-US" sz="1200" dirty="0">
                <a:solidFill>
                  <a:srgbClr val="FCFBF8"/>
                </a:solidFill>
                <a:latin typeface="JetBrains Mono" pitchFamily="49" charset="0"/>
                <a:ea typeface="JetBrains Mono" pitchFamily="49" charset="-122"/>
                <a:cs typeface="JetBrains Mono" pitchFamily="49" charset="-120"/>
              </a:rPr>
              <a:t>completed</a:t>
            </a:r>
            <a:endParaRPr lang="en-US" sz="1200" dirty="0"/>
          </a:p>
        </p:txBody>
      </p:sp>
      <p:sp>
        <p:nvSpPr>
          <p:cNvPr id="25" name="Text 21"/>
          <p:cNvSpPr/>
          <p:nvPr/>
        </p:nvSpPr>
        <p:spPr>
          <a:xfrm>
            <a:off x="1758950" y="5263803"/>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Artifact: reservation R-2041 + backorder B-118</a:t>
            </a:r>
            <a:endParaRPr lang="en-US" sz="1300" dirty="0"/>
          </a:p>
        </p:txBody>
      </p:sp>
      <p:sp>
        <p:nvSpPr>
          <p:cNvPr id="26" name="Text 22"/>
          <p:cNvSpPr/>
          <p:nvPr/>
        </p:nvSpPr>
        <p:spPr>
          <a:xfrm>
            <a:off x="7467600" y="1823641"/>
            <a:ext cx="402894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Paused, not failed</a:t>
            </a:r>
            <a:endParaRPr lang="en-US" sz="1600" dirty="0"/>
          </a:p>
        </p:txBody>
      </p:sp>
      <p:sp>
        <p:nvSpPr>
          <p:cNvPr id="27" name="Text 23"/>
          <p:cNvSpPr/>
          <p:nvPr/>
        </p:nvSpPr>
        <p:spPr>
          <a:xfrm>
            <a:off x="7467600" y="2105571"/>
            <a:ext cx="402894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input-required means the agent needs an answer. The task keeps its ID, history and progress.</a:t>
            </a:r>
            <a:endParaRPr lang="en-US" sz="1300" dirty="0"/>
          </a:p>
        </p:txBody>
      </p:sp>
      <p:sp>
        <p:nvSpPr>
          <p:cNvPr id="28" name="Text 24"/>
          <p:cNvSpPr/>
          <p:nvPr/>
        </p:nvSpPr>
        <p:spPr>
          <a:xfrm>
            <a:off x="7467600" y="2771031"/>
            <a:ext cx="402894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Same task, next turn</a:t>
            </a:r>
            <a:endParaRPr lang="en-US" sz="1600" dirty="0"/>
          </a:p>
        </p:txBody>
      </p:sp>
      <p:sp>
        <p:nvSpPr>
          <p:cNvPr id="29" name="Text 25"/>
          <p:cNvSpPr/>
          <p:nvPr/>
        </p:nvSpPr>
        <p:spPr>
          <a:xfrm>
            <a:off x="7467600" y="3052961"/>
            <a:ext cx="402894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client replies on the same task ID, so the agent continues exactly where it stopped.</a:t>
            </a:r>
            <a:endParaRPr lang="en-US" sz="1300" dirty="0"/>
          </a:p>
        </p:txBody>
      </p:sp>
      <p:sp>
        <p:nvSpPr>
          <p:cNvPr id="30" name="Text 26"/>
          <p:cNvSpPr/>
          <p:nvPr/>
        </p:nvSpPr>
        <p:spPr>
          <a:xfrm>
            <a:off x="7467600" y="3718421"/>
            <a:ext cx="402894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Linked by context</a:t>
            </a:r>
            <a:endParaRPr lang="en-US" sz="1600" dirty="0"/>
          </a:p>
        </p:txBody>
      </p:sp>
      <p:sp>
        <p:nvSpPr>
          <p:cNvPr id="31" name="Text 27"/>
          <p:cNvSpPr/>
          <p:nvPr/>
        </p:nvSpPr>
        <p:spPr>
          <a:xfrm>
            <a:off x="7467600" y="4000351"/>
            <a:ext cx="402894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 shared context ID ties related tasks — stock, shipping, payment — into one conversation.</a:t>
            </a:r>
            <a:endParaRPr lang="en-US" sz="1300" dirty="0"/>
          </a:p>
        </p:txBody>
      </p:sp>
      <p:sp>
        <p:nvSpPr>
          <p:cNvPr id="32" name="Text 28"/>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3" name="Text 2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pic>
        <p:nvPicPr>
          <p:cNvPr id="2" name="Image 0" descr="connector">    </p:cNvPr>
          <p:cNvPicPr>
            <a:picLocks noChangeAspect="1"/>
          </p:cNvPicPr>
          <p:nvPr/>
        </p:nvPicPr>
        <p:blipFill>
          <a:blip r:embed="rId1"/>
          <a:srcRect l="0" r="0" t="0" b="0"/>
          <a:stretch/>
        </p:blipFill>
        <p:spPr>
          <a:xfrm>
            <a:off x="2095500" y="2184400"/>
            <a:ext cx="76200" cy="3886200"/>
          </a:xfrm>
          <a:prstGeom prst="rect">
            <a:avLst/>
          </a:prstGeom>
        </p:spPr>
      </p:pic>
      <p:pic>
        <p:nvPicPr>
          <p:cNvPr id="3" name="Image 1" descr="connector">    </p:cNvPr>
          <p:cNvPicPr>
            <a:picLocks noChangeAspect="1"/>
          </p:cNvPicPr>
          <p:nvPr/>
        </p:nvPicPr>
        <p:blipFill>
          <a:blip r:embed="rId2"/>
          <a:srcRect l="0" r="0" t="0" b="0"/>
          <a:stretch/>
        </p:blipFill>
        <p:spPr>
          <a:xfrm>
            <a:off x="4737100" y="2184400"/>
            <a:ext cx="76200" cy="3886200"/>
          </a:xfrm>
          <a:prstGeom prst="rect">
            <a:avLst/>
          </a:prstGeom>
        </p:spPr>
      </p:pic>
      <p:pic>
        <p:nvPicPr>
          <p:cNvPr id="4" name="Image 2" descr="connector">    </p:cNvPr>
          <p:cNvPicPr>
            <a:picLocks noChangeAspect="1"/>
          </p:cNvPicPr>
          <p:nvPr/>
        </p:nvPicPr>
        <p:blipFill>
          <a:blip r:embed="rId3"/>
          <a:srcRect l="0" r="0" t="0" b="0"/>
          <a:stretch/>
        </p:blipFill>
        <p:spPr>
          <a:xfrm>
            <a:off x="7378700" y="2184400"/>
            <a:ext cx="76200" cy="3886200"/>
          </a:xfrm>
          <a:prstGeom prst="rect">
            <a:avLst/>
          </a:prstGeom>
        </p:spPr>
      </p:pic>
      <p:pic>
        <p:nvPicPr>
          <p:cNvPr id="5" name="Image 3" descr="connector">    </p:cNvPr>
          <p:cNvPicPr>
            <a:picLocks noChangeAspect="1"/>
          </p:cNvPicPr>
          <p:nvPr/>
        </p:nvPicPr>
        <p:blipFill>
          <a:blip r:embed="rId4"/>
          <a:srcRect l="0" r="0" t="0" b="0"/>
          <a:stretch/>
        </p:blipFill>
        <p:spPr>
          <a:xfrm>
            <a:off x="10020300" y="2184400"/>
            <a:ext cx="76200" cy="3886200"/>
          </a:xfrm>
          <a:prstGeom prst="rect">
            <a:avLst/>
          </a:prstGeom>
        </p:spPr>
      </p:pic>
      <p:sp>
        <p:nvSpPr>
          <p:cNvPr id="6" name="Text 0"/>
          <p:cNvSpPr/>
          <p:nvPr/>
        </p:nvSpPr>
        <p:spPr>
          <a:xfrm>
            <a:off x="812800" y="812800"/>
            <a:ext cx="632890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END-TO-END WALKTHROUGH</a:t>
            </a:r>
            <a:endParaRPr lang="en-US" sz="1200" dirty="0"/>
          </a:p>
        </p:txBody>
      </p:sp>
      <p:sp>
        <p:nvSpPr>
          <p:cNvPr id="7" name="Text 1"/>
          <p:cNvSpPr/>
          <p:nvPr>
            <p:ph type="title"/>
          </p:nvPr>
        </p:nvSpPr>
        <p:spPr>
          <a:xfrm>
            <a:off x="812800" y="1102320"/>
            <a:ext cx="7275413"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The laptop order, start to finish</a:t>
            </a:r>
            <a:endParaRPr lang="en-US" sz="3200" dirty="0"/>
          </a:p>
        </p:txBody>
      </p:sp>
      <p:sp>
        <p:nvSpPr>
          <p:cNvPr id="8" name="Text 2"/>
          <p:cNvSpPr/>
          <p:nvPr/>
        </p:nvSpPr>
        <p:spPr>
          <a:xfrm>
            <a:off x="8787031" y="1356320"/>
            <a:ext cx="259216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Solid = request · dashed = reply</a:t>
            </a:r>
            <a:endParaRPr lang="en-US" sz="1200" dirty="0"/>
          </a:p>
        </p:txBody>
      </p:sp>
      <p:sp>
        <p:nvSpPr>
          <p:cNvPr id="9" name="Text 3"/>
          <p:cNvSpPr/>
          <p:nvPr/>
        </p:nvSpPr>
        <p:spPr>
          <a:xfrm>
            <a:off x="1117600" y="1772841"/>
            <a:ext cx="2032000" cy="391120"/>
          </a:xfrm>
          <a:prstGeom prst="roundRect">
            <a:avLst>
              <a:gd name="adj" fmla="val 22730"/>
            </a:avLst>
          </a:prstGeom>
          <a:solidFill>
            <a:srgbClr val="E9E5DC"/>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Customer</a:t>
            </a:r>
            <a:endParaRPr lang="en-US" sz="1200" dirty="0"/>
          </a:p>
        </p:txBody>
      </p:sp>
      <p:sp>
        <p:nvSpPr>
          <p:cNvPr id="10" name="Text 4"/>
          <p:cNvSpPr/>
          <p:nvPr/>
        </p:nvSpPr>
        <p:spPr>
          <a:xfrm>
            <a:off x="3759200" y="1772841"/>
            <a:ext cx="2032000" cy="391120"/>
          </a:xfrm>
          <a:prstGeom prst="roundRect">
            <a:avLst>
              <a:gd name="adj" fmla="val 22730"/>
            </a:avLst>
          </a:prstGeom>
          <a:solidFill>
            <a:srgbClr val="141B2D"/>
          </a:solidFill>
          <a:ln/>
        </p:spPr>
        <p:txBody>
          <a:bodyPr wrap="square" lIns="35049" tIns="62862" rIns="35049" bIns="37462" rtlCol="0" anchor="t">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Sales (client)</a:t>
            </a:r>
            <a:endParaRPr lang="en-US" sz="1200" dirty="0"/>
          </a:p>
        </p:txBody>
      </p:sp>
      <p:sp>
        <p:nvSpPr>
          <p:cNvPr id="11" name="Text 5"/>
          <p:cNvSpPr/>
          <p:nvPr/>
        </p:nvSpPr>
        <p:spPr>
          <a:xfrm>
            <a:off x="6400800" y="1772841"/>
            <a:ext cx="2032000" cy="391120"/>
          </a:xfrm>
          <a:prstGeom prst="roundRect">
            <a:avLst>
              <a:gd name="adj" fmla="val 22730"/>
            </a:avLst>
          </a:prstGeom>
          <a:solidFill>
            <a:srgbClr val="FCE9DD"/>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Inventory (server)</a:t>
            </a:r>
            <a:endParaRPr lang="en-US" sz="1200" dirty="0"/>
          </a:p>
        </p:txBody>
      </p:sp>
      <p:sp>
        <p:nvSpPr>
          <p:cNvPr id="12" name="Text 6"/>
          <p:cNvSpPr/>
          <p:nvPr/>
        </p:nvSpPr>
        <p:spPr>
          <a:xfrm>
            <a:off x="9042400" y="1772841"/>
            <a:ext cx="2032000" cy="391120"/>
          </a:xfrm>
          <a:prstGeom prst="roundRect">
            <a:avLst>
              <a:gd name="adj" fmla="val 22730"/>
            </a:avLst>
          </a:prstGeom>
          <a:solidFill>
            <a:srgbClr val="FCE9DD"/>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Shipping (server)</a:t>
            </a:r>
            <a:endParaRPr lang="en-US" sz="1200" dirty="0"/>
          </a:p>
        </p:txBody>
      </p:sp>
      <p:pic>
        <p:nvPicPr>
          <p:cNvPr id="13" name="Image 4" descr="connector">    </p:cNvPr>
          <p:cNvPicPr>
            <a:picLocks noChangeAspect="1"/>
          </p:cNvPicPr>
          <p:nvPr/>
        </p:nvPicPr>
        <p:blipFill>
          <a:blip r:embed="rId5"/>
          <a:srcRect l="0" r="0" t="0" b="0"/>
          <a:stretch/>
        </p:blipFill>
        <p:spPr>
          <a:xfrm>
            <a:off x="2082800" y="2457450"/>
            <a:ext cx="2743200" cy="101600"/>
          </a:xfrm>
          <a:prstGeom prst="rect">
            <a:avLst/>
          </a:prstGeom>
        </p:spPr>
      </p:pic>
      <p:sp>
        <p:nvSpPr>
          <p:cNvPr id="14" name="Text 7"/>
          <p:cNvSpPr/>
          <p:nvPr/>
        </p:nvSpPr>
        <p:spPr>
          <a:xfrm>
            <a:off x="2235200" y="2266950"/>
            <a:ext cx="2476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IBM Plex Sans" pitchFamily="34" charset="0"/>
                <a:ea typeface="IBM Plex Sans" pitchFamily="34" charset="-122"/>
                <a:cs typeface="IBM Plex Sans" pitchFamily="34" charset="-120"/>
              </a:rPr>
              <a:t>1 · 100 laptops, tomorrow?</a:t>
            </a:r>
            <a:endParaRPr lang="en-US" sz="1200" dirty="0"/>
          </a:p>
        </p:txBody>
      </p:sp>
      <p:pic>
        <p:nvPicPr>
          <p:cNvPr id="15" name="Image 5" descr="connector">    </p:cNvPr>
          <p:cNvPicPr>
            <a:picLocks noChangeAspect="1"/>
          </p:cNvPicPr>
          <p:nvPr/>
        </p:nvPicPr>
        <p:blipFill>
          <a:blip r:embed="rId6"/>
          <a:srcRect l="0" r="0" t="0" b="0"/>
          <a:stretch/>
        </p:blipFill>
        <p:spPr>
          <a:xfrm>
            <a:off x="4724400" y="2838450"/>
            <a:ext cx="2743200" cy="101600"/>
          </a:xfrm>
          <a:prstGeom prst="rect">
            <a:avLst/>
          </a:prstGeom>
        </p:spPr>
      </p:pic>
      <p:sp>
        <p:nvSpPr>
          <p:cNvPr id="16" name="Text 8"/>
          <p:cNvSpPr/>
          <p:nvPr/>
        </p:nvSpPr>
        <p:spPr>
          <a:xfrm>
            <a:off x="4876800" y="2647950"/>
            <a:ext cx="2222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2 · Reserve 100 laptops</a:t>
            </a:r>
            <a:endParaRPr lang="en-US" sz="1200" dirty="0"/>
          </a:p>
        </p:txBody>
      </p:sp>
      <p:pic>
        <p:nvPicPr>
          <p:cNvPr id="17" name="Image 6" descr="connector">    </p:cNvPr>
          <p:cNvPicPr>
            <a:picLocks noChangeAspect="1"/>
          </p:cNvPicPr>
          <p:nvPr/>
        </p:nvPicPr>
        <p:blipFill>
          <a:blip r:embed="rId7"/>
          <a:srcRect l="0" r="0" t="0" b="0"/>
          <a:stretch/>
        </p:blipFill>
        <p:spPr>
          <a:xfrm>
            <a:off x="4724400" y="3219450"/>
            <a:ext cx="2743200" cy="101600"/>
          </a:xfrm>
          <a:prstGeom prst="rect">
            <a:avLst/>
          </a:prstGeom>
        </p:spPr>
      </p:pic>
      <p:sp>
        <p:nvSpPr>
          <p:cNvPr id="18" name="Text 9"/>
          <p:cNvSpPr/>
          <p:nvPr/>
        </p:nvSpPr>
        <p:spPr>
          <a:xfrm>
            <a:off x="4826000" y="3028950"/>
            <a:ext cx="2540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3 · input-required: only 20</a:t>
            </a:r>
            <a:endParaRPr lang="en-US" sz="1200" dirty="0"/>
          </a:p>
        </p:txBody>
      </p:sp>
      <p:pic>
        <p:nvPicPr>
          <p:cNvPr id="19" name="Image 7" descr="connector">    </p:cNvPr>
          <p:cNvPicPr>
            <a:picLocks noChangeAspect="1"/>
          </p:cNvPicPr>
          <p:nvPr/>
        </p:nvPicPr>
        <p:blipFill>
          <a:blip r:embed="rId8"/>
          <a:srcRect l="0" r="0" t="0" b="0"/>
          <a:stretch/>
        </p:blipFill>
        <p:spPr>
          <a:xfrm>
            <a:off x="2082800" y="3600450"/>
            <a:ext cx="2743200" cy="101600"/>
          </a:xfrm>
          <a:prstGeom prst="rect">
            <a:avLst/>
          </a:prstGeom>
        </p:spPr>
      </p:pic>
      <p:sp>
        <p:nvSpPr>
          <p:cNvPr id="20" name="Text 10"/>
          <p:cNvSpPr/>
          <p:nvPr/>
        </p:nvSpPr>
        <p:spPr>
          <a:xfrm>
            <a:off x="2235200" y="3409950"/>
            <a:ext cx="2032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IBM Plex Sans" pitchFamily="34" charset="0"/>
                <a:ea typeface="IBM Plex Sans" pitchFamily="34" charset="-122"/>
                <a:cs typeface="IBM Plex Sans" pitchFamily="34" charset="-120"/>
              </a:rPr>
              <a:t>4 · 20 now, 80 later?</a:t>
            </a:r>
            <a:endParaRPr lang="en-US" sz="1200" dirty="0"/>
          </a:p>
        </p:txBody>
      </p:sp>
      <p:pic>
        <p:nvPicPr>
          <p:cNvPr id="21" name="Image 8" descr="connector">    </p:cNvPr>
          <p:cNvPicPr>
            <a:picLocks noChangeAspect="1"/>
          </p:cNvPicPr>
          <p:nvPr/>
        </p:nvPicPr>
        <p:blipFill>
          <a:blip r:embed="rId9"/>
          <a:srcRect l="0" r="0" t="0" b="0"/>
          <a:stretch/>
        </p:blipFill>
        <p:spPr>
          <a:xfrm>
            <a:off x="2082800" y="3981450"/>
            <a:ext cx="2743200" cy="101600"/>
          </a:xfrm>
          <a:prstGeom prst="rect">
            <a:avLst/>
          </a:prstGeom>
        </p:spPr>
      </p:pic>
      <p:sp>
        <p:nvSpPr>
          <p:cNvPr id="22" name="Text 11"/>
          <p:cNvSpPr/>
          <p:nvPr/>
        </p:nvSpPr>
        <p:spPr>
          <a:xfrm>
            <a:off x="2235200" y="3790950"/>
            <a:ext cx="1651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IBM Plex Sans" pitchFamily="34" charset="0"/>
                <a:ea typeface="IBM Plex Sans" pitchFamily="34" charset="-122"/>
                <a:cs typeface="IBM Plex Sans" pitchFamily="34" charset="-120"/>
              </a:rPr>
              <a:t>5 · Yes, go ahead</a:t>
            </a:r>
            <a:endParaRPr lang="en-US" sz="1200" dirty="0"/>
          </a:p>
        </p:txBody>
      </p:sp>
      <p:pic>
        <p:nvPicPr>
          <p:cNvPr id="23" name="Image 9" descr="connector">    </p:cNvPr>
          <p:cNvPicPr>
            <a:picLocks noChangeAspect="1"/>
          </p:cNvPicPr>
          <p:nvPr/>
        </p:nvPicPr>
        <p:blipFill>
          <a:blip r:embed="rId10"/>
          <a:srcRect l="0" r="0" t="0" b="0"/>
          <a:stretch/>
        </p:blipFill>
        <p:spPr>
          <a:xfrm>
            <a:off x="4724400" y="4362450"/>
            <a:ext cx="2743200" cy="101600"/>
          </a:xfrm>
          <a:prstGeom prst="rect">
            <a:avLst/>
          </a:prstGeom>
        </p:spPr>
      </p:pic>
      <p:sp>
        <p:nvSpPr>
          <p:cNvPr id="24" name="Text 12"/>
          <p:cNvSpPr/>
          <p:nvPr/>
        </p:nvSpPr>
        <p:spPr>
          <a:xfrm>
            <a:off x="4826000" y="4171950"/>
            <a:ext cx="2349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6 · OK: 20 now, 80 later</a:t>
            </a:r>
            <a:endParaRPr lang="en-US" sz="1200" dirty="0"/>
          </a:p>
        </p:txBody>
      </p:sp>
      <p:pic>
        <p:nvPicPr>
          <p:cNvPr id="25" name="Image 10" descr="connector">    </p:cNvPr>
          <p:cNvPicPr>
            <a:picLocks noChangeAspect="1"/>
          </p:cNvPicPr>
          <p:nvPr/>
        </p:nvPicPr>
        <p:blipFill>
          <a:blip r:embed="rId11"/>
          <a:srcRect l="0" r="0" t="0" b="0"/>
          <a:stretch/>
        </p:blipFill>
        <p:spPr>
          <a:xfrm>
            <a:off x="4724400" y="4743450"/>
            <a:ext cx="2743200" cy="101600"/>
          </a:xfrm>
          <a:prstGeom prst="rect">
            <a:avLst/>
          </a:prstGeom>
        </p:spPr>
      </p:pic>
      <p:sp>
        <p:nvSpPr>
          <p:cNvPr id="26" name="Text 13"/>
          <p:cNvSpPr/>
          <p:nvPr/>
        </p:nvSpPr>
        <p:spPr>
          <a:xfrm>
            <a:off x="4826000" y="4552950"/>
            <a:ext cx="2349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7 · completed + artifact</a:t>
            </a:r>
            <a:endParaRPr lang="en-US" sz="1200" dirty="0"/>
          </a:p>
        </p:txBody>
      </p:sp>
      <p:pic>
        <p:nvPicPr>
          <p:cNvPr id="27" name="Image 11" descr="connector">    </p:cNvPr>
          <p:cNvPicPr>
            <a:picLocks noChangeAspect="1"/>
          </p:cNvPicPr>
          <p:nvPr/>
        </p:nvPicPr>
        <p:blipFill>
          <a:blip r:embed="rId12"/>
          <a:srcRect l="0" r="0" t="0" b="0"/>
          <a:stretch/>
        </p:blipFill>
        <p:spPr>
          <a:xfrm>
            <a:off x="4724400" y="5124450"/>
            <a:ext cx="5384800" cy="101600"/>
          </a:xfrm>
          <a:prstGeom prst="rect">
            <a:avLst/>
          </a:prstGeom>
        </p:spPr>
      </p:pic>
      <p:sp>
        <p:nvSpPr>
          <p:cNvPr id="28" name="Text 14"/>
          <p:cNvSpPr/>
          <p:nvPr/>
        </p:nvSpPr>
        <p:spPr>
          <a:xfrm>
            <a:off x="7543800" y="4933950"/>
            <a:ext cx="23876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8 · Delivery date for 20?</a:t>
            </a:r>
            <a:endParaRPr lang="en-US" sz="1200" dirty="0"/>
          </a:p>
        </p:txBody>
      </p:sp>
      <p:pic>
        <p:nvPicPr>
          <p:cNvPr id="29" name="Image 12" descr="connector">    </p:cNvPr>
          <p:cNvPicPr>
            <a:picLocks noChangeAspect="1"/>
          </p:cNvPicPr>
          <p:nvPr/>
        </p:nvPicPr>
        <p:blipFill>
          <a:blip r:embed="rId13"/>
          <a:srcRect l="0" r="0" t="0" b="0"/>
          <a:stretch/>
        </p:blipFill>
        <p:spPr>
          <a:xfrm>
            <a:off x="4724400" y="5505450"/>
            <a:ext cx="5384800" cy="101600"/>
          </a:xfrm>
          <a:prstGeom prst="rect">
            <a:avLst/>
          </a:prstGeom>
        </p:spPr>
      </p:pic>
      <p:sp>
        <p:nvSpPr>
          <p:cNvPr id="30" name="Text 15"/>
          <p:cNvSpPr/>
          <p:nvPr/>
        </p:nvSpPr>
        <p:spPr>
          <a:xfrm>
            <a:off x="7543800" y="5314950"/>
            <a:ext cx="21336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9 · completed: Tuesday</a:t>
            </a:r>
            <a:endParaRPr lang="en-US" sz="1200" dirty="0"/>
          </a:p>
        </p:txBody>
      </p:sp>
      <p:pic>
        <p:nvPicPr>
          <p:cNvPr id="31" name="Image 13" descr="connector">    </p:cNvPr>
          <p:cNvPicPr>
            <a:picLocks noChangeAspect="1"/>
          </p:cNvPicPr>
          <p:nvPr/>
        </p:nvPicPr>
        <p:blipFill>
          <a:blip r:embed="rId14"/>
          <a:srcRect l="0" r="0" t="0" b="0"/>
          <a:stretch/>
        </p:blipFill>
        <p:spPr>
          <a:xfrm>
            <a:off x="2082800" y="5886450"/>
            <a:ext cx="2743200" cy="101600"/>
          </a:xfrm>
          <a:prstGeom prst="rect">
            <a:avLst/>
          </a:prstGeom>
        </p:spPr>
      </p:pic>
      <p:sp>
        <p:nvSpPr>
          <p:cNvPr id="32" name="Text 16"/>
          <p:cNvSpPr/>
          <p:nvPr/>
        </p:nvSpPr>
        <p:spPr>
          <a:xfrm>
            <a:off x="2235200" y="5695950"/>
            <a:ext cx="2095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IBM Plex Sans" pitchFamily="34" charset="0"/>
                <a:ea typeface="IBM Plex Sans" pitchFamily="34" charset="-122"/>
                <a:cs typeface="IBM Plex Sans" pitchFamily="34" charset="-120"/>
              </a:rPr>
              <a:t>10 · 20 Tue, 80 later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THE BIGGER PICTURE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Where does ACP fit? From two protocols to one</a:t>
            </a:r>
            <a:endParaRPr lang="en-US" sz="3200" dirty="0"/>
          </a:p>
        </p:txBody>
      </p:sp>
      <p:sp>
        <p:nvSpPr>
          <p:cNvPr id="4" name="Text 2"/>
          <p:cNvSpPr/>
          <p:nvPr/>
        </p:nvSpPr>
        <p:spPr>
          <a:xfrm>
            <a:off x="812800" y="1823641"/>
            <a:ext cx="52324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What was ACP?</a:t>
            </a:r>
            <a:endParaRPr lang="en-US" sz="1600" dirty="0"/>
          </a:p>
        </p:txBody>
      </p:sp>
      <p:sp>
        <p:nvSpPr>
          <p:cNvPr id="5" name="Text 3"/>
          <p:cNvSpPr/>
          <p:nvPr/>
        </p:nvSpPr>
        <p:spPr>
          <a:xfrm>
            <a:off x="812800" y="2105571"/>
            <a:ext cx="52324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IBM Research’s Agent Communication Protocol, built for BeeAI: lightweight, REST-first, local-first.</a:t>
            </a:r>
            <a:endParaRPr lang="en-US" sz="1300" dirty="0"/>
          </a:p>
        </p:txBody>
      </p:sp>
      <p:sp>
        <p:nvSpPr>
          <p:cNvPr id="6" name="Text 4"/>
          <p:cNvSpPr/>
          <p:nvPr/>
        </p:nvSpPr>
        <p:spPr>
          <a:xfrm>
            <a:off x="812800" y="2745631"/>
            <a:ext cx="52324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Why merge?</a:t>
            </a:r>
            <a:endParaRPr lang="en-US" sz="1600" dirty="0"/>
          </a:p>
        </p:txBody>
      </p:sp>
      <p:sp>
        <p:nvSpPr>
          <p:cNvPr id="7" name="Text 5"/>
          <p:cNvSpPr/>
          <p:nvPr/>
        </p:nvSpPr>
        <p:spPr>
          <a:xfrm>
            <a:off x="812800" y="3027561"/>
            <a:ext cx="52324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Two overlapping standards would split developers into incompatible camps.</a:t>
            </a:r>
            <a:endParaRPr lang="en-US" sz="1300" dirty="0"/>
          </a:p>
        </p:txBody>
      </p:sp>
      <p:sp>
        <p:nvSpPr>
          <p:cNvPr id="8" name="Text 6"/>
          <p:cNvSpPr/>
          <p:nvPr/>
        </p:nvSpPr>
        <p:spPr>
          <a:xfrm>
            <a:off x="812800" y="3667621"/>
            <a:ext cx="52324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What happened</a:t>
            </a:r>
            <a:endParaRPr lang="en-US" sz="1600" dirty="0"/>
          </a:p>
        </p:txBody>
      </p:sp>
      <p:sp>
        <p:nvSpPr>
          <p:cNvPr id="9" name="Text 7"/>
          <p:cNvSpPr/>
          <p:nvPr/>
        </p:nvSpPr>
        <p:spPr>
          <a:xfrm>
            <a:off x="812800" y="3949551"/>
            <a:ext cx="52324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In August 2025 ACP stopped standalone work and brought its ideas and team into A2A.</a:t>
            </a:r>
            <a:endParaRPr lang="en-US" sz="1300" dirty="0"/>
          </a:p>
        </p:txBody>
      </p:sp>
      <p:sp>
        <p:nvSpPr>
          <p:cNvPr id="10" name="Shape 8"/>
          <p:cNvSpPr/>
          <p:nvPr/>
        </p:nvSpPr>
        <p:spPr>
          <a:xfrm>
            <a:off x="812800" y="5074940"/>
            <a:ext cx="5080000" cy="767060"/>
          </a:xfrm>
          <a:prstGeom prst="roundRect">
            <a:avLst>
              <a:gd name="adj" fmla="val 13245"/>
            </a:avLst>
          </a:prstGeom>
          <a:solidFill>
            <a:srgbClr val="141B2D"/>
          </a:solidFill>
          <a:ln/>
        </p:spPr>
      </p:sp>
      <p:pic>
        <p:nvPicPr>
          <p:cNvPr id="11" name="Image 0" descr="Lightbulb">    </p:cNvPr>
          <p:cNvPicPr>
            <a:picLocks noChangeAspect="1"/>
          </p:cNvPicPr>
          <p:nvPr/>
        </p:nvPicPr>
        <p:blipFill>
          <a:blip r:embed="rId1"/>
          <a:srcRect l="-662" r="-662" t="0" b="0"/>
          <a:stretch/>
        </p:blipFill>
        <p:spPr>
          <a:xfrm>
            <a:off x="990600" y="5344170"/>
            <a:ext cx="147985" cy="228600"/>
          </a:xfrm>
          <a:prstGeom prst="rect">
            <a:avLst/>
          </a:prstGeom>
        </p:spPr>
      </p:pic>
      <p:sp>
        <p:nvSpPr>
          <p:cNvPr id="12" name="Text 9"/>
          <p:cNvSpPr/>
          <p:nvPr/>
        </p:nvSpPr>
        <p:spPr>
          <a:xfrm>
            <a:off x="1252885" y="5227340"/>
            <a:ext cx="459597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8"/>
                </a:solidFill>
                <a:latin typeface="IBM Plex Sans" pitchFamily="34" charset="0"/>
                <a:ea typeface="IBM Plex Sans" pitchFamily="34" charset="-122"/>
                <a:cs typeface="IBM Plex Sans" pitchFamily="34" charset="-120"/>
              </a:rPr>
              <a:t>You’ll still see “ACP” in older posts and repos. Today, A2A is the one agent-to-agent standard.</a:t>
            </a:r>
            <a:endParaRPr lang="en-US" sz="1300" dirty="0"/>
          </a:p>
        </p:txBody>
      </p:sp>
      <p:sp>
        <p:nvSpPr>
          <p:cNvPr id="13" name="Text 10"/>
          <p:cNvSpPr/>
          <p:nvPr/>
        </p:nvSpPr>
        <p:spPr>
          <a:xfrm>
            <a:off x="6248400" y="1823641"/>
            <a:ext cx="1003300" cy="6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Mar 2025</a:t>
            </a:r>
            <a:endParaRPr lang="en-US" sz="1200" dirty="0"/>
          </a:p>
        </p:txBody>
      </p:sp>
      <p:sp>
        <p:nvSpPr>
          <p:cNvPr id="14" name="Shape 11"/>
          <p:cNvSpPr/>
          <p:nvPr/>
        </p:nvSpPr>
        <p:spPr>
          <a:xfrm>
            <a:off x="7413625" y="1823641"/>
            <a:ext cx="0" cy="609550"/>
          </a:xfrm>
          <a:prstGeom prst="line">
            <a:avLst/>
          </a:prstGeom>
          <a:noFill/>
          <a:ln w="19050">
            <a:solidFill>
              <a:srgbClr val="DAD6CC"/>
            </a:solidFill>
            <a:prstDash val="solid"/>
          </a:ln>
        </p:spPr>
      </p:sp>
      <p:sp>
        <p:nvSpPr>
          <p:cNvPr id="15" name="Text 12"/>
          <p:cNvSpPr/>
          <p:nvPr/>
        </p:nvSpPr>
        <p:spPr>
          <a:xfrm>
            <a:off x="7600950" y="1823641"/>
            <a:ext cx="38915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IBM Plex Sans" pitchFamily="34" charset="0"/>
                <a:ea typeface="IBM Plex Sans" pitchFamily="34" charset="-122"/>
                <a:cs typeface="IBM Plex Sans" pitchFamily="34" charset="-120"/>
              </a:rPr>
              <a:t>ACP</a:t>
            </a:r>
            <a:endParaRPr lang="en-US" sz="1200" dirty="0"/>
          </a:p>
        </p:txBody>
      </p:sp>
      <p:sp>
        <p:nvSpPr>
          <p:cNvPr id="16" name="Text 13"/>
          <p:cNvSpPr/>
          <p:nvPr/>
        </p:nvSpPr>
        <p:spPr>
          <a:xfrm>
            <a:off x="7600950" y="2062361"/>
            <a:ext cx="389159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IBM launches ACP to power BeeAI</a:t>
            </a:r>
            <a:endParaRPr lang="en-US" sz="1300" dirty="0"/>
          </a:p>
        </p:txBody>
      </p:sp>
      <p:sp>
        <p:nvSpPr>
          <p:cNvPr id="17" name="Text 14"/>
          <p:cNvSpPr/>
          <p:nvPr/>
        </p:nvSpPr>
        <p:spPr>
          <a:xfrm>
            <a:off x="6248400" y="2433191"/>
            <a:ext cx="1003300" cy="6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Apr 2025</a:t>
            </a:r>
            <a:endParaRPr lang="en-US" sz="1200" dirty="0"/>
          </a:p>
        </p:txBody>
      </p:sp>
      <p:sp>
        <p:nvSpPr>
          <p:cNvPr id="18" name="Shape 15"/>
          <p:cNvSpPr/>
          <p:nvPr/>
        </p:nvSpPr>
        <p:spPr>
          <a:xfrm>
            <a:off x="7413625" y="2433191"/>
            <a:ext cx="0" cy="609550"/>
          </a:xfrm>
          <a:prstGeom prst="line">
            <a:avLst/>
          </a:prstGeom>
          <a:noFill/>
          <a:ln w="19050">
            <a:solidFill>
              <a:srgbClr val="DAD6CC"/>
            </a:solidFill>
            <a:prstDash val="solid"/>
          </a:ln>
        </p:spPr>
      </p:sp>
      <p:sp>
        <p:nvSpPr>
          <p:cNvPr id="19" name="Text 16"/>
          <p:cNvSpPr/>
          <p:nvPr/>
        </p:nvSpPr>
        <p:spPr>
          <a:xfrm>
            <a:off x="7600950" y="2433191"/>
            <a:ext cx="38915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IBM Plex Sans" pitchFamily="34" charset="0"/>
                <a:ea typeface="IBM Plex Sans" pitchFamily="34" charset="-122"/>
                <a:cs typeface="IBM Plex Sans" pitchFamily="34" charset="-120"/>
              </a:rPr>
              <a:t>A2A</a:t>
            </a:r>
            <a:endParaRPr lang="en-US" sz="1200" dirty="0"/>
          </a:p>
        </p:txBody>
      </p:sp>
      <p:sp>
        <p:nvSpPr>
          <p:cNvPr id="20" name="Text 17"/>
          <p:cNvSpPr/>
          <p:nvPr/>
        </p:nvSpPr>
        <p:spPr>
          <a:xfrm>
            <a:off x="7600950" y="2671911"/>
            <a:ext cx="389159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Google announces A2A</a:t>
            </a:r>
            <a:endParaRPr lang="en-US" sz="1300" dirty="0"/>
          </a:p>
        </p:txBody>
      </p:sp>
      <p:sp>
        <p:nvSpPr>
          <p:cNvPr id="21" name="Text 18"/>
          <p:cNvSpPr/>
          <p:nvPr/>
        </p:nvSpPr>
        <p:spPr>
          <a:xfrm>
            <a:off x="6248400" y="3042741"/>
            <a:ext cx="1003300" cy="6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Jun 2025</a:t>
            </a:r>
            <a:endParaRPr lang="en-US" sz="1200" dirty="0"/>
          </a:p>
        </p:txBody>
      </p:sp>
      <p:sp>
        <p:nvSpPr>
          <p:cNvPr id="22" name="Shape 19"/>
          <p:cNvSpPr/>
          <p:nvPr/>
        </p:nvSpPr>
        <p:spPr>
          <a:xfrm>
            <a:off x="7413625" y="3042741"/>
            <a:ext cx="0" cy="609550"/>
          </a:xfrm>
          <a:prstGeom prst="line">
            <a:avLst/>
          </a:prstGeom>
          <a:noFill/>
          <a:ln w="19050">
            <a:solidFill>
              <a:srgbClr val="DAD6CC"/>
            </a:solidFill>
            <a:prstDash val="solid"/>
          </a:ln>
        </p:spPr>
      </p:sp>
      <p:sp>
        <p:nvSpPr>
          <p:cNvPr id="23" name="Text 20"/>
          <p:cNvSpPr/>
          <p:nvPr/>
        </p:nvSpPr>
        <p:spPr>
          <a:xfrm>
            <a:off x="7600950" y="3042741"/>
            <a:ext cx="38915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IBM Plex Sans" pitchFamily="34" charset="0"/>
                <a:ea typeface="IBM Plex Sans" pitchFamily="34" charset="-122"/>
                <a:cs typeface="IBM Plex Sans" pitchFamily="34" charset="-120"/>
              </a:rPr>
              <a:t>A2A</a:t>
            </a:r>
            <a:endParaRPr lang="en-US" sz="1200" dirty="0"/>
          </a:p>
        </p:txBody>
      </p:sp>
      <p:sp>
        <p:nvSpPr>
          <p:cNvPr id="24" name="Text 21"/>
          <p:cNvSpPr/>
          <p:nvPr/>
        </p:nvSpPr>
        <p:spPr>
          <a:xfrm>
            <a:off x="7600950" y="3281462"/>
            <a:ext cx="389159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Donated to the Linux Foundation</a:t>
            </a:r>
            <a:endParaRPr lang="en-US" sz="1300" dirty="0"/>
          </a:p>
        </p:txBody>
      </p:sp>
      <p:sp>
        <p:nvSpPr>
          <p:cNvPr id="25" name="Text 22"/>
          <p:cNvSpPr/>
          <p:nvPr/>
        </p:nvSpPr>
        <p:spPr>
          <a:xfrm>
            <a:off x="6248400" y="3652292"/>
            <a:ext cx="1003300" cy="63495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B2D"/>
                </a:solidFill>
                <a:latin typeface="JetBrains Mono" pitchFamily="49" charset="0"/>
                <a:ea typeface="JetBrains Mono" pitchFamily="49" charset="-122"/>
                <a:cs typeface="JetBrains Mono" pitchFamily="49" charset="-120"/>
              </a:rPr>
              <a:t>Aug 2025</a:t>
            </a:r>
            <a:endParaRPr lang="en-US" sz="1200" dirty="0"/>
          </a:p>
        </p:txBody>
      </p:sp>
      <p:sp>
        <p:nvSpPr>
          <p:cNvPr id="26" name="Shape 23"/>
          <p:cNvSpPr/>
          <p:nvPr/>
        </p:nvSpPr>
        <p:spPr>
          <a:xfrm>
            <a:off x="7413625" y="3652292"/>
            <a:ext cx="0" cy="609550"/>
          </a:xfrm>
          <a:prstGeom prst="line">
            <a:avLst/>
          </a:prstGeom>
          <a:noFill/>
          <a:ln w="19050">
            <a:solidFill>
              <a:srgbClr val="B9531E"/>
            </a:solidFill>
            <a:prstDash val="solid"/>
          </a:ln>
        </p:spPr>
      </p:sp>
      <p:sp>
        <p:nvSpPr>
          <p:cNvPr id="27" name="Text 24"/>
          <p:cNvSpPr/>
          <p:nvPr/>
        </p:nvSpPr>
        <p:spPr>
          <a:xfrm>
            <a:off x="7600950" y="3652292"/>
            <a:ext cx="38915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IBM Plex Sans" pitchFamily="34" charset="0"/>
                <a:ea typeface="IBM Plex Sans" pitchFamily="34" charset="-122"/>
                <a:cs typeface="IBM Plex Sans" pitchFamily="34" charset="-120"/>
              </a:rPr>
              <a:t>ACP + A2A</a:t>
            </a:r>
            <a:endParaRPr lang="en-US" sz="1200" dirty="0"/>
          </a:p>
        </p:txBody>
      </p:sp>
      <p:sp>
        <p:nvSpPr>
          <p:cNvPr id="28" name="Text 25"/>
          <p:cNvSpPr/>
          <p:nvPr/>
        </p:nvSpPr>
        <p:spPr>
          <a:xfrm>
            <a:off x="7600950" y="3891012"/>
            <a:ext cx="389159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IBM Plex Sans" pitchFamily="34" charset="0"/>
                <a:ea typeface="IBM Plex Sans" pitchFamily="34" charset="-122"/>
                <a:cs typeface="IBM Plex Sans" pitchFamily="34" charset="-120"/>
              </a:rPr>
              <a:t>ACP merges into A2A</a:t>
            </a:r>
            <a:endParaRPr lang="en-US" sz="1300" dirty="0"/>
          </a:p>
        </p:txBody>
      </p:sp>
      <p:sp>
        <p:nvSpPr>
          <p:cNvPr id="29" name="Text 26"/>
          <p:cNvSpPr/>
          <p:nvPr/>
        </p:nvSpPr>
        <p:spPr>
          <a:xfrm>
            <a:off x="6248400" y="4261842"/>
            <a:ext cx="1003300" cy="6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Mar 2026</a:t>
            </a:r>
            <a:endParaRPr lang="en-US" sz="1200" dirty="0"/>
          </a:p>
        </p:txBody>
      </p:sp>
      <p:sp>
        <p:nvSpPr>
          <p:cNvPr id="30" name="Shape 27"/>
          <p:cNvSpPr/>
          <p:nvPr/>
        </p:nvSpPr>
        <p:spPr>
          <a:xfrm>
            <a:off x="7413625" y="4261842"/>
            <a:ext cx="0" cy="609550"/>
          </a:xfrm>
          <a:prstGeom prst="line">
            <a:avLst/>
          </a:prstGeom>
          <a:noFill/>
          <a:ln w="19050">
            <a:solidFill>
              <a:srgbClr val="DAD6CC"/>
            </a:solidFill>
            <a:prstDash val="solid"/>
          </a:ln>
        </p:spPr>
      </p:sp>
      <p:sp>
        <p:nvSpPr>
          <p:cNvPr id="31" name="Text 28"/>
          <p:cNvSpPr/>
          <p:nvPr/>
        </p:nvSpPr>
        <p:spPr>
          <a:xfrm>
            <a:off x="7600950" y="4261842"/>
            <a:ext cx="38915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IBM Plex Sans" pitchFamily="34" charset="0"/>
                <a:ea typeface="IBM Plex Sans" pitchFamily="34" charset="-122"/>
                <a:cs typeface="IBM Plex Sans" pitchFamily="34" charset="-120"/>
              </a:rPr>
              <a:t>A2A</a:t>
            </a:r>
            <a:endParaRPr lang="en-US" sz="1200" dirty="0"/>
          </a:p>
        </p:txBody>
      </p:sp>
      <p:sp>
        <p:nvSpPr>
          <p:cNvPr id="32" name="Text 29"/>
          <p:cNvSpPr/>
          <p:nvPr/>
        </p:nvSpPr>
        <p:spPr>
          <a:xfrm>
            <a:off x="7600950" y="4500563"/>
            <a:ext cx="389159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v1.0: first stable specification</a:t>
            </a:r>
            <a:endParaRPr lang="en-US" sz="1300" dirty="0"/>
          </a:p>
        </p:txBody>
      </p:sp>
      <p:sp>
        <p:nvSpPr>
          <p:cNvPr id="33" name="Text 30"/>
          <p:cNvSpPr/>
          <p:nvPr/>
        </p:nvSpPr>
        <p:spPr>
          <a:xfrm>
            <a:off x="6248400" y="4871393"/>
            <a:ext cx="1003300" cy="4952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Aug 2026</a:t>
            </a:r>
            <a:endParaRPr lang="en-US" sz="1200" dirty="0"/>
          </a:p>
        </p:txBody>
      </p:sp>
      <p:sp>
        <p:nvSpPr>
          <p:cNvPr id="34" name="Shape 31"/>
          <p:cNvSpPr/>
          <p:nvPr/>
        </p:nvSpPr>
        <p:spPr>
          <a:xfrm>
            <a:off x="7413625" y="4871393"/>
            <a:ext cx="0" cy="469850"/>
          </a:xfrm>
          <a:prstGeom prst="line">
            <a:avLst/>
          </a:prstGeom>
          <a:noFill/>
          <a:ln w="19050">
            <a:solidFill>
              <a:srgbClr val="DAD6CC"/>
            </a:solidFill>
            <a:prstDash val="solid"/>
          </a:ln>
        </p:spPr>
      </p:sp>
      <p:sp>
        <p:nvSpPr>
          <p:cNvPr id="35" name="Text 32"/>
          <p:cNvSpPr/>
          <p:nvPr/>
        </p:nvSpPr>
        <p:spPr>
          <a:xfrm>
            <a:off x="7600950" y="4871393"/>
            <a:ext cx="38915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IBM Plex Sans" pitchFamily="34" charset="0"/>
                <a:ea typeface="IBM Plex Sans" pitchFamily="34" charset="-122"/>
                <a:cs typeface="IBM Plex Sans" pitchFamily="34" charset="-120"/>
              </a:rPr>
              <a:t>A2A + MCP</a:t>
            </a:r>
            <a:endParaRPr lang="en-US" sz="1200" dirty="0"/>
          </a:p>
        </p:txBody>
      </p:sp>
      <p:sp>
        <p:nvSpPr>
          <p:cNvPr id="36" name="Text 33"/>
          <p:cNvSpPr/>
          <p:nvPr/>
        </p:nvSpPr>
        <p:spPr>
          <a:xfrm>
            <a:off x="7600950" y="5110113"/>
            <a:ext cx="389159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Joins the Agentic AI Foundation, next to MCP</a:t>
            </a:r>
            <a:endParaRPr lang="en-US" sz="1300" dirty="0"/>
          </a:p>
        </p:txBody>
      </p:sp>
      <p:sp>
        <p:nvSpPr>
          <p:cNvPr id="37" name="Text 34"/>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8" name="Text 35"/>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THE BIGGER PICTURE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MCP vs. A2A: tools vs. peers</a:t>
            </a:r>
            <a:endParaRPr lang="en-US" sz="3200" dirty="0"/>
          </a:p>
        </p:txBody>
      </p:sp>
      <p:sp>
        <p:nvSpPr>
          <p:cNvPr id="4" name="Shape 2"/>
          <p:cNvSpPr/>
          <p:nvPr/>
        </p:nvSpPr>
        <p:spPr>
          <a:xfrm>
            <a:off x="812800" y="1823641"/>
            <a:ext cx="5969000" cy="2406104"/>
          </a:xfrm>
          <a:prstGeom prst="rect">
            <a:avLst/>
          </a:prstGeom>
          <a:solidFill>
            <a:srgbClr val="FCFBF8"/>
          </a:solidFill>
          <a:ln/>
        </p:spPr>
      </p:sp>
      <p:sp>
        <p:nvSpPr>
          <p:cNvPr id="5" name="Shape 3"/>
          <p:cNvSpPr/>
          <p:nvPr/>
        </p:nvSpPr>
        <p:spPr>
          <a:xfrm>
            <a:off x="6778625" y="1823641"/>
            <a:ext cx="0" cy="2406104"/>
          </a:xfrm>
          <a:prstGeom prst="line">
            <a:avLst/>
          </a:prstGeom>
          <a:noFill/>
          <a:ln w="6350">
            <a:solidFill>
              <a:srgbClr val="DAD6CC"/>
            </a:solidFill>
            <a:prstDash val="solid"/>
          </a:ln>
        </p:spPr>
      </p:sp>
      <p:sp>
        <p:nvSpPr>
          <p:cNvPr id="6" name="Shape 4"/>
          <p:cNvSpPr/>
          <p:nvPr/>
        </p:nvSpPr>
        <p:spPr>
          <a:xfrm>
            <a:off x="812800" y="4226570"/>
            <a:ext cx="5969000" cy="0"/>
          </a:xfrm>
          <a:prstGeom prst="line">
            <a:avLst/>
          </a:prstGeom>
          <a:noFill/>
          <a:ln w="6350">
            <a:solidFill>
              <a:srgbClr val="DAD6C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5949950" cy="2387054"/>
        </p:xfrm>
        <a:graphic>
          <a:graphicData uri="http://schemas.openxmlformats.org/drawingml/2006/table">
            <a:tbl>
              <a:tblPr/>
              <a:tblGrid>
                <a:gridCol w="1427988"/>
                <a:gridCol w="2260981"/>
                <a:gridCol w="2260981"/>
              </a:tblGrid>
              <a:tr h="359321">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c>
                  <a:txBody>
                    <a:bodyPr/>
                    <a:lstStyle/>
                    <a:p>
                      <a:pPr indent="0" marL="0">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MCP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927"/>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c>
                  <a:txBody>
                    <a:bodyPr/>
                    <a:lstStyle/>
                    <a:p>
                      <a:pPr indent="0" marL="0">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A2A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927"/>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r>
              <a:tr h="359321">
                <a:tc>
                  <a:txBody>
                    <a:bodyPr/>
                    <a:lstStyle/>
                    <a:p>
                      <a:pPr indent="0" marL="0">
                        <a:lnSpc>
                          <a:spcPts val="1820"/>
                        </a:lnSpc>
                        <a:buNone/>
                      </a:pPr>
                      <a:r>
                        <a:rPr lang="en-US" sz="1300" dirty="0">
                          <a:solidFill>
                            <a:srgbClr val="5E6573"/>
                          </a:solidFill>
                          <a:latin typeface="IBM Plex Sans" pitchFamily="34" charset="0"/>
                          <a:ea typeface="IBM Plex Sans" pitchFamily="34" charset="-122"/>
                          <a:cs typeface="IBM Plex Sans" pitchFamily="34" charset="-120"/>
                        </a:rPr>
                        <a:t>Who talks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Agent → tool or 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Agent ↔ agent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590451">
                <a:tc>
                  <a:txBody>
                    <a:bodyPr/>
                    <a:lstStyle/>
                    <a:p>
                      <a:pPr indent="0" marL="0">
                        <a:lnSpc>
                          <a:spcPts val="1820"/>
                        </a:lnSpc>
                        <a:buNone/>
                      </a:pPr>
                      <a:r>
                        <a:rPr lang="en-US" sz="1300" dirty="0">
                          <a:solidFill>
                            <a:srgbClr val="5E6573"/>
                          </a:solidFill>
                          <a:latin typeface="IBM Plex Sans" pitchFamily="34" charset="0"/>
                          <a:ea typeface="IBM Plex Sans" pitchFamily="34" charset="-122"/>
                          <a:cs typeface="IBM Plex Sans" pitchFamily="34" charset="-120"/>
                        </a:rPr>
                        <a:t>Other side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Predictable: DB, API, file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A peer that reasons and plans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r>
              <a:tr h="359321">
                <a:tc>
                  <a:txBody>
                    <a:bodyPr/>
                    <a:lstStyle/>
                    <a:p>
                      <a:pPr indent="0" marL="0">
                        <a:lnSpc>
                          <a:spcPts val="1820"/>
                        </a:lnSpc>
                        <a:buNone/>
                      </a:pPr>
                      <a:r>
                        <a:rPr lang="en-US" sz="1300" dirty="0">
                          <a:solidFill>
                            <a:srgbClr val="5E6573"/>
                          </a:solidFill>
                          <a:latin typeface="IBM Plex Sans" pitchFamily="34" charset="0"/>
                          <a:ea typeface="IBM Plex Sans" pitchFamily="34" charset="-122"/>
                          <a:cs typeface="IBM Plex Sans" pitchFamily="34" charset="-120"/>
                        </a:rPr>
                        <a:t>Style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“Run this SQL query”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“Reserve 20 laptops”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5E6573"/>
                          </a:solidFill>
                          <a:latin typeface="IBM Plex Sans" pitchFamily="34" charset="0"/>
                          <a:ea typeface="IBM Plex Sans" pitchFamily="34" charset="-122"/>
                          <a:cs typeface="IBM Plex Sans" pitchFamily="34" charset="-120"/>
                        </a:rPr>
                        <a:t>State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Mostly one-off calls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Stateful tasks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r>
              <a:tr h="359321">
                <a:tc>
                  <a:txBody>
                    <a:bodyPr/>
                    <a:lstStyle/>
                    <a:p>
                      <a:pPr indent="0" marL="0">
                        <a:lnSpc>
                          <a:spcPts val="1820"/>
                        </a:lnSpc>
                        <a:buNone/>
                      </a:pPr>
                      <a:r>
                        <a:rPr lang="en-US" sz="1300" dirty="0">
                          <a:solidFill>
                            <a:srgbClr val="5E6573"/>
                          </a:solidFill>
                          <a:latin typeface="IBM Plex Sans" pitchFamily="34" charset="0"/>
                          <a:ea typeface="IBM Plex Sans" pitchFamily="34" charset="-122"/>
                          <a:cs typeface="IBM Plex Sans" pitchFamily="34" charset="-120"/>
                        </a:rPr>
                        <a:t>Analogy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Using a calculator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Colleagues on Slack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bl>
          </a:graphicData>
        </a:graphic>
      </p:graphicFrame>
      <p:sp>
        <p:nvSpPr>
          <p:cNvPr id="8" name="Text 5"/>
          <p:cNvSpPr/>
          <p:nvPr/>
        </p:nvSpPr>
        <p:spPr>
          <a:xfrm>
            <a:off x="7188200" y="1823641"/>
            <a:ext cx="431673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IBM Plex Sans" pitchFamily="34" charset="0"/>
                <a:ea typeface="IBM Plex Sans" pitchFamily="34" charset="-122"/>
                <a:cs typeface="IBM Plex Sans" pitchFamily="34" charset="-120"/>
              </a:rPr>
              <a:t>IN PRACTICE: YOU USE BOTH</a:t>
            </a:r>
            <a:endParaRPr lang="en-US" sz="1200" dirty="0"/>
          </a:p>
        </p:txBody>
      </p:sp>
      <p:sp>
        <p:nvSpPr>
          <p:cNvPr id="9" name="Shape 6"/>
          <p:cNvSpPr/>
          <p:nvPr/>
        </p:nvSpPr>
        <p:spPr>
          <a:xfrm>
            <a:off x="7188200" y="2163961"/>
            <a:ext cx="1587500" cy="660350"/>
          </a:xfrm>
          <a:prstGeom prst="roundRect">
            <a:avLst>
              <a:gd name="adj" fmla="val 13463"/>
            </a:avLst>
          </a:prstGeom>
          <a:solidFill>
            <a:srgbClr val="141B2D"/>
          </a:solidFill>
          <a:ln/>
        </p:spPr>
      </p:sp>
      <p:sp>
        <p:nvSpPr>
          <p:cNvPr id="10" name="Text 7"/>
          <p:cNvSpPr/>
          <p:nvPr/>
        </p:nvSpPr>
        <p:spPr>
          <a:xfrm>
            <a:off x="7289800" y="2265561"/>
            <a:ext cx="14351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Sales Agent</a:t>
            </a:r>
            <a:endParaRPr lang="en-US" sz="1300" dirty="0"/>
          </a:p>
        </p:txBody>
      </p:sp>
      <p:sp>
        <p:nvSpPr>
          <p:cNvPr id="11" name="Text 8"/>
          <p:cNvSpPr/>
          <p:nvPr/>
        </p:nvSpPr>
        <p:spPr>
          <a:xfrm>
            <a:off x="7289800" y="2509391"/>
            <a:ext cx="143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IBM Plex Sans" pitchFamily="34" charset="0"/>
                <a:ea typeface="IBM Plex Sans" pitchFamily="34" charset="-122"/>
                <a:cs typeface="IBM Plex Sans" pitchFamily="34" charset="-120"/>
              </a:rPr>
              <a:t>client</a:t>
            </a:r>
            <a:endParaRPr lang="en-US" sz="1200" dirty="0"/>
          </a:p>
        </p:txBody>
      </p:sp>
      <p:sp>
        <p:nvSpPr>
          <p:cNvPr id="12" name="Text 9"/>
          <p:cNvSpPr/>
          <p:nvPr/>
        </p:nvSpPr>
        <p:spPr>
          <a:xfrm>
            <a:off x="9105940" y="2317601"/>
            <a:ext cx="35552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4F9E"/>
                </a:solidFill>
                <a:latin typeface="IBM Plex Sans" pitchFamily="34" charset="0"/>
                <a:ea typeface="IBM Plex Sans" pitchFamily="34" charset="-122"/>
                <a:cs typeface="IBM Plex Sans" pitchFamily="34" charset="-120"/>
              </a:rPr>
              <a:t>A2A</a:t>
            </a:r>
            <a:endParaRPr lang="en-US" sz="1200" dirty="0"/>
          </a:p>
        </p:txBody>
      </p:sp>
      <p:pic>
        <p:nvPicPr>
          <p:cNvPr id="13" name="Image 0" descr="connector">    </p:cNvPr>
          <p:cNvPicPr>
            <a:picLocks noChangeAspect="1"/>
          </p:cNvPicPr>
          <p:nvPr/>
        </p:nvPicPr>
        <p:blipFill>
          <a:blip r:embed="rId1"/>
          <a:srcRect l="0" r="0" t="0" b="0"/>
          <a:stretch/>
        </p:blipFill>
        <p:spPr>
          <a:xfrm>
            <a:off x="8839200" y="2569021"/>
            <a:ext cx="889000" cy="101600"/>
          </a:xfrm>
          <a:prstGeom prst="rect">
            <a:avLst/>
          </a:prstGeom>
        </p:spPr>
      </p:pic>
      <p:sp>
        <p:nvSpPr>
          <p:cNvPr id="14" name="Shape 10"/>
          <p:cNvSpPr/>
          <p:nvPr/>
        </p:nvSpPr>
        <p:spPr>
          <a:xfrm>
            <a:off x="9791700" y="2163961"/>
            <a:ext cx="1587500" cy="660350"/>
          </a:xfrm>
          <a:prstGeom prst="roundRect">
            <a:avLst>
              <a:gd name="adj" fmla="val 13463"/>
            </a:avLst>
          </a:prstGeom>
          <a:solidFill>
            <a:srgbClr val="141B2D"/>
          </a:solidFill>
          <a:ln/>
        </p:spPr>
      </p:sp>
      <p:sp>
        <p:nvSpPr>
          <p:cNvPr id="15" name="Text 11"/>
          <p:cNvSpPr/>
          <p:nvPr/>
        </p:nvSpPr>
        <p:spPr>
          <a:xfrm>
            <a:off x="9893300" y="2265561"/>
            <a:ext cx="14351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Inventory Agent</a:t>
            </a:r>
            <a:endParaRPr lang="en-US" sz="1300" dirty="0"/>
          </a:p>
        </p:txBody>
      </p:sp>
      <p:sp>
        <p:nvSpPr>
          <p:cNvPr id="16" name="Text 12"/>
          <p:cNvSpPr/>
          <p:nvPr/>
        </p:nvSpPr>
        <p:spPr>
          <a:xfrm>
            <a:off x="9893300" y="2509391"/>
            <a:ext cx="143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IBM Plex Sans" pitchFamily="34" charset="0"/>
                <a:ea typeface="IBM Plex Sans" pitchFamily="34" charset="-122"/>
                <a:cs typeface="IBM Plex Sans" pitchFamily="34" charset="-120"/>
              </a:rPr>
              <a:t>server</a:t>
            </a:r>
            <a:endParaRPr lang="en-US" sz="1200" dirty="0"/>
          </a:p>
        </p:txBody>
      </p:sp>
      <p:sp>
        <p:nvSpPr>
          <p:cNvPr id="17" name="Shape 13"/>
          <p:cNvSpPr/>
          <p:nvPr/>
        </p:nvSpPr>
        <p:spPr>
          <a:xfrm>
            <a:off x="7771110" y="2824311"/>
            <a:ext cx="25400" cy="571500"/>
          </a:xfrm>
          <a:prstGeom prst="rect">
            <a:avLst/>
          </a:prstGeom>
          <a:solidFill>
            <a:srgbClr val="B9531E"/>
          </a:solidFill>
          <a:ln/>
        </p:spPr>
      </p:sp>
      <p:sp>
        <p:nvSpPr>
          <p:cNvPr id="18" name="Text 14"/>
          <p:cNvSpPr/>
          <p:nvPr/>
        </p:nvSpPr>
        <p:spPr>
          <a:xfrm>
            <a:off x="7872710" y="3003401"/>
            <a:ext cx="3840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IBM Plex Sans" pitchFamily="34" charset="0"/>
                <a:ea typeface="IBM Plex Sans" pitchFamily="34" charset="-122"/>
                <a:cs typeface="IBM Plex Sans" pitchFamily="34" charset="-120"/>
              </a:rPr>
              <a:t>MCP</a:t>
            </a:r>
            <a:endParaRPr lang="en-US" sz="1200" dirty="0"/>
          </a:p>
        </p:txBody>
      </p:sp>
      <p:sp>
        <p:nvSpPr>
          <p:cNvPr id="19" name="Shape 15"/>
          <p:cNvSpPr/>
          <p:nvPr/>
        </p:nvSpPr>
        <p:spPr>
          <a:xfrm>
            <a:off x="10374610" y="2824311"/>
            <a:ext cx="25400" cy="571500"/>
          </a:xfrm>
          <a:prstGeom prst="rect">
            <a:avLst/>
          </a:prstGeom>
          <a:solidFill>
            <a:srgbClr val="B9531E"/>
          </a:solidFill>
          <a:ln/>
        </p:spPr>
      </p:sp>
      <p:sp>
        <p:nvSpPr>
          <p:cNvPr id="20" name="Text 16"/>
          <p:cNvSpPr/>
          <p:nvPr/>
        </p:nvSpPr>
        <p:spPr>
          <a:xfrm>
            <a:off x="10476210" y="3003401"/>
            <a:ext cx="3840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IBM Plex Sans" pitchFamily="34" charset="0"/>
                <a:ea typeface="IBM Plex Sans" pitchFamily="34" charset="-122"/>
                <a:cs typeface="IBM Plex Sans" pitchFamily="34" charset="-120"/>
              </a:rPr>
              <a:t>MCP</a:t>
            </a:r>
            <a:endParaRPr lang="en-US" sz="1200" dirty="0"/>
          </a:p>
        </p:txBody>
      </p:sp>
      <p:sp>
        <p:nvSpPr>
          <p:cNvPr id="21" name="Shape 17"/>
          <p:cNvSpPr/>
          <p:nvPr/>
        </p:nvSpPr>
        <p:spPr>
          <a:xfrm>
            <a:off x="7194550" y="3402161"/>
            <a:ext cx="1574800" cy="683220"/>
          </a:xfrm>
          <a:prstGeom prst="roundRect">
            <a:avLst>
              <a:gd name="adj" fmla="val 12082"/>
            </a:avLst>
          </a:prstGeom>
          <a:solidFill>
            <a:srgbClr val="FCE9DD"/>
          </a:solidFill>
          <a:ln w="12700">
            <a:solidFill>
              <a:srgbClr val="B9531E"/>
            </a:solidFill>
            <a:prstDash val="dash"/>
          </a:ln>
        </p:spPr>
      </p:sp>
      <p:pic>
        <p:nvPicPr>
          <p:cNvPr id="22" name="Image 1" descr="Users">    </p:cNvPr>
          <p:cNvPicPr>
            <a:picLocks noChangeAspect="1"/>
          </p:cNvPicPr>
          <p:nvPr/>
        </p:nvPicPr>
        <p:blipFill>
          <a:blip r:embed="rId2"/>
          <a:srcRect l="0" r="0" t="0" b="0"/>
          <a:stretch/>
        </p:blipFill>
        <p:spPr>
          <a:xfrm>
            <a:off x="7302500" y="3510111"/>
            <a:ext cx="203200" cy="203200"/>
          </a:xfrm>
          <a:prstGeom prst="rect">
            <a:avLst/>
          </a:prstGeom>
        </p:spPr>
      </p:pic>
      <p:sp>
        <p:nvSpPr>
          <p:cNvPr id="23" name="Text 18"/>
          <p:cNvSpPr/>
          <p:nvPr/>
        </p:nvSpPr>
        <p:spPr>
          <a:xfrm>
            <a:off x="7302500" y="376411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Order CRM</a:t>
            </a:r>
            <a:endParaRPr lang="en-US" sz="1200" dirty="0"/>
          </a:p>
        </p:txBody>
      </p:sp>
      <p:sp>
        <p:nvSpPr>
          <p:cNvPr id="24" name="Shape 19"/>
          <p:cNvSpPr/>
          <p:nvPr/>
        </p:nvSpPr>
        <p:spPr>
          <a:xfrm>
            <a:off x="9798050" y="3402161"/>
            <a:ext cx="1574800" cy="683220"/>
          </a:xfrm>
          <a:prstGeom prst="roundRect">
            <a:avLst>
              <a:gd name="adj" fmla="val 12082"/>
            </a:avLst>
          </a:prstGeom>
          <a:solidFill>
            <a:srgbClr val="FCE9DD"/>
          </a:solidFill>
          <a:ln w="12700">
            <a:solidFill>
              <a:srgbClr val="B9531E"/>
            </a:solidFill>
            <a:prstDash val="dash"/>
          </a:ln>
        </p:spPr>
      </p:sp>
      <p:pic>
        <p:nvPicPr>
          <p:cNvPr id="25" name="Image 2" descr="Database">    </p:cNvPr>
          <p:cNvPicPr>
            <a:picLocks noChangeAspect="1"/>
          </p:cNvPicPr>
          <p:nvPr/>
        </p:nvPicPr>
        <p:blipFill>
          <a:blip r:embed="rId3"/>
          <a:srcRect l="0" r="0" t="0" b="0"/>
          <a:stretch/>
        </p:blipFill>
        <p:spPr>
          <a:xfrm>
            <a:off x="9906000" y="3510111"/>
            <a:ext cx="203200" cy="203200"/>
          </a:xfrm>
          <a:prstGeom prst="rect">
            <a:avLst/>
          </a:prstGeom>
        </p:spPr>
      </p:pic>
      <p:sp>
        <p:nvSpPr>
          <p:cNvPr id="26" name="Text 20"/>
          <p:cNvSpPr/>
          <p:nvPr/>
        </p:nvSpPr>
        <p:spPr>
          <a:xfrm>
            <a:off x="9906000" y="376411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Warehouse DB</a:t>
            </a:r>
            <a:endParaRPr lang="en-US" sz="1200" dirty="0"/>
          </a:p>
        </p:txBody>
      </p:sp>
      <p:sp>
        <p:nvSpPr>
          <p:cNvPr id="27" name="Text 21"/>
          <p:cNvSpPr/>
          <p:nvPr/>
        </p:nvSpPr>
        <p:spPr>
          <a:xfrm>
            <a:off x="7188200" y="4218732"/>
            <a:ext cx="43167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pitchFamily="34" charset="0"/>
                <a:ea typeface="IBM Plex Sans" pitchFamily="34" charset="-122"/>
                <a:cs typeface="IBM Plex Sans" pitchFamily="34" charset="-120"/>
              </a:rPr>
              <a:t>MCP reaches down into each agent’s own tools. A2A goes across, between agents.</a:t>
            </a:r>
            <a:endParaRPr lang="en-US" sz="1200" dirty="0"/>
          </a:p>
        </p:txBody>
      </p:sp>
      <p:sp>
        <p:nvSpPr>
          <p:cNvPr id="28" name="Text 22"/>
          <p:cNvSpPr/>
          <p:nvPr/>
        </p:nvSpPr>
        <p:spPr>
          <a:xfrm>
            <a:off x="7188200" y="4772372"/>
            <a:ext cx="43167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Both now live in the Linux Foundation’s Agentic AI Foundation.</a:t>
            </a:r>
            <a:endParaRPr lang="en-US" sz="1200" dirty="0"/>
          </a:p>
        </p:txBody>
      </p:sp>
      <p:sp>
        <p:nvSpPr>
          <p:cNvPr id="29" name="Text 23"/>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0" name="Text 2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THE BIGGER PICTURE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When A2A fits — and when it doesn’t</a:t>
            </a:r>
            <a:endParaRPr lang="en-US" sz="3200" dirty="0"/>
          </a:p>
        </p:txBody>
      </p:sp>
      <p:sp>
        <p:nvSpPr>
          <p:cNvPr id="4" name="Shape 2"/>
          <p:cNvSpPr/>
          <p:nvPr/>
        </p:nvSpPr>
        <p:spPr>
          <a:xfrm>
            <a:off x="812800" y="1823641"/>
            <a:ext cx="5181600" cy="2136080"/>
          </a:xfrm>
          <a:prstGeom prst="roundRect">
            <a:avLst>
              <a:gd name="adj" fmla="val 5945"/>
            </a:avLst>
          </a:prstGeom>
          <a:solidFill>
            <a:srgbClr val="FCFBF8"/>
          </a:solidFill>
          <a:ln/>
        </p:spPr>
      </p:sp>
      <p:sp>
        <p:nvSpPr>
          <p:cNvPr id="5" name="Shape 3"/>
          <p:cNvSpPr/>
          <p:nvPr/>
        </p:nvSpPr>
        <p:spPr>
          <a:xfrm>
            <a:off x="812800" y="1823641"/>
            <a:ext cx="5181600" cy="2136080"/>
          </a:xfrm>
          <a:custGeom>
            <a:avLst/>
            <a:gdLst/>
            <a:ahLst/>
            <a:cxnLst/>
            <a:rect l="l" t="t" r="r" b="b"/>
            <a:pathLst>
              <a:path w="5181600" h="2136080">
                <a:moveTo>
                  <a:pt x="0" y="127000"/>
                </a:moveTo>
                <a:lnTo>
                  <a:pt x="0" y="127000"/>
                </a:lnTo>
                <a:arcTo hR="127000" wR="127000" stAng="10800000" swAng="5400000"/>
                <a:lnTo>
                  <a:pt x="5054600" y="0"/>
                </a:lnTo>
                <a:arcTo hR="127000" wR="127000" stAng="16200000" swAng="5400000"/>
                <a:lnTo>
                  <a:pt x="5181600" y="127000"/>
                </a:lnTo>
                <a:arcTo hR="88900" wR="127000" stAng="0" swAng="-5400000"/>
                <a:lnTo>
                  <a:pt x="127000" y="38100"/>
                </a:lnTo>
                <a:arcTo hR="88900" wR="127000" stAng="16200000" swAng="-5400000"/>
                <a:close/>
              </a:path>
            </a:pathLst>
          </a:custGeom>
          <a:solidFill>
            <a:srgbClr val="2F6FD1"/>
          </a:solidFill>
          <a:ln/>
        </p:spPr>
      </p:sp>
      <p:sp>
        <p:nvSpPr>
          <p:cNvPr id="6" name="Text 4"/>
          <p:cNvSpPr/>
          <p:nvPr/>
        </p:nvSpPr>
        <p:spPr>
          <a:xfrm>
            <a:off x="1041400" y="2090341"/>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4F9E"/>
                </a:solidFill>
                <a:latin typeface="Space Grotesk" pitchFamily="34" charset="0"/>
                <a:ea typeface="Space Grotesk" pitchFamily="34" charset="-122"/>
                <a:cs typeface="Space Grotesk" pitchFamily="34" charset="-120"/>
              </a:rPr>
              <a:t>Reach for A2A when…</a:t>
            </a:r>
            <a:endParaRPr lang="en-US" sz="1700" dirty="0"/>
          </a:p>
        </p:txBody>
      </p:sp>
      <p:pic>
        <p:nvPicPr>
          <p:cNvPr id="7" name="Image 0" descr="Check">    </p:cNvPr>
          <p:cNvPicPr>
            <a:picLocks noChangeAspect="1"/>
          </p:cNvPicPr>
          <p:nvPr/>
        </p:nvPicPr>
        <p:blipFill>
          <a:blip r:embed="rId1"/>
          <a:srcRect l="0" r="0" t="0" b="0"/>
          <a:stretch/>
        </p:blipFill>
        <p:spPr>
          <a:xfrm>
            <a:off x="1041400" y="2464941"/>
            <a:ext cx="228600" cy="228600"/>
          </a:xfrm>
          <a:prstGeom prst="rect">
            <a:avLst/>
          </a:prstGeom>
        </p:spPr>
      </p:pic>
      <p:sp>
        <p:nvSpPr>
          <p:cNvPr id="8" name="Text 5"/>
          <p:cNvSpPr/>
          <p:nvPr/>
        </p:nvSpPr>
        <p:spPr>
          <a:xfrm>
            <a:off x="1371600" y="2463701"/>
            <a:ext cx="425446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Agents are owned by different teams or vendors</a:t>
            </a:r>
            <a:endParaRPr lang="en-US" sz="1300" dirty="0"/>
          </a:p>
        </p:txBody>
      </p:sp>
      <p:pic>
        <p:nvPicPr>
          <p:cNvPr id="9" name="Image 1" descr="Check">    </p:cNvPr>
          <p:cNvPicPr>
            <a:picLocks noChangeAspect="1"/>
          </p:cNvPicPr>
          <p:nvPr/>
        </p:nvPicPr>
        <p:blipFill>
          <a:blip r:embed="rId2"/>
          <a:srcRect l="0" r="0" t="0" b="0"/>
          <a:stretch/>
        </p:blipFill>
        <p:spPr>
          <a:xfrm>
            <a:off x="1041400" y="2810371"/>
            <a:ext cx="228600" cy="228600"/>
          </a:xfrm>
          <a:prstGeom prst="rect">
            <a:avLst/>
          </a:prstGeom>
        </p:spPr>
      </p:pic>
      <p:sp>
        <p:nvSpPr>
          <p:cNvPr id="10" name="Text 6"/>
          <p:cNvSpPr/>
          <p:nvPr/>
        </p:nvSpPr>
        <p:spPr>
          <a:xfrm>
            <a:off x="1371600" y="2809131"/>
            <a:ext cx="382613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They run on different frameworks or clouds</a:t>
            </a:r>
            <a:endParaRPr lang="en-US" sz="1300" dirty="0"/>
          </a:p>
        </p:txBody>
      </p:sp>
      <p:pic>
        <p:nvPicPr>
          <p:cNvPr id="11" name="Image 2" descr="Check">    </p:cNvPr>
          <p:cNvPicPr>
            <a:picLocks noChangeAspect="1"/>
          </p:cNvPicPr>
          <p:nvPr/>
        </p:nvPicPr>
        <p:blipFill>
          <a:blip r:embed="rId3"/>
          <a:srcRect l="0" r="0" t="0" b="0"/>
          <a:stretch/>
        </p:blipFill>
        <p:spPr>
          <a:xfrm>
            <a:off x="1041400" y="3155801"/>
            <a:ext cx="228600" cy="228600"/>
          </a:xfrm>
          <a:prstGeom prst="rect">
            <a:avLst/>
          </a:prstGeom>
        </p:spPr>
      </p:pic>
      <p:sp>
        <p:nvSpPr>
          <p:cNvPr id="12" name="Text 7"/>
          <p:cNvSpPr/>
          <p:nvPr/>
        </p:nvSpPr>
        <p:spPr>
          <a:xfrm>
            <a:off x="1371600" y="3154561"/>
            <a:ext cx="238559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Internals must stay private</a:t>
            </a:r>
            <a:endParaRPr lang="en-US" sz="1300" dirty="0"/>
          </a:p>
        </p:txBody>
      </p:sp>
      <p:pic>
        <p:nvPicPr>
          <p:cNvPr id="13" name="Image 3" descr="Check">    </p:cNvPr>
          <p:cNvPicPr>
            <a:picLocks noChangeAspect="1"/>
          </p:cNvPicPr>
          <p:nvPr/>
        </p:nvPicPr>
        <p:blipFill>
          <a:blip r:embed="rId4"/>
          <a:srcRect l="0" r="0" t="0" b="0"/>
          <a:stretch/>
        </p:blipFill>
        <p:spPr>
          <a:xfrm>
            <a:off x="1041400" y="3501231"/>
            <a:ext cx="228600" cy="228600"/>
          </a:xfrm>
          <a:prstGeom prst="rect">
            <a:avLst/>
          </a:prstGeom>
        </p:spPr>
      </p:pic>
      <p:sp>
        <p:nvSpPr>
          <p:cNvPr id="14" name="Text 8"/>
          <p:cNvSpPr/>
          <p:nvPr/>
        </p:nvSpPr>
        <p:spPr>
          <a:xfrm>
            <a:off x="1371600" y="3499991"/>
            <a:ext cx="309919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Long jobs need status or streaming</a:t>
            </a:r>
            <a:endParaRPr lang="en-US" sz="1300" dirty="0"/>
          </a:p>
        </p:txBody>
      </p:sp>
      <p:sp>
        <p:nvSpPr>
          <p:cNvPr id="15" name="Shape 9"/>
          <p:cNvSpPr/>
          <p:nvPr/>
        </p:nvSpPr>
        <p:spPr>
          <a:xfrm>
            <a:off x="6197600" y="1823641"/>
            <a:ext cx="5181600" cy="2136080"/>
          </a:xfrm>
          <a:prstGeom prst="roundRect">
            <a:avLst>
              <a:gd name="adj" fmla="val 5945"/>
            </a:avLst>
          </a:prstGeom>
          <a:solidFill>
            <a:srgbClr val="FCFBF8"/>
          </a:solidFill>
          <a:ln/>
        </p:spPr>
      </p:sp>
      <p:sp>
        <p:nvSpPr>
          <p:cNvPr id="16" name="Shape 10"/>
          <p:cNvSpPr/>
          <p:nvPr/>
        </p:nvSpPr>
        <p:spPr>
          <a:xfrm>
            <a:off x="6197600" y="1823641"/>
            <a:ext cx="5181600" cy="2136080"/>
          </a:xfrm>
          <a:custGeom>
            <a:avLst/>
            <a:gdLst/>
            <a:ahLst/>
            <a:cxnLst/>
            <a:rect l="l" t="t" r="r" b="b"/>
            <a:pathLst>
              <a:path w="5181600" h="2136080">
                <a:moveTo>
                  <a:pt x="0" y="127000"/>
                </a:moveTo>
                <a:lnTo>
                  <a:pt x="0" y="127000"/>
                </a:lnTo>
                <a:arcTo hR="127000" wR="127000" stAng="10800000" swAng="5400000"/>
                <a:lnTo>
                  <a:pt x="5054600" y="0"/>
                </a:lnTo>
                <a:arcTo hR="127000" wR="127000" stAng="16200000" swAng="5400000"/>
                <a:lnTo>
                  <a:pt x="5181600" y="127000"/>
                </a:lnTo>
                <a:arcTo hR="88900" wR="127000" stAng="0" swAng="-5400000"/>
                <a:lnTo>
                  <a:pt x="127000" y="38100"/>
                </a:lnTo>
                <a:arcTo hR="88900" wR="127000" stAng="16200000" swAng="-5400000"/>
                <a:close/>
              </a:path>
            </a:pathLst>
          </a:custGeom>
          <a:solidFill>
            <a:srgbClr val="B9531E"/>
          </a:solidFill>
          <a:ln/>
        </p:spPr>
      </p:sp>
      <p:sp>
        <p:nvSpPr>
          <p:cNvPr id="17" name="Text 11"/>
          <p:cNvSpPr/>
          <p:nvPr/>
        </p:nvSpPr>
        <p:spPr>
          <a:xfrm>
            <a:off x="6426200" y="2090341"/>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F3F15"/>
                </a:solidFill>
                <a:latin typeface="Space Grotesk" pitchFamily="34" charset="0"/>
                <a:ea typeface="Space Grotesk" pitchFamily="34" charset="-122"/>
                <a:cs typeface="Space Grotesk" pitchFamily="34" charset="-120"/>
              </a:rPr>
              <a:t>Think twice when…</a:t>
            </a:r>
            <a:endParaRPr lang="en-US" sz="1700" dirty="0"/>
          </a:p>
        </p:txBody>
      </p:sp>
      <p:pic>
        <p:nvPicPr>
          <p:cNvPr id="18" name="Image 4" descr="Warning">    </p:cNvPr>
          <p:cNvPicPr>
            <a:picLocks noChangeAspect="1"/>
          </p:cNvPicPr>
          <p:nvPr/>
        </p:nvPicPr>
        <p:blipFill>
          <a:blip r:embed="rId5"/>
          <a:srcRect l="0" r="0" t="0" b="0"/>
          <a:stretch/>
        </p:blipFill>
        <p:spPr>
          <a:xfrm>
            <a:off x="6426200" y="2464941"/>
            <a:ext cx="228600" cy="228600"/>
          </a:xfrm>
          <a:prstGeom prst="rect">
            <a:avLst/>
          </a:prstGeom>
        </p:spPr>
      </p:pic>
      <p:sp>
        <p:nvSpPr>
          <p:cNvPr id="19" name="Text 12"/>
          <p:cNvSpPr/>
          <p:nvPr/>
        </p:nvSpPr>
        <p:spPr>
          <a:xfrm>
            <a:off x="6756400" y="2463701"/>
            <a:ext cx="385167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Same team and framework: stay in-process</a:t>
            </a:r>
            <a:endParaRPr lang="en-US" sz="1300" dirty="0"/>
          </a:p>
        </p:txBody>
      </p:sp>
      <p:pic>
        <p:nvPicPr>
          <p:cNvPr id="20" name="Image 5" descr="Warning">    </p:cNvPr>
          <p:cNvPicPr>
            <a:picLocks noChangeAspect="1"/>
          </p:cNvPicPr>
          <p:nvPr/>
        </p:nvPicPr>
        <p:blipFill>
          <a:blip r:embed="rId6"/>
          <a:srcRect l="0" r="0" t="0" b="0"/>
          <a:stretch/>
        </p:blipFill>
        <p:spPr>
          <a:xfrm>
            <a:off x="6426200" y="2810371"/>
            <a:ext cx="228600" cy="228600"/>
          </a:xfrm>
          <a:prstGeom prst="rect">
            <a:avLst/>
          </a:prstGeom>
        </p:spPr>
      </p:pic>
      <p:sp>
        <p:nvSpPr>
          <p:cNvPr id="21" name="Text 13"/>
          <p:cNvSpPr/>
          <p:nvPr/>
        </p:nvSpPr>
        <p:spPr>
          <a:xfrm>
            <a:off x="6756400" y="2809131"/>
            <a:ext cx="354002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Latency-sensitive: every hop adds delay</a:t>
            </a:r>
            <a:endParaRPr lang="en-US" sz="1300" dirty="0"/>
          </a:p>
        </p:txBody>
      </p:sp>
      <p:pic>
        <p:nvPicPr>
          <p:cNvPr id="22" name="Image 6" descr="Warning">    </p:cNvPr>
          <p:cNvPicPr>
            <a:picLocks noChangeAspect="1"/>
          </p:cNvPicPr>
          <p:nvPr/>
        </p:nvPicPr>
        <p:blipFill>
          <a:blip r:embed="rId7"/>
          <a:srcRect l="0" r="0" t="0" b="0"/>
          <a:stretch/>
        </p:blipFill>
        <p:spPr>
          <a:xfrm>
            <a:off x="6426200" y="3155801"/>
            <a:ext cx="228600" cy="228600"/>
          </a:xfrm>
          <a:prstGeom prst="rect">
            <a:avLst/>
          </a:prstGeom>
        </p:spPr>
      </p:pic>
      <p:sp>
        <p:nvSpPr>
          <p:cNvPr id="23" name="Text 14"/>
          <p:cNvSpPr/>
          <p:nvPr/>
        </p:nvSpPr>
        <p:spPr>
          <a:xfrm>
            <a:off x="6756400" y="3154561"/>
            <a:ext cx="323713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Every remote agent adds model cost</a:t>
            </a:r>
            <a:endParaRPr lang="en-US" sz="1300" dirty="0"/>
          </a:p>
        </p:txBody>
      </p:sp>
      <p:pic>
        <p:nvPicPr>
          <p:cNvPr id="24" name="Image 7" descr="Warning">    </p:cNvPr>
          <p:cNvPicPr>
            <a:picLocks noChangeAspect="1"/>
          </p:cNvPicPr>
          <p:nvPr/>
        </p:nvPicPr>
        <p:blipFill>
          <a:blip r:embed="rId8"/>
          <a:srcRect l="0" r="0" t="0" b="0"/>
          <a:stretch/>
        </p:blipFill>
        <p:spPr>
          <a:xfrm>
            <a:off x="6426200" y="3501231"/>
            <a:ext cx="228600" cy="228600"/>
          </a:xfrm>
          <a:prstGeom prst="rect">
            <a:avLst/>
          </a:prstGeom>
        </p:spPr>
      </p:pic>
      <p:sp>
        <p:nvSpPr>
          <p:cNvPr id="25" name="Text 15"/>
          <p:cNvSpPr/>
          <p:nvPr/>
        </p:nvSpPr>
        <p:spPr>
          <a:xfrm>
            <a:off x="6756400" y="3499991"/>
            <a:ext cx="341322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You can’t trace requests across agents</a:t>
            </a:r>
            <a:endParaRPr lang="en-US" sz="1300" dirty="0"/>
          </a:p>
        </p:txBody>
      </p:sp>
      <p:sp>
        <p:nvSpPr>
          <p:cNvPr id="26" name="Shape 16"/>
          <p:cNvSpPr/>
          <p:nvPr/>
        </p:nvSpPr>
        <p:spPr>
          <a:xfrm>
            <a:off x="812800" y="4213721"/>
            <a:ext cx="10566400" cy="1628279"/>
          </a:xfrm>
          <a:prstGeom prst="roundRect">
            <a:avLst>
              <a:gd name="adj" fmla="val 7800"/>
            </a:avLst>
          </a:prstGeom>
          <a:solidFill>
            <a:srgbClr val="141B2D"/>
          </a:solidFill>
          <a:ln/>
        </p:spPr>
      </p:sp>
      <p:sp>
        <p:nvSpPr>
          <p:cNvPr id="27" name="Text 17"/>
          <p:cNvSpPr/>
          <p:nvPr/>
        </p:nvSpPr>
        <p:spPr>
          <a:xfrm>
            <a:off x="1041400" y="4391521"/>
            <a:ext cx="104124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B"/>
                </a:solidFill>
                <a:latin typeface="IBM Plex Sans" pitchFamily="34" charset="0"/>
                <a:ea typeface="IBM Plex Sans" pitchFamily="34" charset="-122"/>
                <a:cs typeface="IBM Plex Sans" pitchFamily="34" charset="-120"/>
              </a:rPr>
              <a:t>OPEN CHALLENGES</a:t>
            </a:r>
            <a:endParaRPr lang="en-US" sz="1200" dirty="0"/>
          </a:p>
        </p:txBody>
      </p:sp>
      <p:pic>
        <p:nvPicPr>
          <p:cNvPr id="28" name="Image 8" descr="Lock">    </p:cNvPr>
          <p:cNvPicPr>
            <a:picLocks noChangeAspect="1"/>
          </p:cNvPicPr>
          <p:nvPr/>
        </p:nvPicPr>
        <p:blipFill>
          <a:blip r:embed="rId9"/>
          <a:srcRect l="0" r="0" t="-12" b="-12"/>
          <a:stretch/>
        </p:blipFill>
        <p:spPr>
          <a:xfrm>
            <a:off x="1041400" y="4719141"/>
            <a:ext cx="203150" cy="228600"/>
          </a:xfrm>
          <a:prstGeom prst="rect">
            <a:avLst/>
          </a:prstGeom>
        </p:spPr>
      </p:pic>
      <p:sp>
        <p:nvSpPr>
          <p:cNvPr id="29" name="Text 18"/>
          <p:cNvSpPr/>
          <p:nvPr/>
        </p:nvSpPr>
        <p:spPr>
          <a:xfrm>
            <a:off x="1346150" y="4719141"/>
            <a:ext cx="305226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8"/>
                </a:solidFill>
                <a:latin typeface="IBM Plex Sans" pitchFamily="34" charset="0"/>
                <a:ea typeface="IBM Plex Sans" pitchFamily="34" charset="-122"/>
                <a:cs typeface="IBM Plex Sans" pitchFamily="34" charset="-120"/>
              </a:rPr>
              <a:t>Treat remote agent output as untrusted input</a:t>
            </a:r>
            <a:endParaRPr lang="en-US" sz="1300" dirty="0"/>
          </a:p>
        </p:txBody>
      </p:sp>
      <p:pic>
        <p:nvPicPr>
          <p:cNvPr id="30" name="Image 9" descr="Search">    </p:cNvPr>
          <p:cNvPicPr>
            <a:picLocks noChangeAspect="1"/>
          </p:cNvPicPr>
          <p:nvPr/>
        </p:nvPicPr>
        <p:blipFill>
          <a:blip r:embed="rId10"/>
          <a:srcRect l="0" r="0" t="0" b="0"/>
          <a:stretch/>
        </p:blipFill>
        <p:spPr>
          <a:xfrm>
            <a:off x="4461917" y="4719141"/>
            <a:ext cx="228600" cy="228600"/>
          </a:xfrm>
          <a:prstGeom prst="rect">
            <a:avLst/>
          </a:prstGeom>
        </p:spPr>
      </p:pic>
      <p:sp>
        <p:nvSpPr>
          <p:cNvPr id="31" name="Text 19"/>
          <p:cNvSpPr/>
          <p:nvPr/>
        </p:nvSpPr>
        <p:spPr>
          <a:xfrm>
            <a:off x="4792117" y="4719141"/>
            <a:ext cx="30903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8"/>
                </a:solidFill>
                <a:latin typeface="IBM Plex Sans" pitchFamily="34" charset="0"/>
                <a:ea typeface="IBM Plex Sans" pitchFamily="34" charset="-122"/>
                <a:cs typeface="IBM Plex Sans" pitchFamily="34" charset="-120"/>
              </a:rPr>
              <a:t>Trace one request across many agents</a:t>
            </a:r>
            <a:endParaRPr lang="en-US" sz="1300" dirty="0"/>
          </a:p>
        </p:txBody>
      </p:sp>
      <p:pic>
        <p:nvPicPr>
          <p:cNvPr id="32" name="Image 10" descr="Verified">    </p:cNvPr>
          <p:cNvPicPr>
            <a:picLocks noChangeAspect="1"/>
          </p:cNvPicPr>
          <p:nvPr/>
        </p:nvPicPr>
        <p:blipFill>
          <a:blip r:embed="rId11"/>
          <a:srcRect l="0" r="0" t="0" b="0"/>
          <a:stretch/>
        </p:blipFill>
        <p:spPr>
          <a:xfrm>
            <a:off x="7882483" y="4719141"/>
            <a:ext cx="228600" cy="228600"/>
          </a:xfrm>
          <a:prstGeom prst="rect">
            <a:avLst/>
          </a:prstGeom>
        </p:spPr>
      </p:pic>
      <p:sp>
        <p:nvSpPr>
          <p:cNvPr id="33" name="Text 20"/>
          <p:cNvSpPr/>
          <p:nvPr/>
        </p:nvSpPr>
        <p:spPr>
          <a:xfrm>
            <a:off x="8212683" y="4719141"/>
            <a:ext cx="316651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8"/>
                </a:solidFill>
                <a:latin typeface="IBM Plex Sans" pitchFamily="34" charset="0"/>
                <a:ea typeface="IBM Plex Sans" pitchFamily="34" charset="-122"/>
                <a:cs typeface="IBM Plex Sans" pitchFamily="34" charset="-120"/>
              </a:rPr>
              <a:t>Registries and trust are still maturing</a:t>
            </a:r>
            <a:endParaRPr lang="en-US" sz="1300" dirty="0"/>
          </a:p>
        </p:txBody>
      </p:sp>
      <p:sp>
        <p:nvSpPr>
          <p:cNvPr id="34" name="Text 21"/>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5" name="Text 22"/>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1869480"/>
            <a:ext cx="60695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KEY TAKEAWAYS</a:t>
            </a:r>
            <a:endParaRPr lang="en-US" sz="1200" dirty="0"/>
          </a:p>
        </p:txBody>
      </p:sp>
      <p:sp>
        <p:nvSpPr>
          <p:cNvPr id="3" name="Text 1"/>
          <p:cNvSpPr/>
          <p:nvPr>
            <p:ph type="title"/>
          </p:nvPr>
        </p:nvSpPr>
        <p:spPr>
          <a:xfrm>
            <a:off x="812800" y="2159000"/>
            <a:ext cx="6069584"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EFE8"/>
                </a:solidFill>
                <a:latin typeface="Space Grotesk" pitchFamily="34" charset="0"/>
                <a:ea typeface="Space Grotesk" pitchFamily="34" charset="-122"/>
                <a:cs typeface="Space Grotesk" pitchFamily="34" charset="-120"/>
              </a:rPr>
              <a:t>Three things to remember</a:t>
            </a:r>
            <a:endParaRPr lang="en-US" sz="3200" dirty="0"/>
          </a:p>
        </p:txBody>
      </p:sp>
      <p:sp>
        <p:nvSpPr>
          <p:cNvPr id="4" name="Text 2"/>
          <p:cNvSpPr/>
          <p:nvPr/>
        </p:nvSpPr>
        <p:spPr>
          <a:xfrm>
            <a:off x="812800" y="288032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1</a:t>
            </a:r>
            <a:endParaRPr lang="en-US" sz="2200" dirty="0"/>
          </a:p>
        </p:txBody>
      </p:sp>
      <p:sp>
        <p:nvSpPr>
          <p:cNvPr id="5" name="Text 3"/>
          <p:cNvSpPr/>
          <p:nvPr/>
        </p:nvSpPr>
        <p:spPr>
          <a:xfrm>
            <a:off x="1270000" y="2880320"/>
            <a:ext cx="559866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DE2EA"/>
                </a:solidFill>
                <a:latin typeface="IBM Plex Sans" pitchFamily="34" charset="0"/>
                <a:ea typeface="IBM Plex Sans" pitchFamily="34" charset="-122"/>
                <a:cs typeface="IBM Plex Sans" pitchFamily="34" charset="-120"/>
              </a:rPr>
              <a:t>MCP</a:t>
            </a:r>
            <a:r>
              <a:rPr lang="en-US" sz="1500" dirty="0">
                <a:solidFill>
                  <a:srgbClr val="DDE2EA"/>
                </a:solidFill>
                <a:latin typeface="IBM Plex Sans" pitchFamily="34" charset="0"/>
                <a:ea typeface="IBM Plex Sans" pitchFamily="34" charset="-122"/>
                <a:cs typeface="IBM Plex Sans" pitchFamily="34" charset="-120"/>
              </a:rPr>
              <a:t> connects an agent to its tools. </a:t>
            </a:r>
            <a:r>
              <a:rPr lang="en-US" sz="1500" b="1" dirty="0">
                <a:solidFill>
                  <a:srgbClr val="DDE2EA"/>
                </a:solidFill>
                <a:latin typeface="IBM Plex Sans" pitchFamily="34" charset="0"/>
                <a:ea typeface="IBM Plex Sans" pitchFamily="34" charset="-122"/>
                <a:cs typeface="IBM Plex Sans" pitchFamily="34" charset="-120"/>
              </a:rPr>
              <a:t>A2A</a:t>
            </a:r>
            <a:r>
              <a:rPr lang="en-US" sz="1500" dirty="0">
                <a:solidFill>
                  <a:srgbClr val="DDE2EA"/>
                </a:solidFill>
                <a:latin typeface="IBM Plex Sans" pitchFamily="34" charset="0"/>
                <a:ea typeface="IBM Plex Sans" pitchFamily="34" charset="-122"/>
                <a:cs typeface="IBM Plex Sans" pitchFamily="34" charset="-120"/>
              </a:rPr>
              <a:t> connects agents to each other. Real systems use both.</a:t>
            </a:r>
            <a:endParaRPr lang="en-US" sz="1500" dirty="0"/>
          </a:p>
        </p:txBody>
      </p:sp>
      <p:sp>
        <p:nvSpPr>
          <p:cNvPr id="6" name="Text 4"/>
          <p:cNvSpPr/>
          <p:nvPr/>
        </p:nvSpPr>
        <p:spPr>
          <a:xfrm>
            <a:off x="812800" y="366772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2</a:t>
            </a:r>
            <a:endParaRPr lang="en-US" sz="2200" dirty="0"/>
          </a:p>
        </p:txBody>
      </p:sp>
      <p:sp>
        <p:nvSpPr>
          <p:cNvPr id="7" name="Text 5"/>
          <p:cNvSpPr/>
          <p:nvPr/>
        </p:nvSpPr>
        <p:spPr>
          <a:xfrm>
            <a:off x="1270000" y="3667720"/>
            <a:ext cx="559866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DE2EA"/>
                </a:solidFill>
                <a:latin typeface="IBM Plex Sans" pitchFamily="34" charset="0"/>
                <a:ea typeface="IBM Plex Sans" pitchFamily="34" charset="-122"/>
                <a:cs typeface="IBM Plex Sans" pitchFamily="34" charset="-120"/>
              </a:rPr>
              <a:t>The </a:t>
            </a:r>
            <a:r>
              <a:rPr lang="en-US" sz="1500" b="1" dirty="0">
                <a:solidFill>
                  <a:srgbClr val="DDE2EA"/>
                </a:solidFill>
                <a:latin typeface="IBM Plex Sans" pitchFamily="34" charset="0"/>
                <a:ea typeface="IBM Plex Sans" pitchFamily="34" charset="-122"/>
                <a:cs typeface="IBM Plex Sans" pitchFamily="34" charset="-120"/>
              </a:rPr>
              <a:t>Agent Card</a:t>
            </a:r>
            <a:r>
              <a:rPr lang="en-US" sz="1500" dirty="0">
                <a:solidFill>
                  <a:srgbClr val="DDE2EA"/>
                </a:solidFill>
                <a:latin typeface="IBM Plex Sans" pitchFamily="34" charset="0"/>
                <a:ea typeface="IBM Plex Sans" pitchFamily="34" charset="-122"/>
                <a:cs typeface="IBM Plex Sans" pitchFamily="34" charset="-120"/>
              </a:rPr>
              <a:t> is the contract: discover, authenticate, then delegate a task — not a function call.</a:t>
            </a:r>
            <a:endParaRPr lang="en-US" sz="1500" dirty="0"/>
          </a:p>
        </p:txBody>
      </p:sp>
      <p:sp>
        <p:nvSpPr>
          <p:cNvPr id="8" name="Text 6"/>
          <p:cNvSpPr/>
          <p:nvPr/>
        </p:nvSpPr>
        <p:spPr>
          <a:xfrm>
            <a:off x="812800" y="445512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3</a:t>
            </a:r>
            <a:endParaRPr lang="en-US" sz="2200" dirty="0"/>
          </a:p>
        </p:txBody>
      </p:sp>
      <p:sp>
        <p:nvSpPr>
          <p:cNvPr id="9" name="Text 7"/>
          <p:cNvSpPr/>
          <p:nvPr/>
        </p:nvSpPr>
        <p:spPr>
          <a:xfrm>
            <a:off x="1270000" y="4455120"/>
            <a:ext cx="559866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DE2EA"/>
                </a:solidFill>
                <a:latin typeface="IBM Plex Sans" pitchFamily="34" charset="0"/>
                <a:ea typeface="IBM Plex Sans" pitchFamily="34" charset="-122"/>
                <a:cs typeface="IBM Plex Sans" pitchFamily="34" charset="-120"/>
              </a:rPr>
              <a:t>ACP lives on inside A2A</a:t>
            </a:r>
            <a:r>
              <a:rPr lang="en-US" sz="1500" dirty="0">
                <a:solidFill>
                  <a:srgbClr val="DDE2EA"/>
                </a:solidFill>
                <a:latin typeface="IBM Plex Sans" pitchFamily="34" charset="0"/>
                <a:ea typeface="IBM Plex Sans" pitchFamily="34" charset="-122"/>
                <a:cs typeface="IBM Plex Sans" pitchFamily="34" charset="-120"/>
              </a:rPr>
              <a:t> — one open standard, now in the Agentic AI Foundation with MCP.</a:t>
            </a:r>
            <a:endParaRPr lang="en-US" sz="1500" dirty="0"/>
          </a:p>
        </p:txBody>
      </p:sp>
      <p:sp>
        <p:nvSpPr>
          <p:cNvPr id="10" name="Shape 8"/>
          <p:cNvSpPr/>
          <p:nvPr/>
        </p:nvSpPr>
        <p:spPr>
          <a:xfrm>
            <a:off x="7321550" y="2915940"/>
            <a:ext cx="0" cy="1026120"/>
          </a:xfrm>
          <a:prstGeom prst="line">
            <a:avLst/>
          </a:prstGeom>
          <a:noFill/>
          <a:ln w="12700">
            <a:solidFill>
              <a:srgbClr val="2C3650"/>
            </a:solidFill>
            <a:prstDash val="solid"/>
          </a:ln>
        </p:spPr>
      </p:sp>
      <p:sp>
        <p:nvSpPr>
          <p:cNvPr id="11" name="Text 9"/>
          <p:cNvSpPr/>
          <p:nvPr/>
        </p:nvSpPr>
        <p:spPr>
          <a:xfrm>
            <a:off x="7734300" y="2915940"/>
            <a:ext cx="3754247"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2EFE8"/>
                </a:solidFill>
                <a:latin typeface="Space Grotesk" pitchFamily="34" charset="0"/>
                <a:ea typeface="Space Grotesk" pitchFamily="34" charset="-122"/>
                <a:cs typeface="Space Grotesk" pitchFamily="34" charset="-120"/>
              </a:rPr>
              <a:t>Questions?</a:t>
            </a:r>
            <a:endParaRPr lang="en-US" sz="4400" dirty="0"/>
          </a:p>
        </p:txBody>
      </p:sp>
      <p:sp>
        <p:nvSpPr>
          <p:cNvPr id="12" name="Text 10"/>
          <p:cNvSpPr/>
          <p:nvPr/>
        </p:nvSpPr>
        <p:spPr>
          <a:xfrm>
            <a:off x="7734300" y="3657600"/>
            <a:ext cx="375424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6C6"/>
                </a:solidFill>
                <a:latin typeface="IBM Plex Sans" pitchFamily="34" charset="0"/>
                <a:ea typeface="IBM Plex Sans" pitchFamily="34" charset="-122"/>
                <a:cs typeface="IBM Plex Sans" pitchFamily="34" charset="-120"/>
              </a:rPr>
              <a:t>Thank you · 감사합니다</a:t>
            </a:r>
            <a:endParaRPr lang="en-US" sz="1600" dirty="0"/>
          </a:p>
        </p:txBody>
      </p:sp>
    </p:spTree>
  </p:cSld>
  <p:clrMapOvr>
    <a:masterClrMapping/>
  </p:clrMapOvr>
</p:sld>
</file>

<file path=ppt/theme/theme1.xml><?xml version="1.0" encoding="utf-8"?>
<a:theme xmlns:a="http://schemas.openxmlformats.org/drawingml/2006/main" name="Agent Communication: A2A &amp; ACP">
  <a:themeElements>
    <a:clrScheme name="Agent Communication: A2A &amp; ACP">
      <a:dk1>
        <a:srgbClr val="141B2D"/>
      </a:dk1>
      <a:lt1>
        <a:srgbClr val="F5F3EE"/>
      </a:lt1>
      <a:dk2>
        <a:srgbClr val="4C515D"/>
      </a:dk2>
      <a:lt2>
        <a:srgbClr val="DFDDDB"/>
      </a:lt2>
      <a:accent1>
        <a:srgbClr val="1F4F9E"/>
      </a:accent1>
      <a:accent2>
        <a:srgbClr val="B9531E"/>
      </a:accent2>
      <a:accent3>
        <a:srgbClr val="8F3F15"/>
      </a:accent3>
      <a:accent4>
        <a:srgbClr val="2F6FD1"/>
      </a:accent4>
      <a:accent5>
        <a:srgbClr val="F08A4B"/>
      </a:accent5>
      <a:accent6>
        <a:srgbClr val="33405A"/>
      </a:accent6>
      <a:hlink>
        <a:srgbClr val="0563C1"/>
      </a:hlink>
      <a:folHlink>
        <a:srgbClr val="954F72"/>
      </a:folHlink>
    </a:clrScheme>
    <a:fontScheme name="Agent Communication: A2A &amp; ACP">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Communication: A2A &amp; ACP</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2026-10-25T05:22:34Z</dcterms:created>
  <dcterms:modified xsi:type="dcterms:W3CDTF">2026-10-25T05:22:34Z</dcterms:modified>
</cp:coreProperties>
</file>