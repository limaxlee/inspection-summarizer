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Space Grotesk" pitchFamily="34" charset="0"/>
      <p:regular r:id="rId23"/>
      <p:bold r:id="rId24"/>
    </p:embeddedFont>
    <p:embeddedFont>
      <p:font typeface="JetBrains Mono" panose="02000009000000000000" pitchFamily="49"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[한국어] 안녕하세요. [이름]입니다. 지금부터 에이전트 커뮤니케이션에 대해 발표하겠습니다. 오늘은 주로 A2A, 즉 Agent2Agent 프로토콜을 중심으로 말씀드리고, ACP에 대해서도 함께 다루겠습니다. 그럼 시작하겠습니다. [English] Hello, I’m [name]. Now I’ll present on agent communication. Today I’ll mainly talk about A2A, the Agent2Agent protocol, and I’ll also cover ACP.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먼저 가장 기본적인 질문부터 시작하겠습니다. 에이전트는 왜 서로 대화해야 할까요? 요즘 에이전트는 혼자서도 많은 일을 합니다. 문서를 읽고, API를 호출하고, 결정도 내립니다. 하지만 에이전트가 혼자 일하면 자주 생기는 문제가 있습니다. 이 문제를 ‘silo trap’이라고 합니다. 오늘 발표 내내 사용할 예시로 이 문제를 설명해 보겠습니다. 여기 왼쪽을 보시면, 고객이 Sales Agent에게 요청을 합니다. “내일까지 노트북 100대 배송해 주세요.” Sales Agent는 스토어 플랫폼에 있습니다. 자기 데이터에는 재고가 100대로 나와서, 고객에게 바로 “내일 100대 배송 확정”이라고 답합니다. 하지만 이것은 오래된 정보입니다. 가운데 창고 시스템의 Inventory Agent는 실제 재고가 20대뿐이라는 것을 알고 있습니다. 그리고 오른쪽 배송 플랫폼의 Shipping Agent는 내일 일정이 이미 꽉 찬 것을 봅니다. 그래서 배송 가능한 날짜는 내일이 아니라 다음 주입니다. 결과를 보시죠. 각 에이전트는 자기 boundary 안에서 실수 없이 올바르게 판단했습니다. 그런데 결국 고객은 지킬 수 없는 약속을 받았습니다. 이것이 바로 silo trap입니다. 조직에서 말하는 silo mentality와 같은 문제입니다. 문제는 reasoning이 아닙니다. 서로 대화하지 못하는 것이 문제입니다. 아래 문장처럼, 에이전트는 이미 생각할 수 있습니다. 이제는 대화해야 합니다. 그래서 이 문제를 해결하기 위해 A2A가 만들어졌습니다. [English] Let’s start with the most basic question. Why do agents need to talk to each other? Agents today do a lot on their own. They read documents, call APIs, and make decisions. But when agents work alone, a common problem appears. We call it the silo trap. Let me explain it with the example I’ll use throughout the talk. On the left, a customer makes a request to the Sales Agent: “Please deliver 100 laptops by tomorrow.” The Sales Agent lives on the store platform. Its data shows 100 in stock, so it immediately tells the customer: “Confirmed, 100 for tomorrow.” But that information is outdated. In the middle, the Inventory Agent in the warehouse system knows there are actually only 20. And on the right, the Shipping Agent on the delivery platform sees that tomorrow is fully booked. So the earliest delivery date is next week, not tomorrow. Look at the result. Each agent decided correctly, without mistakes, inside its own boundary. But in the end, the customer got a promise no one can keep. This is the silo trap — the same problem as the silo mentality we talk about in organizations. The problem isn’t reasoning. The problem is that they can’t talk to each other. As the line at the bottom says: agents can already think. Now they need to talk. And A2A was created to solve exactly this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그렇다면 이 문제를 어떻게 해결할 수 있을까요? 여기서 A2A가 등장합니다. A2A는 Agent2Agent 프로토콜입니다. 한 에이전트가 다른 에이전트를 찾고, 일을 맡기고, 결과를 받는 방법을 정의한 open standard입니다. 오른쪽 그림을 보시면, 앞에서 본 세 에이전트가 그대로 있습니다. 하지만 이제 에이전트들은 서로 대화합니다. Sales Agent는 약속하기 전에, A2A로 Inventory Agent와 Shipping Agent에게 먼저 확인합니다. 그래서 고객은 정확한 답을 받습니다. “20대는 다음 주 화요일에 도착하고, 나머지 80대는 백오더로 처리됩니다.” 고객이 원한 답은 아니지만, 지킬 수 있는 약속입니다. 왼쪽에는 A2A의 주요 특징 네 가지를 정리했습니다. 첫째, Framework-agnostic입니다. Google ADK나 LangGraph 등 어떤 스택이든 상관없습니다. A2A 프로토콜만 지원하면, 어떤 에이전트와도 대화할 수 있습니다. 둘째, Opaque by design입니다. 쉽게 말해 blackbox 협업입니다. 에이전트는 Task와 결과만 공유합니다. 시스템 프롬프트, 메모리, 도구, 내부 데이터베이스는 공개하지 않습니다. 다른 팀이나 다른 회사와 협업할 때 매우 중요합니다. 셋째, 익숙한 웹 기술을 사용합니다. HTTP, JSON-RPC, 그리고 스트리밍을 위한 SSE입니다. 그래서 새로운 인프라가 필요 없습니다. 넷째, 개방형이고 벤더 중립적입니다. A2A는 2025년에 Google이 처음 만들었고, 같은 해 6월 Linux Foundation에 기증했습니다. 이때 AWS, Microsoft, Salesforce, SAP, ServiceNow, Cisco 같은 기업들이 창립 멤버로 함께 참여했습니다. 지금은 150개가 넘는 조직이 A2A를 지원하고 있습니다. 그리고 올해 8월부터는 MCP와 함께 Agentic AI Foundation에 속해 있습니다. 즉, A2A는 한 회사의 제품이 아니라, 업계가 함께 만드는 industry infrastructure입니다. [English] So how can we solve this problem? This is where A2A comes in. A2A is the Agent2Agent protocol. It’s an open standard that defines how one agent finds another, hands it work, and gets results back. On the right, the same three agents are still here. But now they talk to each other. Before promising anything, the Sales Agent checks with the Inventory Agent and the Shipping Agent over A2A. So the customer gets an accurate answer: “20 arrive next Tuesday, and the other 80 will be on backorder.” Not the answer they wanted, but a promise we can keep. On the left are A2A’s four main features. First, framework-agnostic. Google ADK, LangGraph — any stack works. If it supports the A2A protocol, it can talk to any agent. Second, opaque by design — in simple terms, black-box collaboration. Agents share only tasks and results. System prompts, memory, tools and internal databases stay private. That’s very important when working with other teams or companies. Third, it uses familiar web technology: HTTP, JSON-RPC, and SSE for streaming. So no new infrastructure is needed. Fourth, it’s open and vendor-neutral. Google first created A2A in 2025 and donated it to the Linux Foundation that June. Companies like AWS, Microsoft, Salesforce, SAP, ServiceNow and Cisco joined as founding members. Today, more than 150 organizations support A2A. And since this August, it sits in the Agentic AI Foundation together with MCP. In short, A2A isn’t one company’s product — it’s industry infrastructure built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[한국어] 이제 A2A의 기본 구성 요소를 설명하겠습니다. 먼저 A2A에 누가 참여하는지부터 보겠습니다. A2A에는 세 가지 핵심 역할이 있습니다. 왼쪽 첫 번째 actor는 User입니다. User는 목표를 가진 주체입니다. 보통은 사람이지만, 자동화 서비스일 수도 있습니다. 우리 예시에서는 노트북 100대를 원하는 고객입니다. 가운데 카드는 A2A Client, 또는 Client Agent입니다. Coordinator나 personal assistant라고 생각하시면 됩니다. 사용자를 대신해서 목표를 작은 작업으로 나누고, A2A로 다른 에이전트에게 맡깁니다. 우리 예시에서는 Sales Agent입니다. 오른쪽 카드는 A2A Server, 또는 Remote Agent입니다. 전문가 역할입니다. A2A 엔드포인트를 제공하고, A2A Client로부터 Task를 받아 처리한 뒤 결과를 돌려줍니다. 우리 예시에서는 Inventory Agent와 Shipping Agent입니다. 이 카드만 어두운 색인 이유는 블랙박스라는 뜻입니다. Sales Agent는 Inventory Agent의 내부를 알 필요가 없습니다. 어떤 모델을 쓰는지, 프롬프트가 무엇인지, 어떤 DB를 쓰는지 몰라도 됩니다. 그리고 아래 파란 박스를 보시면, 이 역할들은 고정되지 않습니다. Client와 Server는 에이전트의 종류가 아니라, 한 번의 communication에서의 관계입니다. Sales Agent가 재고를 문의할 때, Inventory Agent는 Server입니다. 하지만 재고가 부족해서 Supplier Agent에게 재고 보충을 주문할 때는, Inventory Agent가 Client가 됩니다. 그래서 실제 시스템은 위아래 구조가 아닙니다. 누구든 서로에게 일을 맡길 수 있는 동료 네트워크가 됩니다. [English] Now let me explain A2A’s basic building blocks. First, let’s see who takes part in A2A. A2A has three core roles. The first actor on the left is the User — the one who has the goal. Usually a person, but it can also be an automated service. In our example, it’s the customer who wants 100 laptops. The middle card is the A2A Client, or Client Agent. Think of it as a coordinator or personal assistant. It splits the user’s goal into smaller tasks and hands them to other agents over A2A. In our example, the Sales Agent. The card on the right is the A2A Server, or Remote Agent — the specialist. It provides an A2A endpoint, receives tasks from the A2A Client, processes them, and returns results. In our example, the Inventory Agent and the Shipping Agent. This card is dark because it’s a black box. The Sales Agent doesn’t need to know the Inventory Agent’s internals — which model, which prompts, or which DB. And in the blue box at the bottom: these roles are not fixed. Client and server aren’t types of agents; they describe the relationship in one communication. When the Sales Agent asks about stock, the Inventory Agent is the server. But when stock runs low and it places a restock order with the Supplier Agent, the Inventory Agent becomes the client. So a real system isn’t a top-down hierarchy. It’s a network of peers that can hand work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A2A 요청 흐름으로 넘어가기 전에, 에이전트가 주고받는 네 가지 객체를 알아 두면 좋습니다. 이 네 단어만 기억하시면 뒷부분이 훨씬 쉬워집니다. 각 카드 아래에는 노트북 주문 예시를 넣었습니다. 첫 번째는 Message입니다. 대화의 한 턴입니다. 모든 Message에는 역할이 있습니다. Client 쪽에서 보내면 “user”, Server 쪽에서 보내면 “agent”입니다. 예시를 보시면, Sales Agent가 Inventory Agent에게 “X1 노트북 100대 예약해 주세요”라고 보냅니다. Sales도 에이전트이지만, 이 Message의 역할은 user입니다. 역할은 사람인지가 아니라 방향을 뜻합니다. 두 번째는 Part입니다. Message 안의 실제 내용입니다. 텍스트, 파일, JSON 데이터가 될 수 있습니다. 하나의 Message에 여러 Part를 담을 수 있습니다. 예시처럼, 위 Message에는 요청 문장인 텍스트와, 제품 X1·수량 100이라는 데이터가 함께 들어 있습니다. 세 번째는 Task입니다. 가장 중요한 개념입니다. Task는 상태를 가진 작업 단위입니다. Task ID, 상태, 이력이 있습니다. 예시에서는 Inventory Agent가 Task T-481을 만들었고, 지금 상태는 working입니다. Client Agent는 Task를 확인하거나, 업데이트를 받거나, 취소할 수 있습니다. 이것이 일반 함수 호출과의 큰 차이입니다. 함수를 호출하는 것이 아니라, 일을 맡기는 것입니다. 네 번째는 Artifact입니다. Task가 만들어 낸 결과물입니다. 보고서, 계획, 데이터 같은 것입니다. 예시에서는 예약 확인 R-2041과 백오더 B-118이 Artifact입니다. Artifact도 Part로 구성됩니다. 이제 아래쪽 Task lifecycle을 보겠습니다. Task는 submitted로 시작해서 working을 거쳐, 보통 completed로 끝납니다. failed, canceled, rejected로 끝날 수도 있습니다. rejected는 에이전트가 작업을 아예 거절한 경우입니다. 그리고 주황색으로 표시한 두 가지 일시 정지, 즉 paused 상태가 있습니다. input-required는 추가 정보가 필요할 때, auth-required는 추가 인증이 필요할 때입니다. 이때 Task는 기다렸다가, Client가 응답하면 다시 working으로 돌아갑니다. input-required는 잠시 후 노트북 예시에서 다시 보겠습니다. [English] Before moving to the A2A request flow, it helps to know the four objects agents exchange. Remember these four words, and the rest gets much easier. Under each card, I’ve put an example from the laptop order. First, Message — one turn in the conversation. Every message has a role: “user” when sent from the client side, “agent” from the server side. In the example, the Sales Agent sends the Inventory Agent: “Please reserve 100 X1 laptops.” Sales is an agent too, but this message’s role is user. The role means direction, not whether it’s a human. Second, Part — the actual content inside a message. It can be text, a file, or JSON data. One message can hold several parts. As in the example, the message above contains text — the request sentence — and data: product X1, quantity 100. Third, Task — the most important concept. A task is a stateful unit of work with a task ID, a status and a history. In the example, the Inventory Agent created task T-481, and its status is now working. The client agent can check the task, receive updates, or cancel it. That’s the big difference from a normal function call: you’re not calling a function, you’re handing off work. Fourth, Artifact — the result a task produces, like a report, a plan or data. In the example, reservation R-2041 and backorder B-118 are the artifacts. Artifacts are also made of parts. Now the task lifecycle at the bottom. A task starts as submitted, moves to working, and usually ends as completed. It can also end as failed, canceled or rejected. Rejected means the agent refused the job entirely. And there are two paused states, shown in orange. input-required means more information is needed; auth-required means extra authentication is needed. The task waits, and when the client answers, it goes back to working. We’ll see input-required again in the laptop example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[한국어] 에이전트가 A2A 대화에 참여하려면 두 가지를 알려야 합니다. 무엇을 할 수 있는지, 그리고 어떻게 연결하는지입니다. 먼저 무엇을 할 수 있는지부터 보겠습니다. A2A에서는 이것을 Skill로 설명합니다. 왼쪽 첫 번째 항목처럼, Skill은 에이전트가 제공하는 하나의 구체적인 작업입니다. 재고 조회처럼 간단할 수도 있고, 재고 예약과 백오더 생성처럼 여러 단계일 수도 있습니다. 보통 에이전트 하나에 Skill이 여러 개 있습니다. 두 번째 항목이 흥미롭습니다. Skill은 LLM이 읽도록 작성됩니다. 오른쪽 카드를 보시면, Inventory Agent의 ‘창고 재고 확인’ Skill이 있습니다. ID는 check_stock입니다. 그리고 설명, 태그, 예시 프롬프트가 있습니다. 예시는 “노트북 재고가 몇 대 남았나요?”입니다. Sales Agent의 모델은 어느 에이전트에게 물어볼지 정할 때, 바로 이 설명과 예시를 읽습니다. MCP에서 모델이 도구 설명을 읽는 것과 같은 방식입니다. 그래서 Skill 설명을 명확하게 쓰는 것이 중요합니다. 설명이 모호하면 선택되지 않거나, 잘못된 작업에 선택될 수 있습니다. 세 번째 항목은 입력과 출력 형식입니다. 카드 아래쪽을 보시면, 이 Skill은 텍스트를 받고 텍스트나 JSON으로 답합니다. 그래서 Client는 요청을 보내기 전에 어떤 형식을 쓸지 알 수 있습니다. 마지막으로 아래 참고 박스입니다. ‘skills’라는 단어는 다른 곳에서도 쓰입니다. 예를 들어 SKILL.md 파일로 에이전트에게 작업 방법을 알려 주는 방식이 있습니다. A2A의 Skill은 다릅니다. 에이전트가 불러오는 지침이 아니라, 다른 에이전트에게 공개하는 기능입니다. [English] To join an A2A conversation, an agent must share two things: what it can do, and how to reach it. Let’s start with what it can do. In A2A, that’s described as a Skill. As the first point says, a skill is one specific job the agent offers. It can be simple, like a stock lookup, or multi-step, like reserving stock and creating a backorder. An agent usually has several skills. The second point is interesting: skills are written for an LLM to read. On the right is the Inventory Agent’s “Check warehouse stock” skill. Its ID is check_stock, and it has a description, tags and an example prompt: “How many laptops are left?” When the Sales Agent’s model decides whom to ask, it reads exactly these descriptions and examples — just like a model reads tool descriptions in MCP. So clear skill descriptions matter. A vague one may never be chosen, or be chosen for the wrong job. The third point is input and output formats. At the bottom of the card, this skill takes text and answers in text or JSON, so the client knows the format before sending. Finally, the note box. The word “skills” is used elsewhere too — for example, SKILL.md files that give an agent instructions. An A2A skill is different: it’s not instructions the agent loads, but a capability it shows to other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[한국어] Skill을 정의했다면, 이제 그것을 Agent Card에 담아 공개합니다. Agent Card는 에이전트의 공개 명함이라고 생각하시면 됩니다. 기술적으로는 작은 JSON 문서입니다. 보통 에이전트 도메인의 표준 경로에 있습니다. 바로 /.well-known/agent-card.json입니다. 2025년 자료에는 agent.json이라는 예전 이름도 나오지만, 지금 표준은 agent-card.json입니다. 왼쪽에 정리한 것처럼, Agent Card는 세 가지 질문에 답합니다. 첫째, 무엇을 하는가입니다. 이름, 설명, 버전, 제공자, 그리고 Skill 목록이 들어 있습니다. 오른쪽 카드를 보시면, Warehouse Inventory Agent 1.0.0 버전이고, Skill이 두 개 있습니다. 재고 확인, 그리고 재고 예약 및 백오더입니다. 둘째, 어디에 있는가입니다. 실제로 요청을 보낼 서비스 엔드포인트가 적혀 있습니다. 카드 위쪽의 이 주소입니다. 셋째, 어떻게 통신하는가입니다. 지원하는 전송 방식이 있습니다. JSON-RPC, gRPC, HTTP+JSON입니다. 그리고 선택 기능도 있습니다. 여기 파란 배지를 보시면, Streaming과 Push notifications를 지원하고, Extended card도 있습니다. 보안 방식도 적혀 있습니다. 이 에이전트는 OAuth 2.0과 OpenID Connect를 사용합니다. Extended card를 잠깐 설명드리겠습니다. 공개 카드는 누구나 읽을 수 있습니다. 로그인 방법을 알려면 먼저 카드를 읽어야 하기 때문입니다. 그래서 모든 정보를 공개 카드에 넣지는 않습니다. 인증을 마친 Client에게는 추가 정보가 담긴 Extended card를 보여 줄 수 있습니다. 예를 들어 내부 파트너에게만 공개하는 Skill입니다. 정리하면, Agent Card는 에이전트 간의 계약서입니다. 이후의 모든 과정은 이 카드를 읽는 것에서 시작합니다. [English] Once skills are defined, they’re published in an Agent Card. Think of it as the agent’s public business card. Technically, it’s a small JSON document at a standard path on the agent’s domain: /.well-known/agent-card.json. Older 2025 material uses agent.json, but agent-card.json is the current standard. As listed on the left, the card answers three questions. First, what does it do? Name, description, version, provider and its list of skills. On the right is the Warehouse Inventory Agent, version 1.0.0, with two skills: check stock, and reserve and backorder stock. Second, where does it live? The service endpoint where requests are sent — this address at the top of the card. Third, how do I talk to it? The supported transports — JSON-RPC, gRPC and HTTP+JSON — and optional features. These blue badges show it supports streaming and push notifications, and has an extended card. It also lists security: OAuth 2.0 and OpenID Connect. A quick word on the extended card. The public card must be readable by anyone, because a client has to read it to learn how to log in. So not everything goes on it. After authentication, a client can see an extended card with more details, such as skills only for internal partners. In short, the Agent Card is the contract between agents. Everything that follows starts from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이제 한 에이전트가 다른 에이전트에게 도움을 요청할 때, 실제로 어떤 일이 일어나는지 보겠습니다. 오른쪽 위를 보시면, 요청 과정을 세 단계로 나눴습니다. Discover, Authenticate, Interact입니다. 하나씩 보겠습니다. 첫 번째 단계는 Discovery, 즉 탐색입니다. 함께 일하기 전에 Client는 Server를 찾고, Agent Card를 읽어야 합니다. 가운데 그림이 가장 간단한 경우입니다. Sales Agent가 Inventory Agent의 표준 주소로 GET 요청을 보냅니다. 그러면 Agent Card가 돌아옵니다. 이 문서 하나로 Sales는 Skill, 엔드포인트, 보안 방식, 지원 기능을 바로 알 수 있습니다. 누구인지뿐 아니라, 어떻게 함께 일할지까지 알려 주는 명함입니다. 그런데 Client는 처음에 어디를 찾아봐야 할까요? 아래에 세 가지 방법이 있습니다. 왼쪽은 Well-known URI입니다. 공개된 정문이라고 할 수 있습니다. 도메인을 알고 있다면 표준 경로에서 카드를 요청하면 됩니다. 공개 에이전트나 파트너용 에이전트에 적합합니다. 가운데는 Curated registry입니다. 사내 전화번호부와 비슷합니다. 여러 에이전트의 Agent Card를 중앙 카탈로그에 모아 두고, Skill이나 태그로 검색합니다. 에이전트가 많은 기업이나 마켓플레이스에 적합합니다. 참고로 A2A는 카드 형식은 표준화했지만, Registry 운영 방식은 아직 업계에서 정리되는 중입니다. 오른쪽은 Direct configuration입니다. 저장된 단축 번호라고 생각하시면 됩니다. 설정 파일, 환경 변수, 내부 API에 카드나 URL을 직접 넣습니다. 단순하고 예측 가능해서, 밀결합된 시스템이나 로컬 개발에 적합합니다. 실제로는 이 방법들을 섞어서 씁니다. 개발 중에는 Direct configuration을 쓰고, 에이전트가 많아지면 Registry로 옮기는 경우가 많습니다. [English] Now let’s see what actually happens when one agent asks another for help. In the top right, I’ve split the process into three phases: Discover, Authenticate and Interact. Let’s go one by one. Phase one is discovery. Before working together, the client must find the server and read its Agent Card. The middle diagram shows the simplest case. Sales sends a GET request to Inventory’s standard address, and the Agent Card comes back. From this one document, Sales learns the skills, endpoint, security and capabilities — a business card that tells you who they are and how to work with them. But where does the client look first? Below are three options. On the left, the well-known URI — the public front door. If you know the domain, request the card at the standard path. Good for public or partner agents. In the middle, a curated registry — like a company phone directory. Agent Cards are collected in a central catalog and searched by skill or tag. Good for large companies or marketplaces. Note that A2A standardizes the card format, but how registries work is still being shaped. On the right, direct configuration — a saved speed-dial. The card or URL is set in config files, environment variables or an internal API. Simple and predictable; good for tightly coupled systems and local development. In practice, teams mix these: direct configuration during development, then a registry as the number of agents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두 번째 단계는 Authentication, 즉 인증입니다. Client는 Agent Card를 읽고, Server가 원하는 보안 방식을 알게 됐습니다. 이제 자신이 누구인지 증명해야 합니다. 위쪽의 네 단계를 따라가 보겠습니다. 1번, Card 확인입니다. Agent Card의 보안 섹션에서 어떤 방식을 허용하는지 확인합니다. 예를 들어 OAuth 2.0이나 OpenID Connect입니다. 2번, 토큰 발급입니다. 여기가 중요합니다. 토큰은 상대 에이전트에게서 받지 않습니다. 회사의 Identity Provider에서 받습니다. 우리가 SSO에 쓰는 바로 그 시스템입니다. 보통 JWT 같은 토큰을 받습니다. 3번, 토큰과 함께 호출합니다. 토큰은 일반 웹 API처럼 매 요청의 HTTP 헤더에 담깁니다. A2A 메시지 안에는 넣지 않습니다. 그래서 신원 정보와 대화 내용이 깔끔하게 분리됩니다. 4번, 검증과 권한 판단입니다. Server는 토큰을 검증하고, 이 Client가 무엇을 할 수 있는지 스스로 결정합니다. 인증을 통과했다고 해서 모든 것을 할 수 있는 것은 아닙니다. 권한 판단은 여전히 Server의 책임입니다. 아래 파란 박스에는 기억하실 세 가지를 정리했습니다. 첫째, 분리형 구조입니다. 에이전트마다 비밀 키를 하드코딩하지 않습니다. 이미 운영 중인 Identity Provider를 재사용하니까, 관리와 감사가 훨씬 쉽습니다. 둘째, 익숙한 방식입니다. API Key, OAuth 2.0, OpenID Connect, mTLS입니다. 보안팀이 새로 배울 것이 거의 없습니다. 셋째, Extended Card입니다. 앞에서 말씀드린 것처럼, 인증 후에는 공개 카드에 없는 추가 Skill을 볼 수 있습니다. 이렇게 카드를 읽고 토큰을 받았으면, 이제 실제 작업을 할 준비가 됐습니다. [English] Phase two is authentication. The client has read the Agent Card and knows which security the server expects. Now it must prove who it is. Let’s follow the four steps at the top. Step 1, read the card. The card’s security section shows which methods are accepted — for example, OAuth 2.0 or OpenID Connect. Step 2, get a token. This is important: the token doesn’t come from the other agent. It comes from the company’s identity provider — the same system we use for SSO. Usually it’s a token like a JWT. Step 3, call with the token. Like any web API, the token goes in the HTTP header of each request, not inside the A2A message. Identity and conversation content stay cleanly separated. Step 4, verify and decide. The server validates the token and decides for itself what this client may do. Being authenticated doesn’t mean being allowed to do everything — authorization is still the server’s job. The blue box at the bottom has three things to remember. First, it’s decoupled. No secret keys hard-coded per agent; we reuse the identity provider we already run, so management and auditing are much easier. Second, familiar methods: API keys, OAuth 2.0, OpenID Connect and mTLS. Little new for the security team to learn. Third, the extended card. After authentication, a client can see extra skills not on the public card. With the card read and a token in hand, we’re ready for the actual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30초) [한국어] 세 번째 단계는 Interaction입니다. 실제로 일이 처리되는 단계입니다. A2A에는 세 가지 상호작용 방식이 있습니다. 어떤 방식을 지원하는지는 이미 Agent Card에서 확인했습니다. 왼쪽 첫 번째는 Request / response입니다. Send message를 사용합니다. Client가 메시지를 보내고 답을 기다립니다. 여기서 많이 놓치는 부분이 있습니다. 응답이 항상 Task일 필요는 없습니다. 아래 예시처럼 “X1 노트북 재고는?” 같은 간단한 질문이면, Server는 그냥 Message로 “20대 남음”이라고 답할 수 있습니다. 추적할 Task가 없습니다. 하지만 실제 작업이 필요하면 Task를 돌려주고, Client는 진행 상황을 확인할 수 있습니다. 간단한 답인지, 추적할 작업인지는 Server가 결정합니다. 가운데는 Streaming입니다. Stream message를 사용합니다. 연결을 유지한 채, Server가 SSE로 실시간 업데이트를 보냅니다. 회색 박스의 이벤트 흐름을 보시죠. 먼저 Task가 submitted로 돌아옵니다. 작업이 접수됐다는 뜻입니다. 다음은 working 상태입니다. 그리고 결과가 준비되는 대로 하나씩 옵니다. Artifact A는 재고 확인, Artifact B는 백오더 계획입니다. 마지막으로 completed가 오고 스트림이 닫힙니다. 사용자가 화면에서 진행 상황을 볼 때 아주 유용합니다. 오른쪽은 Push notifications입니다. 몇 시간, 혹은 밤새 걸리는 작업도 있습니다. 그동안 연결을 계속 열어 두는 것은 비효율적입니다. 그래서 Client는 Task와 함께 webhook URL을 남기고 연결을 끊습니다. 작업이 끝나는 등 중요한 변화가 생기면, Server가 그 webhook을 호출합니다. 그러면 Client가 최종 결과를 가져갑니다. 정리하면 이렇습니다. 빠른 조회는 Request / response, 지켜보는 긴 작업은 Streaming, 아무도 기다리지 않는 긴 작업은 Push notifications입니다. [English] Phase three is interaction — where the work actually gets done. A2A has three ways to interact, and the Agent Card already told us which ones are supported. On the left, request / response, using Send message. The client sends a message and waits. Here’s a detail people often miss: the reply doesn’t have to be a task. For a simple question like “X1 laptops in stock?”, the server can just reply with a message: “20 left.” Nothing to track. If real work is needed, it returns a task, and the client can follow its progress. The server decides which it is. In the middle, streaming, using Stream message. The connection stays open and the server sends live updates over SSE. Look at the event flow in the grey box. First the task comes back as submitted — the work was accepted. Then working. Then results arrive one by one as they’re ready: Artifact A, the stock check, and Artifact B, the backorder plan. Finally, completed closes the stream. Very useful when someone is watching the progress. On the right, push notifications. Some jobs take hours, or run overnight, and keeping a connection open is wasteful. So the client leaves a webhook URL with the task and disconnects. When something important happens, like completion, the server calls the webhook, and the client fetches the result. In short: quick lookups use request / response, watched long tasks use streaming, and long jobs nobody waits on use push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실제 협업은 질문 하나, 답 하나로 끝나지 않는 경우가 많습니다. 원격 에이전트가 일을 마치려면 추가 정보가 필요할 때가 많습니다. A2A는 이것을 input-required 상태로 처리합니다. 그리고 여기서 노트북 이야기가 해결되기 시작합니다. 왼쪽 대화를 보시죠. 맨 위에 적힌 것처럼, 이 대화는 모두 하나의 Task, T-481 안에서 일어납니다. 먼저 Sales가 Inventory에게 보냅니다. “내일 배송으로 X1 노트북 100대 예약해 주세요.” Inventory는 20대밖에 없어서 할 수 없습니다. 하지만 그냥 실패 처리하지 않습니다. 대신 Task를 input-required로 바꾸고 묻습니다. “재고는 20대입니다. 20대 예약, 80대 백오더로 할까요?” 이제 Task는 일시 정지 상태입니다. 이 결정은 Sales가 고객 대신 내리면 안 됩니다. 그래서 가운데 문장처럼, Sales는 고객에게 확인합니다. 그동안 Task는 이력을 그대로 유지한 채 기다립니다. 고객이 동의하면, Sales는 같은 Task에 답합니다. “네, 20대 예약하고 80대는 백오더로 진행해 주세요.” Inventory는 다시 working으로 돌아가서 작업을 마칩니다. 그리고 completed와 함께 Artifact를 돌려줍니다. 예약 번호와 백오더 번호입니다. 오른쪽에 기억할 세 가지를 정리했습니다. 첫째, input-required는 실패가 아니라 일시 정지입니다. Task의 ID, 이력, 진행 상황이 모두 유지됩니다. 둘째, Client는 같은 Task ID로 대화를 이어 갑니다. 그래서 원격 에이전트는 처음부터 다시 하지 않고, 멈춘 지점부터 재개합니다. 추가 인증이 필요할 때는 auth-required라는 비슷한 상태도 있습니다. 셋째, 관련된 Task들은 같은 Context ID를 공유할 수 있습니다. 주문 하나에 재고 Task, 배송 Task, 결제 Task가 있을 수 있습니다. Context ID가 이것들을 하나의 대화로 묶어 줍니다. 이것이 A2A를 단순한 API 호출이 아니라, 진짜 협업처럼 만들어 주는 부분입니다. [English] Real collaboration rarely ends with one question and one answer. A remote agent often needs more information to finish. A2A handles this with the input-required state — and here our laptop story starts to get resolved. Look at the conversation on the left. As written at the top, it all happens inside one task, T-481. First, Sales asks Inventory: “Please reserve 100 X1 laptops for delivery tomorrow.” Inventory can’t — it only has 20. But it doesn’t just fail. It switches the task to input-required and asks: “We have 20. Reserve 20 and backorder 80?” Now the task is paused. Sales shouldn’t decide this for the customer, so as the middle line says, it checks with the customer. Meanwhile, the task waits with its history intact. When the customer agrees, Sales replies on the same task: “Yes, reserve 20 and backorder 80.” Inventory goes back to working, finishes, and returns completed with an artifact: the reservation and backorder numbers. On the right are three things to remember. First, input-required is a pause, not a failure. The task keeps its ID, history and progress. Second, the client continues on the same task ID, so the agent resumes where it stopped instead of starting over. There’s a similar state, auth-required, for extra authentication. Third, related tasks can share a context ID. One order may have a stock task, a shipping task and a payment task; the context ID ties them into one conversation. This is what makes A2A feel like real collaboration, not just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이제 지금까지 본 내용을 모두 합쳐서, 노트북 주문을 처음부터 끝까지 다시 보겠습니다. 위쪽에 네 개의 레인이 있습니다. 고객, Client인 Sales Agent, 그리고 Server인 Inventory와 Shipping입니다. 오른쪽 위에 적힌 것처럼, 실선은 요청이고 점선은 응답입니다. 파란색은 Sales의 요청, 주황색은 전문 에이전트의 응답입니다. 1번, 고객이 내일까지 노트북 100대를 요청합니다. 이번에는 Sales가 바로 확정하지 않습니다. 2번, Sales가 Inventory에게 100대 예약을 요청합니다. 이 화살표 하나 뒤에는 앞에서 본 과정이 모두 있습니다. Agent Card를 찾고, Skill과 보안 방식을 확인하고, 토큰을 받은 다음 메시지를 보낸 것입니다. 3번, Inventory가 input-required로 답합니다. 재고가 20대뿐입니다. 4번과 5번, Sales가 고객에게 “20대 먼저, 80대는 나중에 괜찮으세요?”라고 묻습니다. 고객은 진행해 달라고 답합니다. 6번, Sales가 같은 Task로 20대 예약과 80대 백오더를 확정합니다. 7번, Inventory가 Task를 완료하고, 예약 정보가 담긴 Artifact를 돌려줍니다. 8번, 이제 Sales가 Shipping에게 새 Task를 보냅니다. 20대의 가장 빠른 배송일을 묻습니다. 같은 Context ID를 쓰기 때문에, 두 Task가 같은 주문이라는 것을 모두 알 수 있습니다. 9번, Shipping이 작업을 완료하고 답합니다. 다음 주 화요일입니다. 마지막 10번, Sales가 고객에게 정확한 답을 드립니다. 20대는 화요일에 도착하고, 나머지 80대는 백오더로 이어집니다. 처음 사일로 슬라이드와 비교해 보시죠. 같은 세 에이전트, 같은 데이터입니다. 하지만 이번에는 깨진 약속 대신 정확한 답을 받았습니다. 누군가 약속하기 전에, 에이전트들이 먼저 대화했기 때문입니다. [English] Let’s put everything together and replay the laptop order from start to finish. At the top are four lanes: the customer, the Sales Agent as client, and Inventory and Shipping as servers. As noted in the top right, solid lines are requests and dashed lines are replies. Blue is Sales asking; orange is the specialists answering. Step 1: the customer asks for 100 laptops by tomorrow. This time, Sales doesn’t confirm right away. Step 2: Sales asks Inventory to reserve 100. Behind this one arrow is everything we covered: finding the Agent Card, checking skills and security, getting a token, then sending the message. Step 3: Inventory replies with input-required — only 20 in stock. Steps 4 and 5: Sales asks the customer, “20 now and 80 later — is that okay?” The customer says go ahead. Step 6: Sales confirms on the same task: reserve 20, backorder 80. Step 7: Inventory completes the task and returns an artifact with the reservation details. Step 8: Sales sends a new task to Shipping, asking for the earliest delivery date for 20. Because they share a context ID, everyone knows both tasks belong to the same order. Step 9: Shipping completes and replies: next Tuesday. Step 10: Sales gives the customer an accurate answer: 20 arrive Tuesday, and the other 80 follow on backorder. Compare this with the silo slide. Same three agents, same data. But instead of a broken promise, the customer gets the truth — because the agents talked before anyone made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발표 제목에 A2A와 ACP가 함께 있습니다. 그래서 이번에는 ACP 자체를 보겠습니다. ACP는 무엇이었고, 왜 A2A로 통합됐을까요? ACP는 Agent Communication Protocol의 약자입니다. IBM Research에서 만들었고, IBM의 오픈소스 플랫폼인 BeeAI를 위해 개발됐습니다. 핵심 철학은 단순함, 그리고 로컬 환경에서도 잘 동작하는 것이었습니다. 왼쪽 네 개의 카드가 ACP의 주요 특징입니다. 첫째, REST-first입니다. 모든 에이전트는 일반 HTTP 엔드포인트로 제공됐습니다. 특별한 SDK가 필요 없었습니다. curl 같은 간단한 도구로도 대화할 수 있었습니다. 둘째, 어떤 콘텐츠든 다룰 수 있었습니다. 메시지의 각 Part에 MIME 타입을 붙였습니다. 웹에서 텍스트, 이미지, PDF를 구분하는 바로 그 방식입니다. 셋째, 동기, 비동기, 스트리밍을 모두 지원했습니다. 짧은 질문은 바로 답하고, 오래 걸리는 작업은 백그라운드에서 실행할 수 있었습니다. 넷째, Offline discovery입니다. 에이전트 설명을 에이전트 패키지 안에 함께 넣었습니다. 그래서 서버나 Registry 없이도, 폐쇄된 환경에서 에이전트를 찾을 수 있었습니다. 들어 보시면 A2A와 비슷하다고 느끼실 겁니다. 맞습니다. 그것이 오른쪽의 통합 이유입니다. 첫째, 목표가 같았습니다. ACP는 2025년 3월에, A2A는 한 달 뒤에 나왔습니다. 둘째, 표준이 둘이면 생태계가 갈라집니다. 서로 대화하지 못하는 두 진영이 생기면, 상호운용성이라는 목적과 정반대가 됩니다. 셋째, A2A는 대형 클라우드와 소프트웨어 기업들의 지지를 받고 있었습니다. 그래서 A2A로 모이는 것이 자연스러웠습니다. 넷째, ACP의 좋은 아이디어는 사라지지 않았습니다. REST 중심의 가벼운 방식은 A2A로 이어졌습니다. 지금 A2A가 HTTP+JSON 방식을 제공하는 이유 중 하나입니다. 그래서 2025년 8월, ACP는 Linux Foundation 아래에서 A2A로 통합됐습니다. 지금도 오래된 자료에서 ACP라는 이름이 보이지만, 앞으로의 표준은 A2A 하나입니다. [English] The title of this talk includes both A2A and ACP, so let’s look at ACP itself. What was it, and why did it merge into A2A? ACP stands for Agent Communication Protocol. IBM Research built it for BeeAI, IBM’s open-source platform. Its core idea was simplicity, and working well in local environments. The four cards on the left are its main features. First, REST-first. Every agent was exposed as plain HTTP endpoints. No special SDK — even a simple tool like curl could talk to it. Second, any content type. Each message part carried a MIME type — the same labels the web uses for text, images and PDFs. Third, sync, async and streaming. Quick questions got immediate answers; long jobs could run in the background. Fourth, offline discovery. The agent’s description was packaged with the agent itself, so agents could be found in closed environments without a server or registry. This may sound similar to A2A. It is — and that’s why it merged, as shown on the right. First, the same goal. ACP came out in March 2025, and A2A a month later. Second, two standards split the ecosystem — two camps that can’t talk to each other, the opposite of interoperability. Third, A2A had backing from major cloud and software companies, so it was the natural place to unite. Fourth, ACP’s good ideas lived on. Its lightweight REST approach carried into A2A — one reason A2A now offers an HTTP+JSON option. So in August 2025, ACP merged into A2A under the Linux Foundation. You’ll still see ACP in older material, but going forward, A2A is the one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방금 MCP 발표를 들으셨으니, 이런 질문이 생기실 겁니다. A2A는 MCP와 무엇이 다르고, 둘 다 필요할까요? 짧게 답하면, 둘은 서로 다른 문제를 해결합니다. 그리고 보통 둘 다 필요합니다. 왼쪽 표를 한 줄씩 보겠습니다. 대화 주체입니다. MCP는 에이전트가 도구나 데이터와 대화합니다. A2A는 에이전트가 다른 에이전트와 대화합니다. 상대방입니다. MCP의 도구는 예측 가능합니다. DB, API, 파일처럼 시킨 일을 그대로 합니다. A2A의 상대는 자율적인 동료입니다. 자기 모델로 추론하고 계획합니다. 우리 Inventory Agent처럼 다시 질문할 수도 있습니다. 그래서 방식도 다릅니다. MCP는 함수 호출에 가깝습니다. “이 SQL 쿼리 실행.” A2A는 업무 위임에 가깝습니다. “노트북 20대 예약해 주세요.” 방법은 상대 에이전트가 알아서 판단합니다. 상태도 다릅니다. MCP는 대부분 단발성 호출입니다. A2A는 앞에서 본 lifecycle을 가진 Task로 관리됩니다. 마지막은 비유입니다. MCP는 계산기를 쓰는 직원이고, A2A는 Slack으로 협업하는 두 동료입니다. 오른쪽 그림은 둘이 어떻게 함께 쓰이는지 보여 줍니다. Sales와 Inventory는 이 가로 연결, 즉 A2A로 대화합니다. 그리고 각자 자기 블랙박스 안에서는 MCP로 도구에 접근합니다. Sales는 주문 CRM을, Inventory는 창고 DB를 MCP로 사용합니다. 즉, MCP는 아래로 도구에 연결되고, A2A는 옆으로 에이전트 사이를 연결합니다. 그리고 지금은 두 프로토콜 모두 Linux Foundation의 Agentic AI Foundation에 함께 있습니다. [English] Since we just heard about MCP, you may wonder: how is A2A different, and do we need both? In short, they solve different problems, and you usually need both. Let’s go through the table row by row. Who is talking: with MCP, an agent talks to tools or data. With A2A, an agent talks to another agent. The other side: an MCP tool is predictable — a DB, an API, a file — it does exactly what it’s told. An A2A partner is an autonomous peer. It reasons and plans with its own model, and may even ask a question back, like our Inventory Agent. So the style differs. MCP is like a function call: “Run this SQL query.” A2A is like delegation: “Please reserve 20 laptops,” and the other agent decides how. State: MCP calls are mostly one-off; A2A work is managed as tasks with the lifecycle we saw. And the analogy: MCP is a worker using a calculator; A2A is two colleagues collaborating on Slack. The diagram on the right shows how they work together. Sales and Inventory talk over this horizontal link — A2A. Inside its own black box, each uses MCP for its tools: Sales for the order CRM, Inventory for the warehouse DB. So MCP goes down to the tools, and A2A goes across between agents. Both now sit together in the Linux Foundation’s Agentic AI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마무리하기 전에, A2A가 언제 적합한지 솔직하게 말씀드리겠습니다. 항상 정답은 아니기 때문입니다. 왼쪽 파란 카드부터 보겠습니다. 이런 경우에는 A2A가 적합합니다. 서로 다른 팀이나 벤더가 에이전트를 운영할 때입니다. 서로 다른 프레임워크나 클라우드에서 동작할 때입니다. 내부 구현을 비공개로 유지해야 할 때입니다. 그리고 상태 확인이나 스트리밍이 필요한 장시간 작업일 때입니다. A2A는 바로 이런 상황을 위해 만들어졌습니다. 오른쪽 주황색 카드는 신중히 검토할 경우입니다. 같은 팀이 같은 프레임워크로 모든 에이전트를 만든다면, in-process 오케스트레이션이 더 간단합니다. 하나의 프로그램이 여러 에이전트를 조율하는 방식입니다. 더 빠르고, 디버깅도 쉽습니다. 지연에 민감한 경로도 조심해야 합니다. 다른 에이전트를 호출할 때마다 네트워크 시간이 늘어납니다. 더 중요한 것은 모델 시간입니다. 상대 에이전트도 생각해야 하기 때문입니다. 비용도 마찬가지입니다. 원격 에이전트마다 각자 추론하기 때문에 비용이 빠르게 늘어납니다. 그리고 여러 에이전트에 걸친 요청을 추적할 수 없다면, 디버깅이 정말 어렵습니다. 아래 어두운 박스는 업계 전체의 남은 과제입니다. 첫째, 다른 에이전트가 보낸 내용은 신뢰할 수 없는 입력으로 다뤄야 합니다. 원격 에이전트의 출력에 우리 에이전트를 조작하는 지시가 숨어 있을 수 있습니다. 상대가 에이전트라고 해서 Prompt injection이 사라지는 것은 아닙니다. 둘째, 관측성입니다. 고객 요청 하나가 다섯 개의 블랙박스를 거친다면, 처음부터 tracing, Task ID, 로그를 잘 갖춰야 합니다. 셋째, Registry와 신뢰 체계는 아직 성숙 단계입니다. 프로토콜 자체는 안정적이지만, 주변 생태계는 아직 만들어지고 있습니다. 이것들은 A2A를 피해야 할 이유가 아닙니다. 도입할 때 미리 준비해야 할 부분입니다. [English] Before wrapping up, I want to be honest about when A2A fits — because it isn’t always the answer. Start with the blue card on the left. A2A fits when different teams or vendors run the agents; when they run on different frameworks or clouds; when internals must stay private; and when long-running work needs status updates or streaming. A2A was made for exactly these cases. The orange card on the right shows when to think carefully. If one team builds all agents in one framework, in-process orchestration is simpler — one program coordinating several agents. It’s faster and easier to debug. Be careful on latency-sensitive paths too. Each call to another agent adds network time, and more importantly, model time, because that agent has to think. Cost is similar: each remote agent runs its own reasoning, so costs grow quickly. And if you can’t trace requests across agents, debugging gets very hard. The dark box at the bottom shows open challenges for the industry. First, treat what other agents send as untrusted input. A remote agent’s output could hide instructions that manipulate your agent. Prompt injection doesn’t disappear just because the sender is an agent. Second, observability. If one customer request passes through five black boxes, you need good tracing, task IDs and logs from day one. Third, registries and trust frameworks are still maturing. The protocol is stable, but the ecosystem is still being built. These aren’t reasons to avoid A2A — they’re things to prepare for when adopting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이후 Q&amp;A) [한국어] 마지막으로 기억하실 세 가지를 정리하겠습니다. 첫째, MCP는 에이전트와 도구를 연결하고, A2A는 에이전트와 에이전트를 연결합니다. 대부분의 실제 시스템은 둘 다 사용합니다. 에이전트 안에서는 MCP, 에이전트 사이에서는 A2A입니다. 둘째, Agent Card가 계약서입니다. 흐름은 항상 같습니다. 카드를 찾고, 인증하고, Task를 맡깁니다. 그리고 기억해 주세요. 함수를 호출하는 것이 아닙니다. 생각하고 질문할 수 있는 동료에게 일을 맡기는 것입니다. 셋째, ACP는 A2A 안에서 이어지고 있습니다. 이제 에이전트 간 통신의 개방형 표준은 하나입니다. 그리고 MCP와 함께 Agentic AI Foundation에 있습니다. 처음 이야기로 돌아가 보겠습니다. 에이전트는 이미 생각할 수 있습니다. 이제 A2A로 대화할 수 있게 됐습니다. 그것이 따로 떨어진 봇들을 하나의 팀으로 만들어 줍니다. 감사합니다. 질문 있으시면 편하게 말씀해 주세요. [English] Let me finish with three things to remember. First, MCP connects agents to tools, and A2A connects agents to each other. Most real systems use both: MCP inside each agent, A2A between them. Second, the Agent Card is the contract. The flow is always the same: find the card, authenticate, then hand off a task. And remember — you’re not calling a function. You’re handing work to a peer that can think and ask questions. Third, ACP lives on inside A2A. There is now one open standard for agent communication, and it sits in the Agentic AI Foundation together with MCP. Back to where we started: agents can already think. With A2A, they can now talk — and that’s what turns isolated bots into one team. Thank you.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41B2D"/>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41B2D"/>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slideLayout" Target="../slideLayouts/slideLayout2.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pic>
        <p:nvPicPr>
          <p:cNvPr id="2" name="Image 0" descr="Three connected agent nodes">    </p:cNvPr>
          <p:cNvPicPr>
            <a:picLocks noChangeAspect="1"/>
          </p:cNvPicPr>
          <p:nvPr/>
        </p:nvPicPr>
        <p:blipFill>
          <a:blip r:embed="rId1"/>
          <a:srcRect l="0" r="0" t="0" b="0"/>
          <a:stretch/>
        </p:blipFill>
        <p:spPr>
          <a:xfrm>
            <a:off x="7493000" y="609600"/>
            <a:ext cx="3810000" cy="2540000"/>
          </a:xfrm>
          <a:prstGeom prst="rect">
            <a:avLst/>
          </a:prstGeom>
        </p:spPr>
      </p:pic>
      <p:sp>
        <p:nvSpPr>
          <p:cNvPr id="3" name="Text 0"/>
          <p:cNvSpPr/>
          <p:nvPr/>
        </p:nvSpPr>
        <p:spPr>
          <a:xfrm>
            <a:off x="812800" y="291107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Space Grotesk" pitchFamily="34" charset="0"/>
                <a:ea typeface="Space Grotesk" pitchFamily="34" charset="-122"/>
                <a:cs typeface="Space Grotesk" pitchFamily="34" charset="-120"/>
              </a:rPr>
              <a:t>SEMINAR · AGENT COMMUNICATION</a:t>
            </a:r>
            <a:endParaRPr lang="en-US" sz="1200" dirty="0"/>
          </a:p>
        </p:txBody>
      </p:sp>
      <p:sp>
        <p:nvSpPr>
          <p:cNvPr id="4" name="Text 1"/>
          <p:cNvSpPr/>
          <p:nvPr>
            <p:ph type="title"/>
          </p:nvPr>
        </p:nvSpPr>
        <p:spPr>
          <a:xfrm>
            <a:off x="812800" y="3327598"/>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2EFE8"/>
                </a:solidFill>
                <a:latin typeface="Space Grotesk" pitchFamily="34" charset="0"/>
                <a:ea typeface="Space Grotesk" pitchFamily="34" charset="-122"/>
                <a:cs typeface="Space Grotesk" pitchFamily="34" charset="-120"/>
              </a:rPr>
              <a:t>Agent Communication:</a:t>
            </a:r>
            <a:endParaRPr lang="en-US" sz="5600" dirty="0"/>
          </a:p>
          <a:p>
            <a:pPr algn="l" indent="0" marL="0">
              <a:lnSpc>
                <a:spcPts val="5880"/>
              </a:lnSpc>
              <a:buNone/>
            </a:pPr>
            <a:r>
              <a:rPr lang="en-US" sz="5600" b="1" i="0" dirty="0">
                <a:solidFill>
                  <a:srgbClr val="F08A4B"/>
                </a:solidFill>
                <a:latin typeface="Space Grotesk" pitchFamily="34" charset="0"/>
                <a:ea typeface="Space Grotesk" pitchFamily="34" charset="-122"/>
                <a:cs typeface="Space Grotesk" pitchFamily="34" charset="-120"/>
              </a:rPr>
              <a:t>A2A &amp; ACP</a:t>
            </a:r>
            <a:endParaRPr lang="en-US" sz="5600" dirty="0"/>
          </a:p>
        </p:txBody>
      </p:sp>
      <p:sp>
        <p:nvSpPr>
          <p:cNvPr id="5" name="Text 2"/>
          <p:cNvSpPr/>
          <p:nvPr/>
        </p:nvSpPr>
        <p:spPr>
          <a:xfrm>
            <a:off x="812800" y="5024239"/>
            <a:ext cx="78486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EB6C6"/>
                </a:solidFill>
                <a:latin typeface="Space Grotesk" pitchFamily="34" charset="0"/>
                <a:ea typeface="Space Grotesk" pitchFamily="34" charset="-122"/>
                <a:cs typeface="Space Grotesk" pitchFamily="34" charset="-120"/>
              </a:rPr>
              <a:t>How specialized AI agents find each other, build trust and work together as one team</a:t>
            </a:r>
            <a:endParaRPr lang="en-US" sz="1700" dirty="0"/>
          </a:p>
        </p:txBody>
      </p:sp>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Space Grotesk" pitchFamily="34" charset="0"/>
                <a:ea typeface="Space Grotesk" pitchFamily="34" charset="-122"/>
                <a:cs typeface="Space Grotesk" pitchFamily="34" charset="-120"/>
              </a:rPr>
              <a:t>[Presenter name] · [Team]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Why agents need to talk</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사일로의 함정: 각자 옳게 판단해도 결과는 틀릴 수 있습니다</a:t>
            </a:r>
            <a:endParaRPr lang="en-US" sz="1400" dirty="0"/>
          </a:p>
        </p:txBody>
      </p:sp>
      <p:sp>
        <p:nvSpPr>
          <p:cNvPr id="4" name="Shape 2"/>
          <p:cNvSpPr/>
          <p:nvPr/>
        </p:nvSpPr>
        <p:spPr>
          <a:xfrm>
            <a:off x="812800" y="1833811"/>
            <a:ext cx="2159000" cy="2936329"/>
          </a:xfrm>
          <a:prstGeom prst="roundRect">
            <a:avLst>
              <a:gd name="adj" fmla="val 5882"/>
            </a:avLst>
          </a:prstGeom>
          <a:solidFill>
            <a:srgbClr val="141B2D"/>
          </a:solidFill>
          <a:ln/>
        </p:spPr>
      </p:sp>
      <p:pic>
        <p:nvPicPr>
          <p:cNvPr id="5" name="Image 0" descr="Users">    </p:cNvPr>
          <p:cNvPicPr>
            <a:picLocks noChangeAspect="1"/>
          </p:cNvPicPr>
          <p:nvPr/>
        </p:nvPicPr>
        <p:blipFill>
          <a:blip r:embed="rId1"/>
          <a:srcRect l="0" r="0" t="0" b="0"/>
          <a:stretch/>
        </p:blipFill>
        <p:spPr>
          <a:xfrm>
            <a:off x="1041400" y="2062411"/>
            <a:ext cx="304800" cy="304800"/>
          </a:xfrm>
          <a:prstGeom prst="rect">
            <a:avLst/>
          </a:prstGeom>
        </p:spPr>
      </p:pic>
      <p:sp>
        <p:nvSpPr>
          <p:cNvPr id="6" name="Text 3"/>
          <p:cNvSpPr/>
          <p:nvPr/>
        </p:nvSpPr>
        <p:spPr>
          <a:xfrm>
            <a:off x="1041400" y="2494211"/>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EB6C6"/>
                </a:solidFill>
                <a:latin typeface="Space Grotesk" pitchFamily="34" charset="0"/>
                <a:ea typeface="Space Grotesk" pitchFamily="34" charset="-122"/>
                <a:cs typeface="Space Grotesk" pitchFamily="34" charset="-120"/>
              </a:rPr>
              <a:t>CUSTOMER</a:t>
            </a:r>
            <a:endParaRPr lang="en-US" sz="1200" dirty="0"/>
          </a:p>
        </p:txBody>
      </p:sp>
      <p:sp>
        <p:nvSpPr>
          <p:cNvPr id="7" name="Text 4"/>
          <p:cNvSpPr/>
          <p:nvPr/>
        </p:nvSpPr>
        <p:spPr>
          <a:xfrm>
            <a:off x="1041400" y="2834531"/>
            <a:ext cx="1752854"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EFE8"/>
                </a:solidFill>
                <a:latin typeface="Noto Sans KR" pitchFamily="34" charset="0"/>
                <a:ea typeface="Noto Sans KR" pitchFamily="34" charset="-122"/>
                <a:cs typeface="Noto Sans KR" pitchFamily="34" charset="-120"/>
              </a:rPr>
              <a:t>“내일까지 노트북 100대 배송해 주세요!”</a:t>
            </a:r>
            <a:endParaRPr lang="en-US" sz="1500" dirty="0"/>
          </a:p>
        </p:txBody>
      </p:sp>
      <p:sp>
        <p:nvSpPr>
          <p:cNvPr id="8" name="Text 5"/>
          <p:cNvSpPr/>
          <p:nvPr/>
        </p:nvSpPr>
        <p:spPr>
          <a:xfrm>
            <a:off x="1041400" y="4328220"/>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Sales Agent에게 요청</a:t>
            </a:r>
            <a:endParaRPr lang="en-US" sz="1200" dirty="0"/>
          </a:p>
        </p:txBody>
      </p:sp>
      <p:pic>
        <p:nvPicPr>
          <p:cNvPr id="9" name="Image 1" descr="arrow-right">    </p:cNvPr>
          <p:cNvPicPr>
            <a:picLocks noChangeAspect="1"/>
          </p:cNvPicPr>
          <p:nvPr/>
        </p:nvPicPr>
        <p:blipFill>
          <a:blip r:embed="rId2"/>
          <a:srcRect l="0" r="0" t="0" b="0"/>
          <a:stretch/>
        </p:blipFill>
        <p:spPr>
          <a:xfrm>
            <a:off x="3175000" y="3213050"/>
            <a:ext cx="355600" cy="177800"/>
          </a:xfrm>
          <a:prstGeom prst="rect">
            <a:avLst/>
          </a:prstGeom>
        </p:spPr>
      </p:pic>
      <p:sp>
        <p:nvSpPr>
          <p:cNvPr id="10" name="Shape 6"/>
          <p:cNvSpPr/>
          <p:nvPr/>
        </p:nvSpPr>
        <p:spPr>
          <a:xfrm>
            <a:off x="3736975" y="1836986"/>
            <a:ext cx="7639050" cy="2929979"/>
          </a:xfrm>
          <a:prstGeom prst="roundRect">
            <a:avLst>
              <a:gd name="adj" fmla="val 4226"/>
            </a:avLst>
          </a:prstGeom>
          <a:solidFill>
            <a:srgbClr val="FCFBF8"/>
          </a:solidFill>
          <a:ln w="6350">
            <a:solidFill>
              <a:srgbClr val="DAD6CC"/>
            </a:solidFill>
            <a:prstDash val="solid"/>
          </a:ln>
        </p:spPr>
      </p:sp>
      <p:sp>
        <p:nvSpPr>
          <p:cNvPr id="11" name="Text 7"/>
          <p:cNvSpPr/>
          <p:nvPr/>
        </p:nvSpPr>
        <p:spPr>
          <a:xfrm>
            <a:off x="3943350" y="204336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Sales Agent</a:t>
            </a:r>
            <a:endParaRPr lang="en-US" sz="1700" dirty="0"/>
          </a:p>
        </p:txBody>
      </p:sp>
      <p:sp>
        <p:nvSpPr>
          <p:cNvPr id="12" name="Text 8"/>
          <p:cNvSpPr/>
          <p:nvPr/>
        </p:nvSpPr>
        <p:spPr>
          <a:xfrm>
            <a:off x="3943350" y="236592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스토어 플랫폼</a:t>
            </a:r>
            <a:endParaRPr lang="en-US" sz="1200" dirty="0"/>
          </a:p>
        </p:txBody>
      </p:sp>
      <p:sp>
        <p:nvSpPr>
          <p:cNvPr id="13" name="Text 9"/>
          <p:cNvSpPr/>
          <p:nvPr/>
        </p:nvSpPr>
        <p:spPr>
          <a:xfrm>
            <a:off x="3943350" y="264274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보는 정보</a:t>
            </a:r>
            <a:endParaRPr lang="en-US" sz="1200" dirty="0"/>
          </a:p>
        </p:txBody>
      </p:sp>
      <p:sp>
        <p:nvSpPr>
          <p:cNvPr id="14" name="Text 10"/>
          <p:cNvSpPr/>
          <p:nvPr/>
        </p:nvSpPr>
        <p:spPr>
          <a:xfrm>
            <a:off x="3943350" y="2919561"/>
            <a:ext cx="21845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“재고 100대 있음” </a:t>
            </a:r>
            <a:r>
              <a:rPr lang="en-US" sz="1400" dirty="0">
                <a:solidFill>
                  <a:srgbClr val="B9531E"/>
                </a:solidFill>
                <a:latin typeface="Noto Sans KR" pitchFamily="34" charset="0"/>
                <a:ea typeface="Noto Sans KR" pitchFamily="34" charset="-122"/>
                <a:cs typeface="Noto Sans KR" pitchFamily="34" charset="-120"/>
              </a:rPr>
              <a:t>(오래된 정보)</a:t>
            </a:r>
            <a:endParaRPr lang="en-US" sz="1400" dirty="0"/>
          </a:p>
        </p:txBody>
      </p:sp>
      <p:sp>
        <p:nvSpPr>
          <p:cNvPr id="15" name="Text 11"/>
          <p:cNvSpPr/>
          <p:nvPr/>
        </p:nvSpPr>
        <p:spPr>
          <a:xfrm>
            <a:off x="3943350" y="348084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내린 결정</a:t>
            </a:r>
            <a:endParaRPr lang="en-US" sz="1200" dirty="0"/>
          </a:p>
        </p:txBody>
      </p:sp>
      <p:sp>
        <p:nvSpPr>
          <p:cNvPr id="16" name="Text 12"/>
          <p:cNvSpPr/>
          <p:nvPr/>
        </p:nvSpPr>
        <p:spPr>
          <a:xfrm>
            <a:off x="3943350" y="375766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“내일 100대 배송 확정”</a:t>
            </a:r>
            <a:endParaRPr lang="en-US" sz="1400" dirty="0"/>
          </a:p>
        </p:txBody>
      </p:sp>
      <p:sp>
        <p:nvSpPr>
          <p:cNvPr id="17" name="Shape 13"/>
          <p:cNvSpPr/>
          <p:nvPr/>
        </p:nvSpPr>
        <p:spPr>
          <a:xfrm>
            <a:off x="6280150" y="1840161"/>
            <a:ext cx="0" cy="2923629"/>
          </a:xfrm>
          <a:prstGeom prst="line">
            <a:avLst/>
          </a:prstGeom>
          <a:noFill/>
          <a:ln w="25400">
            <a:solidFill>
              <a:srgbClr val="B9531E"/>
            </a:solidFill>
            <a:prstDash val="dash"/>
          </a:ln>
        </p:spPr>
      </p:sp>
      <p:sp>
        <p:nvSpPr>
          <p:cNvPr id="18" name="Text 14"/>
          <p:cNvSpPr/>
          <p:nvPr/>
        </p:nvSpPr>
        <p:spPr>
          <a:xfrm>
            <a:off x="6496050" y="204336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Inventory Agent</a:t>
            </a:r>
            <a:endParaRPr lang="en-US" sz="1700" dirty="0"/>
          </a:p>
        </p:txBody>
      </p:sp>
      <p:sp>
        <p:nvSpPr>
          <p:cNvPr id="19" name="Text 15"/>
          <p:cNvSpPr/>
          <p:nvPr/>
        </p:nvSpPr>
        <p:spPr>
          <a:xfrm>
            <a:off x="6496050" y="236592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창고 시스템</a:t>
            </a:r>
            <a:endParaRPr lang="en-US" sz="1200" dirty="0"/>
          </a:p>
        </p:txBody>
      </p:sp>
      <p:sp>
        <p:nvSpPr>
          <p:cNvPr id="20" name="Text 16"/>
          <p:cNvSpPr/>
          <p:nvPr/>
        </p:nvSpPr>
        <p:spPr>
          <a:xfrm>
            <a:off x="6496050" y="264274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보는 정보</a:t>
            </a:r>
            <a:endParaRPr lang="en-US" sz="1200" dirty="0"/>
          </a:p>
        </p:txBody>
      </p:sp>
      <p:sp>
        <p:nvSpPr>
          <p:cNvPr id="21" name="Text 17"/>
          <p:cNvSpPr/>
          <p:nvPr/>
        </p:nvSpPr>
        <p:spPr>
          <a:xfrm>
            <a:off x="6496050" y="2919561"/>
            <a:ext cx="21845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“재고 20대만 남음”</a:t>
            </a:r>
            <a:endParaRPr lang="en-US" sz="1400" dirty="0"/>
          </a:p>
        </p:txBody>
      </p:sp>
      <p:sp>
        <p:nvSpPr>
          <p:cNvPr id="22" name="Text 18"/>
          <p:cNvSpPr/>
          <p:nvPr/>
        </p:nvSpPr>
        <p:spPr>
          <a:xfrm>
            <a:off x="6496050" y="323195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내린 결정</a:t>
            </a:r>
            <a:endParaRPr lang="en-US" sz="1200" dirty="0"/>
          </a:p>
        </p:txBody>
      </p:sp>
      <p:sp>
        <p:nvSpPr>
          <p:cNvPr id="23" name="Text 19"/>
          <p:cNvSpPr/>
          <p:nvPr/>
        </p:nvSpPr>
        <p:spPr>
          <a:xfrm>
            <a:off x="6496050" y="350877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“재고를 20대로 수정”</a:t>
            </a:r>
            <a:endParaRPr lang="en-US" sz="1400" dirty="0"/>
          </a:p>
        </p:txBody>
      </p:sp>
      <p:sp>
        <p:nvSpPr>
          <p:cNvPr id="24" name="Shape 20"/>
          <p:cNvSpPr/>
          <p:nvPr/>
        </p:nvSpPr>
        <p:spPr>
          <a:xfrm>
            <a:off x="8832850" y="1840161"/>
            <a:ext cx="0" cy="2923629"/>
          </a:xfrm>
          <a:prstGeom prst="line">
            <a:avLst/>
          </a:prstGeom>
          <a:noFill/>
          <a:ln w="25400">
            <a:solidFill>
              <a:srgbClr val="B9531E"/>
            </a:solidFill>
            <a:prstDash val="dash"/>
          </a:ln>
        </p:spPr>
      </p:sp>
      <p:sp>
        <p:nvSpPr>
          <p:cNvPr id="25" name="Text 21"/>
          <p:cNvSpPr/>
          <p:nvPr/>
        </p:nvSpPr>
        <p:spPr>
          <a:xfrm>
            <a:off x="9048750" y="204336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Shipping Agent</a:t>
            </a:r>
            <a:endParaRPr lang="en-US" sz="1700" dirty="0"/>
          </a:p>
        </p:txBody>
      </p:sp>
      <p:sp>
        <p:nvSpPr>
          <p:cNvPr id="26" name="Text 22"/>
          <p:cNvSpPr/>
          <p:nvPr/>
        </p:nvSpPr>
        <p:spPr>
          <a:xfrm>
            <a:off x="9048750" y="236592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배송 플랫폼</a:t>
            </a:r>
            <a:endParaRPr lang="en-US" sz="1200" dirty="0"/>
          </a:p>
        </p:txBody>
      </p:sp>
      <p:sp>
        <p:nvSpPr>
          <p:cNvPr id="27" name="Text 23"/>
          <p:cNvSpPr/>
          <p:nvPr/>
        </p:nvSpPr>
        <p:spPr>
          <a:xfrm>
            <a:off x="9048750" y="264274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보는 정보</a:t>
            </a:r>
            <a:endParaRPr lang="en-US" sz="1200" dirty="0"/>
          </a:p>
        </p:txBody>
      </p:sp>
      <p:sp>
        <p:nvSpPr>
          <p:cNvPr id="28" name="Text 24"/>
          <p:cNvSpPr/>
          <p:nvPr/>
        </p:nvSpPr>
        <p:spPr>
          <a:xfrm>
            <a:off x="9048750" y="2919561"/>
            <a:ext cx="21845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“내일 배송 일정 마감”</a:t>
            </a:r>
            <a:endParaRPr lang="en-US" sz="1400" dirty="0"/>
          </a:p>
        </p:txBody>
      </p:sp>
      <p:sp>
        <p:nvSpPr>
          <p:cNvPr id="29" name="Text 25"/>
          <p:cNvSpPr/>
          <p:nvPr/>
        </p:nvSpPr>
        <p:spPr>
          <a:xfrm>
            <a:off x="9048750" y="323195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내린 결정</a:t>
            </a:r>
            <a:endParaRPr lang="en-US" sz="1200" dirty="0"/>
          </a:p>
        </p:txBody>
      </p:sp>
      <p:sp>
        <p:nvSpPr>
          <p:cNvPr id="30" name="Text 26"/>
          <p:cNvSpPr/>
          <p:nvPr/>
        </p:nvSpPr>
        <p:spPr>
          <a:xfrm>
            <a:off x="9048750" y="350877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“다음 주로 배송 예약”</a:t>
            </a:r>
            <a:endParaRPr lang="en-US" sz="1400" dirty="0"/>
          </a:p>
        </p:txBody>
      </p:sp>
      <p:sp>
        <p:nvSpPr>
          <p:cNvPr id="31" name="Shape 27"/>
          <p:cNvSpPr/>
          <p:nvPr/>
        </p:nvSpPr>
        <p:spPr>
          <a:xfrm>
            <a:off x="812800" y="5024140"/>
            <a:ext cx="10566400" cy="817860"/>
          </a:xfrm>
          <a:prstGeom prst="roundRect">
            <a:avLst>
              <a:gd name="adj" fmla="val 15528"/>
            </a:avLst>
          </a:prstGeom>
          <a:solidFill>
            <a:srgbClr val="141B2D"/>
          </a:solidFill>
          <a:ln/>
        </p:spPr>
      </p:sp>
      <p:sp>
        <p:nvSpPr>
          <p:cNvPr id="32" name="Text 28"/>
          <p:cNvSpPr/>
          <p:nvPr/>
        </p:nvSpPr>
        <p:spPr>
          <a:xfrm>
            <a:off x="1066800" y="5201940"/>
            <a:ext cx="49707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DE2EA"/>
                </a:solidFill>
                <a:latin typeface="Noto Sans KR" pitchFamily="34" charset="0"/>
                <a:ea typeface="Noto Sans KR" pitchFamily="34" charset="-122"/>
                <a:cs typeface="Noto Sans KR" pitchFamily="34" charset="-120"/>
              </a:rPr>
              <a:t>각 에이전트는 올바르게 판단했지만, 고객은 지킬 수 없는 약속을 받았습니다.</a:t>
            </a:r>
            <a:endParaRPr lang="en-US" sz="1300" dirty="0"/>
          </a:p>
        </p:txBody>
      </p:sp>
      <p:sp>
        <p:nvSpPr>
          <p:cNvPr id="33" name="Text 29"/>
          <p:cNvSpPr/>
          <p:nvPr/>
        </p:nvSpPr>
        <p:spPr>
          <a:xfrm>
            <a:off x="7121178" y="5290840"/>
            <a:ext cx="4124143" cy="309860"/>
          </a:xfrm>
          <a:prstGeom prst="rect">
            <a:avLst/>
          </a:prstGeom>
          <a:noFill/>
          <a:ln/>
        </p:spPr>
        <p:txBody>
          <a:bodyPr wrap="none" lIns="0" tIns="0" rIns="0" bIns="0" rtlCol="0" anchor="t">
            <a:normAutofit/>
          </a:bodyPr>
          <a:lstStyle/>
          <a:p>
            <a:pPr algn="l" indent="0" marL="0">
              <a:lnSpc>
                <a:spcPts val="2240"/>
              </a:lnSpc>
              <a:buNone/>
            </a:pPr>
            <a:r>
              <a:rPr lang="en-US" sz="1600" b="1" dirty="0">
                <a:solidFill>
                  <a:srgbClr val="F08A4B"/>
                </a:solidFill>
                <a:latin typeface="Space Grotesk" pitchFamily="34" charset="0"/>
                <a:ea typeface="Space Grotesk" pitchFamily="34" charset="-122"/>
                <a:cs typeface="Space Grotesk" pitchFamily="34" charset="-120"/>
              </a:rPr>
              <a:t>Agents can think. Now they need to talk.</a:t>
            </a:r>
            <a:endParaRPr lang="en-US" sz="1600" dirty="0"/>
          </a:p>
        </p:txBody>
      </p:sp>
      <p:sp>
        <p:nvSpPr>
          <p:cNvPr id="34" name="Text 30"/>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5" name="Text 31"/>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Enter A2A</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에이전트가 대등한 파트너로 협업하기 위한 개방형 표준</a:t>
            </a:r>
            <a:endParaRPr lang="en-US" sz="1400" dirty="0"/>
          </a:p>
        </p:txBody>
      </p:sp>
      <p:sp>
        <p:nvSpPr>
          <p:cNvPr id="4" name="Text 2"/>
          <p:cNvSpPr/>
          <p:nvPr/>
        </p:nvSpPr>
        <p:spPr>
          <a:xfrm>
            <a:off x="812800" y="288538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5" name="Text 3"/>
          <p:cNvSpPr/>
          <p:nvPr/>
        </p:nvSpPr>
        <p:spPr>
          <a:xfrm>
            <a:off x="1092200" y="2885380"/>
            <a:ext cx="531078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Framework-agnostic:</a:t>
            </a:r>
            <a:r>
              <a:rPr lang="en-US" sz="1500" dirty="0">
                <a:solidFill>
                  <a:srgbClr val="33405A"/>
                </a:solidFill>
                <a:latin typeface="Noto Sans KR" pitchFamily="34" charset="0"/>
                <a:ea typeface="Noto Sans KR" pitchFamily="34" charset="-122"/>
                <a:cs typeface="Noto Sans KR" pitchFamily="34" charset="-120"/>
              </a:rPr>
              <a:t> 어떤 스택이든 하나의 프로토콜</a:t>
            </a:r>
            <a:endParaRPr lang="en-US" sz="1500" dirty="0"/>
          </a:p>
        </p:txBody>
      </p:sp>
      <p:sp>
        <p:nvSpPr>
          <p:cNvPr id="6" name="Text 4"/>
          <p:cNvSpPr/>
          <p:nvPr/>
        </p:nvSpPr>
        <p:spPr>
          <a:xfrm>
            <a:off x="812800" y="342513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7" name="Text 5"/>
          <p:cNvSpPr/>
          <p:nvPr/>
        </p:nvSpPr>
        <p:spPr>
          <a:xfrm>
            <a:off x="1092200" y="3425130"/>
            <a:ext cx="5381625"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Opaque by design:</a:t>
            </a:r>
            <a:r>
              <a:rPr lang="en-US" sz="1500" dirty="0">
                <a:solidFill>
                  <a:srgbClr val="33405A"/>
                </a:solidFill>
                <a:latin typeface="Noto Sans KR" pitchFamily="34" charset="0"/>
                <a:ea typeface="Noto Sans KR" pitchFamily="34" charset="-122"/>
                <a:cs typeface="Noto Sans KR" pitchFamily="34" charset="-120"/>
              </a:rPr>
              <a:t> 프롬프트·메모리·데이터는 비공개</a:t>
            </a:r>
            <a:endParaRPr lang="en-US" sz="1500" dirty="0"/>
          </a:p>
        </p:txBody>
      </p:sp>
      <p:sp>
        <p:nvSpPr>
          <p:cNvPr id="8" name="Text 6"/>
          <p:cNvSpPr/>
          <p:nvPr/>
        </p:nvSpPr>
        <p:spPr>
          <a:xfrm>
            <a:off x="812800" y="396488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9" name="Text 7"/>
          <p:cNvSpPr/>
          <p:nvPr/>
        </p:nvSpPr>
        <p:spPr>
          <a:xfrm>
            <a:off x="1092200" y="3964880"/>
            <a:ext cx="378803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익숙한 웹 기술:</a:t>
            </a:r>
            <a:r>
              <a:rPr lang="en-US" sz="1500" dirty="0">
                <a:solidFill>
                  <a:srgbClr val="33405A"/>
                </a:solidFill>
                <a:latin typeface="Noto Sans KR" pitchFamily="34" charset="0"/>
                <a:ea typeface="Noto Sans KR" pitchFamily="34" charset="-122"/>
                <a:cs typeface="Noto Sans KR" pitchFamily="34" charset="-120"/>
              </a:rPr>
              <a:t> HTTP, JSON-RPC, SSE</a:t>
            </a:r>
            <a:endParaRPr lang="en-US" sz="1500" dirty="0"/>
          </a:p>
        </p:txBody>
      </p:sp>
      <p:sp>
        <p:nvSpPr>
          <p:cNvPr id="10" name="Text 8"/>
          <p:cNvSpPr/>
          <p:nvPr/>
        </p:nvSpPr>
        <p:spPr>
          <a:xfrm>
            <a:off x="812800" y="450463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11" name="Text 9"/>
          <p:cNvSpPr/>
          <p:nvPr/>
        </p:nvSpPr>
        <p:spPr>
          <a:xfrm>
            <a:off x="1092200" y="4504630"/>
            <a:ext cx="492043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개방형·벤더 중립:</a:t>
            </a:r>
            <a:r>
              <a:rPr lang="en-US" sz="1500" dirty="0">
                <a:solidFill>
                  <a:srgbClr val="33405A"/>
                </a:solidFill>
                <a:latin typeface="Noto Sans KR" pitchFamily="34" charset="0"/>
                <a:ea typeface="Noto Sans KR" pitchFamily="34" charset="-122"/>
                <a:cs typeface="Noto Sans KR" pitchFamily="34" charset="-120"/>
              </a:rPr>
              <a:t> Linux Foundation, MCP와 함께</a:t>
            </a:r>
            <a:endParaRPr lang="en-US" sz="1500" dirty="0"/>
          </a:p>
        </p:txBody>
      </p:sp>
      <p:sp>
        <p:nvSpPr>
          <p:cNvPr id="12" name="Shape 10"/>
          <p:cNvSpPr/>
          <p:nvPr/>
        </p:nvSpPr>
        <p:spPr>
          <a:xfrm>
            <a:off x="6632575" y="2110135"/>
            <a:ext cx="4743450" cy="1172170"/>
          </a:xfrm>
          <a:prstGeom prst="roundRect">
            <a:avLst>
              <a:gd name="adj" fmla="val 10564"/>
            </a:avLst>
          </a:prstGeom>
          <a:solidFill>
            <a:srgbClr val="FCE9DD"/>
          </a:solidFill>
          <a:ln w="6350">
            <a:solidFill>
              <a:srgbClr val="F1C9B0"/>
            </a:solidFill>
            <a:prstDash val="solid"/>
          </a:ln>
        </p:spPr>
      </p:sp>
      <p:sp>
        <p:nvSpPr>
          <p:cNvPr id="13" name="Text 11"/>
          <p:cNvSpPr/>
          <p:nvPr/>
        </p:nvSpPr>
        <p:spPr>
          <a:xfrm>
            <a:off x="6838950" y="2291110"/>
            <a:ext cx="44606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고객에게 전달된 답변</a:t>
            </a:r>
            <a:endParaRPr lang="en-US" sz="1200" dirty="0"/>
          </a:p>
        </p:txBody>
      </p:sp>
      <p:sp>
        <p:nvSpPr>
          <p:cNvPr id="14" name="Text 12"/>
          <p:cNvSpPr/>
          <p:nvPr/>
        </p:nvSpPr>
        <p:spPr>
          <a:xfrm>
            <a:off x="6838950" y="2567930"/>
            <a:ext cx="4460621"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“20대는 다음 주 화요일 도착, 나머지 80대는 백오더로 처리됩니다.”</a:t>
            </a:r>
            <a:endParaRPr lang="en-US" sz="1400" dirty="0"/>
          </a:p>
        </p:txBody>
      </p:sp>
      <p:sp>
        <p:nvSpPr>
          <p:cNvPr id="15" name="Shape 13"/>
          <p:cNvSpPr/>
          <p:nvPr/>
        </p:nvSpPr>
        <p:spPr>
          <a:xfrm>
            <a:off x="8991600" y="3285480"/>
            <a:ext cx="25400" cy="254000"/>
          </a:xfrm>
          <a:prstGeom prst="rect">
            <a:avLst/>
          </a:prstGeom>
          <a:solidFill>
            <a:srgbClr val="2F6FD1"/>
          </a:solidFill>
          <a:ln/>
        </p:spPr>
      </p:sp>
      <p:sp>
        <p:nvSpPr>
          <p:cNvPr id="16" name="Shape 14"/>
          <p:cNvSpPr/>
          <p:nvPr/>
        </p:nvSpPr>
        <p:spPr>
          <a:xfrm>
            <a:off x="6629400" y="3539480"/>
            <a:ext cx="4749800" cy="759420"/>
          </a:xfrm>
          <a:prstGeom prst="roundRect">
            <a:avLst>
              <a:gd name="adj" fmla="val 13379"/>
            </a:avLst>
          </a:prstGeom>
          <a:solidFill>
            <a:srgbClr val="2F6FD1"/>
          </a:solidFill>
          <a:ln/>
        </p:spPr>
      </p:sp>
      <p:sp>
        <p:nvSpPr>
          <p:cNvPr id="17" name="Text 15"/>
          <p:cNvSpPr/>
          <p:nvPr/>
        </p:nvSpPr>
        <p:spPr>
          <a:xfrm>
            <a:off x="8292430" y="3666480"/>
            <a:ext cx="142369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CFBF8"/>
                </a:solidFill>
                <a:latin typeface="Space Grotesk" pitchFamily="34" charset="0"/>
                <a:ea typeface="Space Grotesk" pitchFamily="34" charset="-122"/>
                <a:cs typeface="Space Grotesk" pitchFamily="34" charset="-120"/>
              </a:rPr>
              <a:t>A2A protocol</a:t>
            </a:r>
            <a:endParaRPr lang="en-US" sz="1500" dirty="0"/>
          </a:p>
        </p:txBody>
      </p:sp>
      <p:sp>
        <p:nvSpPr>
          <p:cNvPr id="18" name="Text 16"/>
          <p:cNvSpPr/>
          <p:nvPr/>
        </p:nvSpPr>
        <p:spPr>
          <a:xfrm>
            <a:off x="7745695" y="3958580"/>
            <a:ext cx="25171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3ECFB"/>
                </a:solidFill>
                <a:latin typeface="Noto Sans KR" pitchFamily="34" charset="0"/>
                <a:ea typeface="Noto Sans KR" pitchFamily="34" charset="-122"/>
                <a:cs typeface="Noto Sans KR" pitchFamily="34" charset="-120"/>
              </a:rPr>
              <a:t>공통의 탐색 · Task · 메시지 규약</a:t>
            </a:r>
            <a:endParaRPr lang="en-US" sz="1200" dirty="0"/>
          </a:p>
        </p:txBody>
      </p:sp>
      <p:sp>
        <p:nvSpPr>
          <p:cNvPr id="19" name="Shape 17"/>
          <p:cNvSpPr/>
          <p:nvPr/>
        </p:nvSpPr>
        <p:spPr>
          <a:xfrm>
            <a:off x="7408317" y="4298900"/>
            <a:ext cx="25400" cy="254000"/>
          </a:xfrm>
          <a:prstGeom prst="rect">
            <a:avLst/>
          </a:prstGeom>
          <a:solidFill>
            <a:srgbClr val="2F6FD1"/>
          </a:solidFill>
          <a:ln/>
        </p:spPr>
      </p:sp>
      <p:sp>
        <p:nvSpPr>
          <p:cNvPr id="20" name="Shape 18"/>
          <p:cNvSpPr/>
          <p:nvPr/>
        </p:nvSpPr>
        <p:spPr>
          <a:xfrm>
            <a:off x="8991600" y="4298900"/>
            <a:ext cx="25400" cy="254000"/>
          </a:xfrm>
          <a:prstGeom prst="rect">
            <a:avLst/>
          </a:prstGeom>
          <a:solidFill>
            <a:srgbClr val="2F6FD1"/>
          </a:solidFill>
          <a:ln/>
        </p:spPr>
      </p:sp>
      <p:sp>
        <p:nvSpPr>
          <p:cNvPr id="21" name="Shape 19"/>
          <p:cNvSpPr/>
          <p:nvPr/>
        </p:nvSpPr>
        <p:spPr>
          <a:xfrm>
            <a:off x="10574834" y="4298900"/>
            <a:ext cx="25400" cy="254000"/>
          </a:xfrm>
          <a:prstGeom prst="rect">
            <a:avLst/>
          </a:prstGeom>
          <a:solidFill>
            <a:srgbClr val="2F6FD1"/>
          </a:solidFill>
          <a:ln/>
        </p:spPr>
      </p:sp>
      <p:sp>
        <p:nvSpPr>
          <p:cNvPr id="22" name="Shape 20"/>
          <p:cNvSpPr/>
          <p:nvPr/>
        </p:nvSpPr>
        <p:spPr>
          <a:xfrm>
            <a:off x="6632575" y="4556075"/>
            <a:ext cx="1509167" cy="1009600"/>
          </a:xfrm>
          <a:prstGeom prst="roundRect">
            <a:avLst>
              <a:gd name="adj" fmla="val 9749"/>
            </a:avLst>
          </a:prstGeom>
          <a:solidFill>
            <a:srgbClr val="FCFBF8"/>
          </a:solidFill>
          <a:ln w="6350">
            <a:solidFill>
              <a:srgbClr val="DAD6CC"/>
            </a:solidFill>
            <a:prstDash val="solid"/>
          </a:ln>
        </p:spPr>
      </p:sp>
      <p:pic>
        <p:nvPicPr>
          <p:cNvPr id="23" name="Image 0" descr="Chat">    </p:cNvPr>
          <p:cNvPicPr>
            <a:picLocks noChangeAspect="1"/>
          </p:cNvPicPr>
          <p:nvPr/>
        </p:nvPicPr>
        <p:blipFill>
          <a:blip r:embed="rId1"/>
          <a:srcRect l="0" r="0" t="0" b="0"/>
          <a:stretch/>
        </p:blipFill>
        <p:spPr>
          <a:xfrm>
            <a:off x="6762750" y="4686250"/>
            <a:ext cx="228600" cy="228600"/>
          </a:xfrm>
          <a:prstGeom prst="rect">
            <a:avLst/>
          </a:prstGeom>
        </p:spPr>
      </p:pic>
      <p:sp>
        <p:nvSpPr>
          <p:cNvPr id="24" name="Text 21"/>
          <p:cNvSpPr/>
          <p:nvPr/>
        </p:nvSpPr>
        <p:spPr>
          <a:xfrm>
            <a:off x="6762750" y="4952950"/>
            <a:ext cx="129961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Sales</a:t>
            </a:r>
            <a:endParaRPr lang="en-US" sz="1300" dirty="0"/>
          </a:p>
        </p:txBody>
      </p:sp>
      <p:sp>
        <p:nvSpPr>
          <p:cNvPr id="25" name="Text 22"/>
          <p:cNvSpPr/>
          <p:nvPr/>
        </p:nvSpPr>
        <p:spPr>
          <a:xfrm>
            <a:off x="6762750" y="5222180"/>
            <a:ext cx="1299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스토어</a:t>
            </a:r>
            <a:endParaRPr lang="en-US" sz="1200" dirty="0"/>
          </a:p>
        </p:txBody>
      </p:sp>
      <p:sp>
        <p:nvSpPr>
          <p:cNvPr id="26" name="Shape 23"/>
          <p:cNvSpPr/>
          <p:nvPr/>
        </p:nvSpPr>
        <p:spPr>
          <a:xfrm>
            <a:off x="8249692" y="4556075"/>
            <a:ext cx="1509216" cy="1009600"/>
          </a:xfrm>
          <a:prstGeom prst="roundRect">
            <a:avLst>
              <a:gd name="adj" fmla="val 9749"/>
            </a:avLst>
          </a:prstGeom>
          <a:solidFill>
            <a:srgbClr val="FCFBF8"/>
          </a:solidFill>
          <a:ln w="6350">
            <a:solidFill>
              <a:srgbClr val="DAD6CC"/>
            </a:solidFill>
            <a:prstDash val="solid"/>
          </a:ln>
        </p:spPr>
      </p:sp>
      <p:pic>
        <p:nvPicPr>
          <p:cNvPr id="27" name="Image 1" descr="Database">    </p:cNvPr>
          <p:cNvPicPr>
            <a:picLocks noChangeAspect="1"/>
          </p:cNvPicPr>
          <p:nvPr/>
        </p:nvPicPr>
        <p:blipFill>
          <a:blip r:embed="rId2"/>
          <a:srcRect l="0" r="0" t="0" b="0"/>
          <a:stretch/>
        </p:blipFill>
        <p:spPr>
          <a:xfrm>
            <a:off x="8379867" y="4686250"/>
            <a:ext cx="228600" cy="228600"/>
          </a:xfrm>
          <a:prstGeom prst="rect">
            <a:avLst/>
          </a:prstGeom>
        </p:spPr>
      </p:pic>
      <p:sp>
        <p:nvSpPr>
          <p:cNvPr id="28" name="Text 24"/>
          <p:cNvSpPr/>
          <p:nvPr/>
        </p:nvSpPr>
        <p:spPr>
          <a:xfrm>
            <a:off x="8379867" y="4952950"/>
            <a:ext cx="12996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Inventory</a:t>
            </a:r>
            <a:endParaRPr lang="en-US" sz="1300" dirty="0"/>
          </a:p>
        </p:txBody>
      </p:sp>
      <p:sp>
        <p:nvSpPr>
          <p:cNvPr id="29" name="Text 25"/>
          <p:cNvSpPr/>
          <p:nvPr/>
        </p:nvSpPr>
        <p:spPr>
          <a:xfrm>
            <a:off x="8379867" y="5222180"/>
            <a:ext cx="12996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창고</a:t>
            </a:r>
            <a:endParaRPr lang="en-US" sz="1200" dirty="0"/>
          </a:p>
        </p:txBody>
      </p:sp>
      <p:sp>
        <p:nvSpPr>
          <p:cNvPr id="30" name="Shape 26"/>
          <p:cNvSpPr/>
          <p:nvPr/>
        </p:nvSpPr>
        <p:spPr>
          <a:xfrm>
            <a:off x="9866858" y="4556075"/>
            <a:ext cx="1509167" cy="1009600"/>
          </a:xfrm>
          <a:prstGeom prst="roundRect">
            <a:avLst>
              <a:gd name="adj" fmla="val 9749"/>
            </a:avLst>
          </a:prstGeom>
          <a:solidFill>
            <a:srgbClr val="FCFBF8"/>
          </a:solidFill>
          <a:ln w="6350">
            <a:solidFill>
              <a:srgbClr val="DAD6CC"/>
            </a:solidFill>
            <a:prstDash val="solid"/>
          </a:ln>
        </p:spPr>
      </p:sp>
      <p:pic>
        <p:nvPicPr>
          <p:cNvPr id="31" name="Image 2" descr="PaperPlane">    </p:cNvPr>
          <p:cNvPicPr>
            <a:picLocks noChangeAspect="1"/>
          </p:cNvPicPr>
          <p:nvPr/>
        </p:nvPicPr>
        <p:blipFill>
          <a:blip r:embed="rId3"/>
          <a:srcRect l="0" r="0" t="0" b="0"/>
          <a:stretch/>
        </p:blipFill>
        <p:spPr>
          <a:xfrm>
            <a:off x="9997033" y="4686250"/>
            <a:ext cx="228600" cy="228600"/>
          </a:xfrm>
          <a:prstGeom prst="rect">
            <a:avLst/>
          </a:prstGeom>
        </p:spPr>
      </p:pic>
      <p:sp>
        <p:nvSpPr>
          <p:cNvPr id="32" name="Text 27"/>
          <p:cNvSpPr/>
          <p:nvPr/>
        </p:nvSpPr>
        <p:spPr>
          <a:xfrm>
            <a:off x="9997033" y="4952950"/>
            <a:ext cx="129961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Shipping</a:t>
            </a:r>
            <a:endParaRPr lang="en-US" sz="1300" dirty="0"/>
          </a:p>
        </p:txBody>
      </p:sp>
      <p:sp>
        <p:nvSpPr>
          <p:cNvPr id="33" name="Text 28"/>
          <p:cNvSpPr/>
          <p:nvPr/>
        </p:nvSpPr>
        <p:spPr>
          <a:xfrm>
            <a:off x="9997033" y="5222180"/>
            <a:ext cx="1299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배송</a:t>
            </a:r>
            <a:endParaRPr lang="en-US" sz="1200" dirty="0"/>
          </a:p>
        </p:txBody>
      </p:sp>
      <p:sp>
        <p:nvSpPr>
          <p:cNvPr id="34" name="Text 29"/>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5" name="Text 30"/>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Three core actors</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A2A 협업을 구성하는 세 가지 핵심 역할</a:t>
            </a:r>
            <a:endParaRPr lang="en-US" sz="1400" dirty="0"/>
          </a:p>
        </p:txBody>
      </p:sp>
      <p:sp>
        <p:nvSpPr>
          <p:cNvPr id="4" name="Shape 2"/>
          <p:cNvSpPr/>
          <p:nvPr/>
        </p:nvSpPr>
        <p:spPr>
          <a:xfrm>
            <a:off x="815975" y="1811586"/>
            <a:ext cx="3113584" cy="2940199"/>
          </a:xfrm>
          <a:prstGeom prst="roundRect">
            <a:avLst>
              <a:gd name="adj" fmla="val 4211"/>
            </a:avLst>
          </a:prstGeom>
          <a:solidFill>
            <a:srgbClr val="FCFBF8"/>
          </a:solidFill>
          <a:ln w="6350">
            <a:solidFill>
              <a:srgbClr val="DAD6CC"/>
            </a:solidFill>
            <a:prstDash val="solid"/>
          </a:ln>
        </p:spPr>
      </p:sp>
      <p:pic>
        <p:nvPicPr>
          <p:cNvPr id="5" name="Image 0" descr="Users">    </p:cNvPr>
          <p:cNvPicPr>
            <a:picLocks noChangeAspect="1"/>
          </p:cNvPicPr>
          <p:nvPr/>
        </p:nvPicPr>
        <p:blipFill>
          <a:blip r:embed="rId1"/>
          <a:srcRect l="0" r="0" t="0" b="0"/>
          <a:stretch/>
        </p:blipFill>
        <p:spPr>
          <a:xfrm>
            <a:off x="1047750" y="2043361"/>
            <a:ext cx="279400" cy="279400"/>
          </a:xfrm>
          <a:prstGeom prst="rect">
            <a:avLst/>
          </a:prstGeom>
        </p:spPr>
      </p:pic>
      <p:sp>
        <p:nvSpPr>
          <p:cNvPr id="6" name="Text 3"/>
          <p:cNvSpPr/>
          <p:nvPr/>
        </p:nvSpPr>
        <p:spPr>
          <a:xfrm>
            <a:off x="1428750" y="2076400"/>
            <a:ext cx="80510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Space Grotesk" pitchFamily="34" charset="0"/>
                <a:ea typeface="Space Grotesk" pitchFamily="34" charset="-122"/>
                <a:cs typeface="Space Grotesk" pitchFamily="34" charset="-120"/>
              </a:rPr>
              <a:t>ACTOR 1</a:t>
            </a:r>
            <a:endParaRPr lang="en-US" sz="1200" dirty="0"/>
          </a:p>
        </p:txBody>
      </p:sp>
      <p:sp>
        <p:nvSpPr>
          <p:cNvPr id="7" name="Text 4"/>
          <p:cNvSpPr/>
          <p:nvPr/>
        </p:nvSpPr>
        <p:spPr>
          <a:xfrm>
            <a:off x="1047750" y="2411661"/>
            <a:ext cx="27295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User</a:t>
            </a:r>
            <a:endParaRPr lang="en-US" sz="1700" dirty="0"/>
          </a:p>
        </p:txBody>
      </p:sp>
      <p:sp>
        <p:nvSpPr>
          <p:cNvPr id="8" name="Text 5"/>
          <p:cNvSpPr/>
          <p:nvPr/>
        </p:nvSpPr>
        <p:spPr>
          <a:xfrm>
            <a:off x="1047750" y="2759621"/>
            <a:ext cx="272953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1"/>
                </a:solidFill>
                <a:latin typeface="Space Grotesk" pitchFamily="34" charset="0"/>
                <a:ea typeface="Space Grotesk" pitchFamily="34" charset="-122"/>
                <a:cs typeface="Space Grotesk" pitchFamily="34" charset="-120"/>
              </a:rPr>
              <a:t>Goal setter</a:t>
            </a:r>
            <a:endParaRPr lang="en-US" sz="1300" dirty="0"/>
          </a:p>
        </p:txBody>
      </p:sp>
      <p:sp>
        <p:nvSpPr>
          <p:cNvPr id="9" name="Text 6"/>
          <p:cNvSpPr/>
          <p:nvPr/>
        </p:nvSpPr>
        <p:spPr>
          <a:xfrm>
            <a:off x="1047750" y="3079651"/>
            <a:ext cx="27295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에이전트의 도움이 필요한 요청을 시작하는 사람 또는 자동화 서비스</a:t>
            </a:r>
            <a:endParaRPr lang="en-US" sz="1300" dirty="0"/>
          </a:p>
        </p:txBody>
      </p:sp>
      <p:pic>
        <p:nvPicPr>
          <p:cNvPr id="10" name="Image 1" descr="line">    </p:cNvPr>
          <p:cNvPicPr>
            <a:picLocks noChangeAspect="1"/>
          </p:cNvPicPr>
          <p:nvPr/>
        </p:nvPicPr>
        <p:blipFill>
          <a:blip r:embed="rId2"/>
          <a:srcRect l="-39" r="-39" t="0" b="0"/>
          <a:stretch/>
        </p:blipFill>
        <p:spPr>
          <a:xfrm>
            <a:off x="1047750" y="4211439"/>
            <a:ext cx="2650034" cy="6350"/>
          </a:xfrm>
          <a:prstGeom prst="rect">
            <a:avLst/>
          </a:prstGeom>
        </p:spPr>
      </p:pic>
      <p:sp>
        <p:nvSpPr>
          <p:cNvPr id="11" name="Text 7"/>
          <p:cNvSpPr/>
          <p:nvPr/>
        </p:nvSpPr>
        <p:spPr>
          <a:xfrm>
            <a:off x="1047750" y="4306689"/>
            <a:ext cx="2729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예시:</a:t>
            </a:r>
            <a:r>
              <a:rPr lang="en-US" sz="1200" dirty="0">
                <a:solidFill>
                  <a:srgbClr val="5E6573"/>
                </a:solidFill>
                <a:latin typeface="Noto Sans KR" pitchFamily="34" charset="0"/>
                <a:ea typeface="Noto Sans KR" pitchFamily="34" charset="-122"/>
                <a:cs typeface="Noto Sans KR" pitchFamily="34" charset="-120"/>
              </a:rPr>
              <a:t> 고객</a:t>
            </a:r>
            <a:endParaRPr lang="en-US" sz="1200" dirty="0"/>
          </a:p>
        </p:txBody>
      </p:sp>
      <p:pic>
        <p:nvPicPr>
          <p:cNvPr id="12" name="Image 2" descr="arrow-right">    </p:cNvPr>
          <p:cNvPicPr>
            <a:picLocks noChangeAspect="1"/>
          </p:cNvPicPr>
          <p:nvPr/>
        </p:nvPicPr>
        <p:blipFill>
          <a:blip r:embed="rId3"/>
          <a:srcRect l="0" r="0" t="0" b="0"/>
          <a:stretch/>
        </p:blipFill>
        <p:spPr>
          <a:xfrm>
            <a:off x="4085134" y="3205460"/>
            <a:ext cx="304800" cy="152400"/>
          </a:xfrm>
          <a:prstGeom prst="rect">
            <a:avLst/>
          </a:prstGeom>
        </p:spPr>
      </p:pic>
      <p:sp>
        <p:nvSpPr>
          <p:cNvPr id="13" name="Shape 8"/>
          <p:cNvSpPr/>
          <p:nvPr/>
        </p:nvSpPr>
        <p:spPr>
          <a:xfrm>
            <a:off x="4545509" y="1811586"/>
            <a:ext cx="3113633" cy="2940199"/>
          </a:xfrm>
          <a:prstGeom prst="roundRect">
            <a:avLst>
              <a:gd name="adj" fmla="val 4211"/>
            </a:avLst>
          </a:prstGeom>
          <a:solidFill>
            <a:srgbClr val="FCFBF8"/>
          </a:solidFill>
          <a:ln w="6350">
            <a:solidFill>
              <a:srgbClr val="DAD6CC"/>
            </a:solidFill>
            <a:prstDash val="solid"/>
          </a:ln>
        </p:spPr>
      </p:sp>
      <p:pic>
        <p:nvPicPr>
          <p:cNvPr id="14" name="Image 3" descr="Chat">    </p:cNvPr>
          <p:cNvPicPr>
            <a:picLocks noChangeAspect="1"/>
          </p:cNvPicPr>
          <p:nvPr/>
        </p:nvPicPr>
        <p:blipFill>
          <a:blip r:embed="rId4"/>
          <a:srcRect l="0" r="0" t="0" b="0"/>
          <a:stretch/>
        </p:blipFill>
        <p:spPr>
          <a:xfrm>
            <a:off x="4777284" y="2043361"/>
            <a:ext cx="279400" cy="279400"/>
          </a:xfrm>
          <a:prstGeom prst="rect">
            <a:avLst/>
          </a:prstGeom>
        </p:spPr>
      </p:pic>
      <p:sp>
        <p:nvSpPr>
          <p:cNvPr id="15" name="Text 9"/>
          <p:cNvSpPr/>
          <p:nvPr/>
        </p:nvSpPr>
        <p:spPr>
          <a:xfrm>
            <a:off x="5158284" y="2076400"/>
            <a:ext cx="83290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Space Grotesk" pitchFamily="34" charset="0"/>
                <a:ea typeface="Space Grotesk" pitchFamily="34" charset="-122"/>
                <a:cs typeface="Space Grotesk" pitchFamily="34" charset="-120"/>
              </a:rPr>
              <a:t>ACTOR 2</a:t>
            </a:r>
            <a:endParaRPr lang="en-US" sz="1200" dirty="0"/>
          </a:p>
        </p:txBody>
      </p:sp>
      <p:sp>
        <p:nvSpPr>
          <p:cNvPr id="16" name="Text 10"/>
          <p:cNvSpPr/>
          <p:nvPr/>
        </p:nvSpPr>
        <p:spPr>
          <a:xfrm>
            <a:off x="4777284" y="2411661"/>
            <a:ext cx="27295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A2A Client</a:t>
            </a:r>
            <a:endParaRPr lang="en-US" sz="1700" dirty="0"/>
          </a:p>
        </p:txBody>
      </p:sp>
      <p:sp>
        <p:nvSpPr>
          <p:cNvPr id="17" name="Text 11"/>
          <p:cNvSpPr/>
          <p:nvPr/>
        </p:nvSpPr>
        <p:spPr>
          <a:xfrm>
            <a:off x="4777284" y="2759621"/>
            <a:ext cx="272958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1"/>
                </a:solidFill>
                <a:latin typeface="Space Grotesk" pitchFamily="34" charset="0"/>
                <a:ea typeface="Space Grotesk" pitchFamily="34" charset="-122"/>
                <a:cs typeface="Space Grotesk" pitchFamily="34" charset="-120"/>
              </a:rPr>
              <a:t>Coordinator</a:t>
            </a:r>
            <a:endParaRPr lang="en-US" sz="1300" dirty="0"/>
          </a:p>
        </p:txBody>
      </p:sp>
      <p:sp>
        <p:nvSpPr>
          <p:cNvPr id="18" name="Text 12"/>
          <p:cNvSpPr/>
          <p:nvPr/>
        </p:nvSpPr>
        <p:spPr>
          <a:xfrm>
            <a:off x="4777284" y="3079651"/>
            <a:ext cx="272958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사용자를 대신해 목표를 나누고, A2A로 하위 작업을 위임</a:t>
            </a:r>
            <a:endParaRPr lang="en-US" sz="1300" dirty="0"/>
          </a:p>
        </p:txBody>
      </p:sp>
      <p:pic>
        <p:nvPicPr>
          <p:cNvPr id="19" name="Image 4" descr="line">    </p:cNvPr>
          <p:cNvPicPr>
            <a:picLocks noChangeAspect="1"/>
          </p:cNvPicPr>
          <p:nvPr/>
        </p:nvPicPr>
        <p:blipFill>
          <a:blip r:embed="rId5"/>
          <a:srcRect l="-39" r="-39" t="0" b="0"/>
          <a:stretch/>
        </p:blipFill>
        <p:spPr>
          <a:xfrm>
            <a:off x="4777284" y="4211439"/>
            <a:ext cx="2650083" cy="6350"/>
          </a:xfrm>
          <a:prstGeom prst="rect">
            <a:avLst/>
          </a:prstGeom>
        </p:spPr>
      </p:pic>
      <p:sp>
        <p:nvSpPr>
          <p:cNvPr id="20" name="Text 13"/>
          <p:cNvSpPr/>
          <p:nvPr/>
        </p:nvSpPr>
        <p:spPr>
          <a:xfrm>
            <a:off x="4777284" y="4306689"/>
            <a:ext cx="27295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예시:</a:t>
            </a:r>
            <a:r>
              <a:rPr lang="en-US" sz="1200" dirty="0">
                <a:solidFill>
                  <a:srgbClr val="5E6573"/>
                </a:solidFill>
                <a:latin typeface="Noto Sans KR" pitchFamily="34" charset="0"/>
                <a:ea typeface="Noto Sans KR" pitchFamily="34" charset="-122"/>
                <a:cs typeface="Noto Sans KR" pitchFamily="34" charset="-120"/>
              </a:rPr>
              <a:t> Sales Agent</a:t>
            </a:r>
            <a:endParaRPr lang="en-US" sz="1200" dirty="0"/>
          </a:p>
        </p:txBody>
      </p:sp>
      <p:pic>
        <p:nvPicPr>
          <p:cNvPr id="21" name="Image 5" descr="arrow-right">    </p:cNvPr>
          <p:cNvPicPr>
            <a:picLocks noChangeAspect="1"/>
          </p:cNvPicPr>
          <p:nvPr/>
        </p:nvPicPr>
        <p:blipFill>
          <a:blip r:embed="rId6"/>
          <a:srcRect l="0" r="0" t="0" b="0"/>
          <a:stretch/>
        </p:blipFill>
        <p:spPr>
          <a:xfrm>
            <a:off x="7814717" y="3205460"/>
            <a:ext cx="304800" cy="152400"/>
          </a:xfrm>
          <a:prstGeom prst="rect">
            <a:avLst/>
          </a:prstGeom>
        </p:spPr>
      </p:pic>
      <p:sp>
        <p:nvSpPr>
          <p:cNvPr id="22" name="Shape 14"/>
          <p:cNvSpPr/>
          <p:nvPr/>
        </p:nvSpPr>
        <p:spPr>
          <a:xfrm>
            <a:off x="8271917" y="1808411"/>
            <a:ext cx="3107283" cy="2946549"/>
          </a:xfrm>
          <a:prstGeom prst="roundRect">
            <a:avLst>
              <a:gd name="adj" fmla="val 4310"/>
            </a:avLst>
          </a:prstGeom>
          <a:solidFill>
            <a:srgbClr val="141B2D"/>
          </a:solidFill>
          <a:ln/>
        </p:spPr>
      </p:sp>
      <p:pic>
        <p:nvPicPr>
          <p:cNvPr id="23" name="Image 6" descr="Database">    </p:cNvPr>
          <p:cNvPicPr>
            <a:picLocks noChangeAspect="1"/>
          </p:cNvPicPr>
          <p:nvPr/>
        </p:nvPicPr>
        <p:blipFill>
          <a:blip r:embed="rId7"/>
          <a:srcRect l="0" r="0" t="0" b="0"/>
          <a:stretch/>
        </p:blipFill>
        <p:spPr>
          <a:xfrm>
            <a:off x="8500517" y="2037011"/>
            <a:ext cx="279400" cy="279400"/>
          </a:xfrm>
          <a:prstGeom prst="rect">
            <a:avLst/>
          </a:prstGeom>
        </p:spPr>
      </p:pic>
      <p:sp>
        <p:nvSpPr>
          <p:cNvPr id="24" name="Text 15"/>
          <p:cNvSpPr/>
          <p:nvPr/>
        </p:nvSpPr>
        <p:spPr>
          <a:xfrm>
            <a:off x="8881517" y="2070050"/>
            <a:ext cx="8348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B"/>
                </a:solidFill>
                <a:latin typeface="Space Grotesk" pitchFamily="34" charset="0"/>
                <a:ea typeface="Space Grotesk" pitchFamily="34" charset="-122"/>
                <a:cs typeface="Space Grotesk" pitchFamily="34" charset="-120"/>
              </a:rPr>
              <a:t>ACTOR 3</a:t>
            </a:r>
            <a:endParaRPr lang="en-US" sz="1200" dirty="0"/>
          </a:p>
        </p:txBody>
      </p:sp>
      <p:sp>
        <p:nvSpPr>
          <p:cNvPr id="25" name="Text 16"/>
          <p:cNvSpPr/>
          <p:nvPr/>
        </p:nvSpPr>
        <p:spPr>
          <a:xfrm>
            <a:off x="8500517" y="2405311"/>
            <a:ext cx="27295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EFE8"/>
                </a:solidFill>
                <a:latin typeface="Space Grotesk" pitchFamily="34" charset="0"/>
                <a:ea typeface="Space Grotesk" pitchFamily="34" charset="-122"/>
                <a:cs typeface="Space Grotesk" pitchFamily="34" charset="-120"/>
              </a:rPr>
              <a:t>A2A Server</a:t>
            </a:r>
            <a:endParaRPr lang="en-US" sz="1700" dirty="0"/>
          </a:p>
        </p:txBody>
      </p:sp>
      <p:sp>
        <p:nvSpPr>
          <p:cNvPr id="26" name="Text 17"/>
          <p:cNvSpPr/>
          <p:nvPr/>
        </p:nvSpPr>
        <p:spPr>
          <a:xfrm>
            <a:off x="8500517" y="2753271"/>
            <a:ext cx="272958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A8F0"/>
                </a:solidFill>
                <a:latin typeface="Space Grotesk" pitchFamily="34" charset="0"/>
                <a:ea typeface="Space Grotesk" pitchFamily="34" charset="-122"/>
                <a:cs typeface="Space Grotesk" pitchFamily="34" charset="-120"/>
              </a:rPr>
              <a:t>Remote specialist</a:t>
            </a:r>
            <a:endParaRPr lang="en-US" sz="1300" dirty="0"/>
          </a:p>
        </p:txBody>
      </p:sp>
      <p:sp>
        <p:nvSpPr>
          <p:cNvPr id="27" name="Text 18"/>
          <p:cNvSpPr/>
          <p:nvPr/>
        </p:nvSpPr>
        <p:spPr>
          <a:xfrm>
            <a:off x="8500517" y="3073301"/>
            <a:ext cx="272958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0DC"/>
                </a:solidFill>
                <a:latin typeface="Noto Sans KR" pitchFamily="34" charset="0"/>
                <a:ea typeface="Noto Sans KR" pitchFamily="34" charset="-122"/>
                <a:cs typeface="Noto Sans KR" pitchFamily="34" charset="-120"/>
              </a:rPr>
              <a:t>A2A 엔드포인트를 제공하고, Task를 처리해 결과를 반환</a:t>
            </a:r>
            <a:endParaRPr lang="en-US" sz="1300" dirty="0"/>
          </a:p>
        </p:txBody>
      </p:sp>
      <p:sp>
        <p:nvSpPr>
          <p:cNvPr id="28" name="Text 19"/>
          <p:cNvSpPr/>
          <p:nvPr/>
        </p:nvSpPr>
        <p:spPr>
          <a:xfrm>
            <a:off x="8500517" y="3657501"/>
            <a:ext cx="27295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Noto Sans KR" pitchFamily="34" charset="0"/>
                <a:ea typeface="Noto Sans KR" pitchFamily="34" charset="-122"/>
                <a:cs typeface="Noto Sans KR" pitchFamily="34" charset="-120"/>
              </a:rPr>
              <a:t>– 내부 구현은 비공개</a:t>
            </a:r>
            <a:endParaRPr lang="en-US" sz="1200" dirty="0"/>
          </a:p>
        </p:txBody>
      </p:sp>
      <p:pic>
        <p:nvPicPr>
          <p:cNvPr id="29" name="Image 7" descr="line">    </p:cNvPr>
          <p:cNvPicPr>
            <a:picLocks noChangeAspect="1"/>
          </p:cNvPicPr>
          <p:nvPr/>
        </p:nvPicPr>
        <p:blipFill>
          <a:blip r:embed="rId8"/>
          <a:srcRect l="-39" r="-39" t="0" b="0"/>
          <a:stretch/>
        </p:blipFill>
        <p:spPr>
          <a:xfrm>
            <a:off x="8500517" y="4217789"/>
            <a:ext cx="2650083" cy="6350"/>
          </a:xfrm>
          <a:prstGeom prst="rect">
            <a:avLst/>
          </a:prstGeom>
        </p:spPr>
      </p:pic>
      <p:sp>
        <p:nvSpPr>
          <p:cNvPr id="30" name="Text 20"/>
          <p:cNvSpPr/>
          <p:nvPr/>
        </p:nvSpPr>
        <p:spPr>
          <a:xfrm>
            <a:off x="8500517" y="4313039"/>
            <a:ext cx="27295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EB6C6"/>
                </a:solidFill>
                <a:latin typeface="Noto Sans KR" pitchFamily="34" charset="0"/>
                <a:ea typeface="Noto Sans KR" pitchFamily="34" charset="-122"/>
                <a:cs typeface="Noto Sans KR" pitchFamily="34" charset="-120"/>
              </a:rPr>
              <a:t>예시:</a:t>
            </a:r>
            <a:r>
              <a:rPr lang="en-US" sz="1200" dirty="0">
                <a:solidFill>
                  <a:srgbClr val="AEB6C6"/>
                </a:solidFill>
                <a:latin typeface="Noto Sans KR" pitchFamily="34" charset="0"/>
                <a:ea typeface="Noto Sans KR" pitchFamily="34" charset="-122"/>
                <a:cs typeface="Noto Sans KR" pitchFamily="34" charset="-120"/>
              </a:rPr>
              <a:t> Inventory, Shipping</a:t>
            </a:r>
            <a:endParaRPr lang="en-US" sz="1200" dirty="0"/>
          </a:p>
        </p:txBody>
      </p:sp>
      <p:sp>
        <p:nvSpPr>
          <p:cNvPr id="31" name="Shape 21"/>
          <p:cNvSpPr/>
          <p:nvPr/>
        </p:nvSpPr>
        <p:spPr>
          <a:xfrm>
            <a:off x="812800" y="4983559"/>
            <a:ext cx="10566400" cy="858441"/>
          </a:xfrm>
          <a:prstGeom prst="roundRect">
            <a:avLst>
              <a:gd name="adj" fmla="val 8877"/>
            </a:avLst>
          </a:prstGeom>
          <a:solidFill>
            <a:srgbClr val="E7EEF9"/>
          </a:solidFill>
          <a:ln/>
        </p:spPr>
      </p:sp>
      <p:sp>
        <p:nvSpPr>
          <p:cNvPr id="32" name="Shape 22"/>
          <p:cNvSpPr/>
          <p:nvPr/>
        </p:nvSpPr>
        <p:spPr>
          <a:xfrm>
            <a:off x="812800" y="4983559"/>
            <a:ext cx="10566400" cy="858441"/>
          </a:xfrm>
          <a:custGeom>
            <a:avLst/>
            <a:gdLst/>
            <a:ahLst/>
            <a:cxnLst/>
            <a:rect l="l" t="t" r="r" b="b"/>
            <a:pathLst>
              <a:path w="10566400" h="858441">
                <a:moveTo>
                  <a:pt x="76200" y="858441"/>
                </a:moveTo>
                <a:lnTo>
                  <a:pt x="76200" y="858441"/>
                </a:lnTo>
                <a:arcTo hR="76200" wR="76200" stAng="5400000" swAng="5400000"/>
                <a:lnTo>
                  <a:pt x="0" y="76200"/>
                </a:lnTo>
                <a:arcTo hR="76200" wR="76200" stAng="10800000" swAng="5400000"/>
                <a:lnTo>
                  <a:pt x="76200" y="0"/>
                </a:lnTo>
                <a:arcTo hR="76200" wR="38100" stAng="16200000" swAng="-5400000"/>
                <a:lnTo>
                  <a:pt x="38100" y="782241"/>
                </a:lnTo>
                <a:arcTo hR="76200" wR="38100" stAng="10800000" swAng="-5400000"/>
                <a:close/>
              </a:path>
            </a:pathLst>
          </a:custGeom>
          <a:solidFill>
            <a:srgbClr val="2F6FD1"/>
          </a:solidFill>
          <a:ln/>
        </p:spPr>
      </p:sp>
      <p:sp>
        <p:nvSpPr>
          <p:cNvPr id="33" name="Text 23"/>
          <p:cNvSpPr/>
          <p:nvPr/>
        </p:nvSpPr>
        <p:spPr>
          <a:xfrm>
            <a:off x="1054100" y="5163889"/>
            <a:ext cx="196215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역할은</a:t>
            </a:r>
            <a:endParaRPr lang="en-US" sz="1400" dirty="0"/>
          </a:p>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고정되지 않습니다</a:t>
            </a:r>
            <a:endParaRPr lang="en-US" sz="1400" dirty="0"/>
          </a:p>
        </p:txBody>
      </p:sp>
      <p:sp>
        <p:nvSpPr>
          <p:cNvPr id="34" name="Text 24"/>
          <p:cNvSpPr/>
          <p:nvPr/>
        </p:nvSpPr>
        <p:spPr>
          <a:xfrm>
            <a:off x="5074841" y="5110559"/>
            <a:ext cx="1133029" cy="340320"/>
          </a:xfrm>
          <a:prstGeom prst="roundRect">
            <a:avLst>
              <a:gd name="adj" fmla="val 22391"/>
            </a:avLst>
          </a:pr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Noto Sans KR" pitchFamily="34" charset="0"/>
                <a:ea typeface="Noto Sans KR" pitchFamily="34" charset="-122"/>
                <a:cs typeface="Noto Sans KR" pitchFamily="34" charset="-120"/>
              </a:rPr>
              <a:t>Sales Agent</a:t>
            </a:r>
            <a:endParaRPr lang="en-US" sz="1200" dirty="0"/>
          </a:p>
        </p:txBody>
      </p:sp>
      <p:sp>
        <p:nvSpPr>
          <p:cNvPr id="35" name="Text 25"/>
          <p:cNvSpPr/>
          <p:nvPr/>
        </p:nvSpPr>
        <p:spPr>
          <a:xfrm>
            <a:off x="5390942" y="5501680"/>
            <a:ext cx="50077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3405A"/>
                </a:solidFill>
                <a:latin typeface="Noto Sans KR" pitchFamily="34" charset="0"/>
                <a:ea typeface="Noto Sans KR" pitchFamily="34" charset="-122"/>
                <a:cs typeface="Noto Sans KR" pitchFamily="34" charset="-120"/>
              </a:rPr>
              <a:t>Client</a:t>
            </a:r>
            <a:endParaRPr lang="en-US" sz="1200" dirty="0"/>
          </a:p>
        </p:txBody>
      </p:sp>
      <p:sp>
        <p:nvSpPr>
          <p:cNvPr id="36" name="Text 26"/>
          <p:cNvSpPr/>
          <p:nvPr/>
        </p:nvSpPr>
        <p:spPr>
          <a:xfrm>
            <a:off x="6360269" y="5110559"/>
            <a:ext cx="64581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재고 문의</a:t>
            </a:r>
            <a:endParaRPr lang="en-US" sz="1200" dirty="0"/>
          </a:p>
        </p:txBody>
      </p:sp>
      <p:pic>
        <p:nvPicPr>
          <p:cNvPr id="37" name="Image 8" descr="arrow-right">    </p:cNvPr>
          <p:cNvPicPr>
            <a:picLocks noChangeAspect="1"/>
          </p:cNvPicPr>
          <p:nvPr/>
        </p:nvPicPr>
        <p:blipFill>
          <a:blip r:embed="rId9"/>
          <a:srcRect l="0" r="0" t="0" b="0"/>
          <a:stretch/>
        </p:blipFill>
        <p:spPr>
          <a:xfrm>
            <a:off x="6403777" y="5361980"/>
            <a:ext cx="508000" cy="152400"/>
          </a:xfrm>
          <a:prstGeom prst="rect">
            <a:avLst/>
          </a:prstGeom>
        </p:spPr>
      </p:pic>
      <p:sp>
        <p:nvSpPr>
          <p:cNvPr id="38" name="Text 27"/>
          <p:cNvSpPr/>
          <p:nvPr/>
        </p:nvSpPr>
        <p:spPr>
          <a:xfrm>
            <a:off x="7114034" y="5116909"/>
            <a:ext cx="1471761" cy="327620"/>
          </a:xfrm>
          <a:prstGeom prst="roundRect">
            <a:avLst>
              <a:gd name="adj" fmla="val 2132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Inventory Agent</a:t>
            </a:r>
            <a:endParaRPr lang="en-US" sz="1200" dirty="0"/>
          </a:p>
        </p:txBody>
      </p:sp>
      <p:sp>
        <p:nvSpPr>
          <p:cNvPr id="39" name="Text 28"/>
          <p:cNvSpPr/>
          <p:nvPr/>
        </p:nvSpPr>
        <p:spPr>
          <a:xfrm>
            <a:off x="7232551" y="5501680"/>
            <a:ext cx="128547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Server이자 Client</a:t>
            </a:r>
            <a:endParaRPr lang="en-US" sz="1200" dirty="0"/>
          </a:p>
        </p:txBody>
      </p:sp>
      <p:sp>
        <p:nvSpPr>
          <p:cNvPr id="40" name="Text 29"/>
          <p:cNvSpPr/>
          <p:nvPr/>
        </p:nvSpPr>
        <p:spPr>
          <a:xfrm>
            <a:off x="8744545" y="5110559"/>
            <a:ext cx="960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재고 보충 주문</a:t>
            </a:r>
            <a:endParaRPr lang="en-US" sz="1200" dirty="0"/>
          </a:p>
        </p:txBody>
      </p:sp>
      <p:pic>
        <p:nvPicPr>
          <p:cNvPr id="41" name="Image 9" descr="arrow-right">    </p:cNvPr>
          <p:cNvPicPr>
            <a:picLocks noChangeAspect="1"/>
          </p:cNvPicPr>
          <p:nvPr/>
        </p:nvPicPr>
        <p:blipFill>
          <a:blip r:embed="rId10"/>
          <a:srcRect l="0" r="0" t="0" b="0"/>
          <a:stretch/>
        </p:blipFill>
        <p:spPr>
          <a:xfrm>
            <a:off x="8945314" y="5361980"/>
            <a:ext cx="508000" cy="152400"/>
          </a:xfrm>
          <a:prstGeom prst="rect">
            <a:avLst/>
          </a:prstGeom>
        </p:spPr>
      </p:pic>
      <p:sp>
        <p:nvSpPr>
          <p:cNvPr id="42" name="Text 30"/>
          <p:cNvSpPr/>
          <p:nvPr/>
        </p:nvSpPr>
        <p:spPr>
          <a:xfrm>
            <a:off x="9806484" y="5110559"/>
            <a:ext cx="1369516" cy="340320"/>
          </a:xfrm>
          <a:prstGeom prst="roundRect">
            <a:avLst>
              <a:gd name="adj" fmla="val 22391"/>
            </a:avLst>
          </a:pr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Noto Sans KR" pitchFamily="34" charset="0"/>
                <a:ea typeface="Noto Sans KR" pitchFamily="34" charset="-122"/>
                <a:cs typeface="Noto Sans KR" pitchFamily="34" charset="-120"/>
              </a:rPr>
              <a:t>Supplier Agent</a:t>
            </a:r>
            <a:endParaRPr lang="en-US" sz="1200" dirty="0"/>
          </a:p>
        </p:txBody>
      </p:sp>
      <p:sp>
        <p:nvSpPr>
          <p:cNvPr id="43" name="Text 31"/>
          <p:cNvSpPr/>
          <p:nvPr/>
        </p:nvSpPr>
        <p:spPr>
          <a:xfrm>
            <a:off x="10215081" y="5501680"/>
            <a:ext cx="55227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3405A"/>
                </a:solidFill>
                <a:latin typeface="Noto Sans KR" pitchFamily="34" charset="0"/>
                <a:ea typeface="Noto Sans KR" pitchFamily="34" charset="-122"/>
                <a:cs typeface="Noto Sans KR" pitchFamily="34" charset="-120"/>
              </a:rPr>
              <a:t>Server</a:t>
            </a:r>
            <a:endParaRPr lang="en-US" sz="1200" dirty="0"/>
          </a:p>
        </p:txBody>
      </p:sp>
      <p:sp>
        <p:nvSpPr>
          <p:cNvPr id="44" name="Text 32"/>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45" name="Text 33"/>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What agents exchange</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에이전트가 주고받는 네 가지 핵심 객체</a:t>
            </a:r>
            <a:endParaRPr lang="en-US" sz="1400" dirty="0"/>
          </a:p>
        </p:txBody>
      </p:sp>
      <p:sp>
        <p:nvSpPr>
          <p:cNvPr id="4" name="Shape 2"/>
          <p:cNvSpPr/>
          <p:nvPr/>
        </p:nvSpPr>
        <p:spPr>
          <a:xfrm>
            <a:off x="812800" y="1808411"/>
            <a:ext cx="2527300" cy="2219821"/>
          </a:xfrm>
          <a:prstGeom prst="roundRect">
            <a:avLst>
              <a:gd name="adj" fmla="val 4577"/>
            </a:avLst>
          </a:prstGeom>
          <a:solidFill>
            <a:srgbClr val="FCFBF8"/>
          </a:solidFill>
          <a:ln/>
        </p:spPr>
      </p:sp>
      <p:sp>
        <p:nvSpPr>
          <p:cNvPr id="5" name="Shape 3"/>
          <p:cNvSpPr/>
          <p:nvPr/>
        </p:nvSpPr>
        <p:spPr>
          <a:xfrm>
            <a:off x="812800" y="1808411"/>
            <a:ext cx="2527300" cy="2219821"/>
          </a:xfrm>
          <a:custGeom>
            <a:avLst/>
            <a:gdLst/>
            <a:ahLst/>
            <a:cxnLst/>
            <a:rect l="l" t="t" r="r" b="b"/>
            <a:pathLst>
              <a:path w="2527300" h="221982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2F6FD1"/>
          </a:solidFill>
          <a:ln/>
        </p:spPr>
      </p:sp>
      <p:sp>
        <p:nvSpPr>
          <p:cNvPr id="6" name="Text 4"/>
          <p:cNvSpPr/>
          <p:nvPr/>
        </p:nvSpPr>
        <p:spPr>
          <a:xfrm>
            <a:off x="990600" y="2024311"/>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Message</a:t>
            </a:r>
            <a:endParaRPr lang="en-US" sz="1700" dirty="0"/>
          </a:p>
        </p:txBody>
      </p:sp>
      <p:sp>
        <p:nvSpPr>
          <p:cNvPr id="7" name="Text 5"/>
          <p:cNvSpPr/>
          <p:nvPr/>
        </p:nvSpPr>
        <p:spPr>
          <a:xfrm>
            <a:off x="990600" y="2359571"/>
            <a:ext cx="2236851"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대화의 한 턴 (보낸 쪽: user 또는 agent)</a:t>
            </a:r>
            <a:endParaRPr lang="en-US" sz="1300" dirty="0"/>
          </a:p>
        </p:txBody>
      </p:sp>
      <p:sp>
        <p:nvSpPr>
          <p:cNvPr id="8" name="Shape 6"/>
          <p:cNvSpPr/>
          <p:nvPr/>
        </p:nvSpPr>
        <p:spPr>
          <a:xfrm>
            <a:off x="990600" y="3007271"/>
            <a:ext cx="2171700" cy="843161"/>
          </a:xfrm>
          <a:prstGeom prst="roundRect">
            <a:avLst>
              <a:gd name="adj" fmla="val 7531"/>
            </a:avLst>
          </a:prstGeom>
          <a:solidFill>
            <a:srgbClr val="E7EEF9"/>
          </a:solidFill>
          <a:ln/>
        </p:spPr>
      </p:sp>
      <p:sp>
        <p:nvSpPr>
          <p:cNvPr id="9" name="Text 7"/>
          <p:cNvSpPr/>
          <p:nvPr/>
        </p:nvSpPr>
        <p:spPr>
          <a:xfrm>
            <a:off x="1092200" y="3096171"/>
            <a:ext cx="20275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Sales → Inventory</a:t>
            </a:r>
            <a:endParaRPr lang="en-US" sz="1200" dirty="0"/>
          </a:p>
        </p:txBody>
      </p:sp>
      <p:sp>
        <p:nvSpPr>
          <p:cNvPr id="10" name="Text 8"/>
          <p:cNvSpPr/>
          <p:nvPr/>
        </p:nvSpPr>
        <p:spPr>
          <a:xfrm>
            <a:off x="1092200" y="3334891"/>
            <a:ext cx="20275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“X1 노트북 100대 예약해 주세요”</a:t>
            </a:r>
            <a:endParaRPr lang="en-US" sz="1200" dirty="0"/>
          </a:p>
        </p:txBody>
      </p:sp>
      <p:sp>
        <p:nvSpPr>
          <p:cNvPr id="11" name="Shape 9"/>
          <p:cNvSpPr/>
          <p:nvPr/>
        </p:nvSpPr>
        <p:spPr>
          <a:xfrm>
            <a:off x="3492500" y="1808411"/>
            <a:ext cx="2527300" cy="2219821"/>
          </a:xfrm>
          <a:prstGeom prst="roundRect">
            <a:avLst>
              <a:gd name="adj" fmla="val 4577"/>
            </a:avLst>
          </a:prstGeom>
          <a:solidFill>
            <a:srgbClr val="FCFBF8"/>
          </a:solidFill>
          <a:ln/>
        </p:spPr>
      </p:sp>
      <p:sp>
        <p:nvSpPr>
          <p:cNvPr id="12" name="Shape 10"/>
          <p:cNvSpPr/>
          <p:nvPr/>
        </p:nvSpPr>
        <p:spPr>
          <a:xfrm>
            <a:off x="3492500" y="1808411"/>
            <a:ext cx="2527300" cy="2219821"/>
          </a:xfrm>
          <a:custGeom>
            <a:avLst/>
            <a:gdLst/>
            <a:ahLst/>
            <a:cxnLst/>
            <a:rect l="l" t="t" r="r" b="b"/>
            <a:pathLst>
              <a:path w="2527300" h="221982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2F6FD1"/>
          </a:solidFill>
          <a:ln/>
        </p:spPr>
      </p:sp>
      <p:sp>
        <p:nvSpPr>
          <p:cNvPr id="13" name="Text 11"/>
          <p:cNvSpPr/>
          <p:nvPr/>
        </p:nvSpPr>
        <p:spPr>
          <a:xfrm>
            <a:off x="3670300" y="2024311"/>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Part</a:t>
            </a:r>
            <a:endParaRPr lang="en-US" sz="1700" dirty="0"/>
          </a:p>
        </p:txBody>
      </p:sp>
      <p:sp>
        <p:nvSpPr>
          <p:cNvPr id="14" name="Text 12"/>
          <p:cNvSpPr/>
          <p:nvPr/>
        </p:nvSpPr>
        <p:spPr>
          <a:xfrm>
            <a:off x="3670300" y="2359571"/>
            <a:ext cx="23495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Message를 구성하는 내용 단위</a:t>
            </a:r>
            <a:endParaRPr lang="en-US" sz="1300" dirty="0"/>
          </a:p>
        </p:txBody>
      </p:sp>
      <p:sp>
        <p:nvSpPr>
          <p:cNvPr id="15" name="Shape 13"/>
          <p:cNvSpPr/>
          <p:nvPr/>
        </p:nvSpPr>
        <p:spPr>
          <a:xfrm>
            <a:off x="3670300" y="2981871"/>
            <a:ext cx="2171700" cy="868561"/>
          </a:xfrm>
          <a:prstGeom prst="roundRect">
            <a:avLst>
              <a:gd name="adj" fmla="val 7311"/>
            </a:avLst>
          </a:prstGeom>
          <a:solidFill>
            <a:srgbClr val="E7EEF9"/>
          </a:solidFill>
          <a:ln/>
        </p:spPr>
      </p:sp>
      <p:sp>
        <p:nvSpPr>
          <p:cNvPr id="16" name="Text 14"/>
          <p:cNvSpPr/>
          <p:nvPr/>
        </p:nvSpPr>
        <p:spPr>
          <a:xfrm>
            <a:off x="3771900" y="3070771"/>
            <a:ext cx="20275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위 Message의 Part</a:t>
            </a:r>
            <a:endParaRPr lang="en-US" sz="1200" dirty="0"/>
          </a:p>
        </p:txBody>
      </p:sp>
      <p:sp>
        <p:nvSpPr>
          <p:cNvPr id="17" name="Text 15"/>
          <p:cNvSpPr/>
          <p:nvPr/>
        </p:nvSpPr>
        <p:spPr>
          <a:xfrm>
            <a:off x="3771900" y="330949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① 텍스트: 요청 문장</a:t>
            </a:r>
            <a:endParaRPr lang="en-US" sz="1200" dirty="0"/>
          </a:p>
        </p:txBody>
      </p:sp>
      <p:sp>
        <p:nvSpPr>
          <p:cNvPr id="18" name="Text 16"/>
          <p:cNvSpPr/>
          <p:nvPr/>
        </p:nvSpPr>
        <p:spPr>
          <a:xfrm>
            <a:off x="3771900" y="354821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② 데이터: 제품 X1, 수량 100</a:t>
            </a:r>
            <a:endParaRPr lang="en-US" sz="1200" dirty="0"/>
          </a:p>
        </p:txBody>
      </p:sp>
      <p:sp>
        <p:nvSpPr>
          <p:cNvPr id="19" name="Shape 17"/>
          <p:cNvSpPr/>
          <p:nvPr/>
        </p:nvSpPr>
        <p:spPr>
          <a:xfrm>
            <a:off x="6172200" y="1808411"/>
            <a:ext cx="2527300" cy="2219821"/>
          </a:xfrm>
          <a:prstGeom prst="roundRect">
            <a:avLst>
              <a:gd name="adj" fmla="val 4577"/>
            </a:avLst>
          </a:prstGeom>
          <a:solidFill>
            <a:srgbClr val="FCFBF8"/>
          </a:solidFill>
          <a:ln/>
        </p:spPr>
      </p:sp>
      <p:sp>
        <p:nvSpPr>
          <p:cNvPr id="20" name="Shape 18"/>
          <p:cNvSpPr/>
          <p:nvPr/>
        </p:nvSpPr>
        <p:spPr>
          <a:xfrm>
            <a:off x="6172200" y="1808411"/>
            <a:ext cx="2527300" cy="2219821"/>
          </a:xfrm>
          <a:custGeom>
            <a:avLst/>
            <a:gdLst/>
            <a:ahLst/>
            <a:cxnLst/>
            <a:rect l="l" t="t" r="r" b="b"/>
            <a:pathLst>
              <a:path w="2527300" h="221982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9531E"/>
          </a:solidFill>
          <a:ln/>
        </p:spPr>
      </p:sp>
      <p:sp>
        <p:nvSpPr>
          <p:cNvPr id="21" name="Text 19"/>
          <p:cNvSpPr/>
          <p:nvPr/>
        </p:nvSpPr>
        <p:spPr>
          <a:xfrm>
            <a:off x="6350000" y="2024311"/>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Task</a:t>
            </a:r>
            <a:endParaRPr lang="en-US" sz="1700" dirty="0"/>
          </a:p>
        </p:txBody>
      </p:sp>
      <p:sp>
        <p:nvSpPr>
          <p:cNvPr id="22" name="Text 20"/>
          <p:cNvSpPr/>
          <p:nvPr/>
        </p:nvSpPr>
        <p:spPr>
          <a:xfrm>
            <a:off x="6350000" y="2359571"/>
            <a:ext cx="223685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ID와 상태를 가진 작업 단위</a:t>
            </a:r>
            <a:endParaRPr lang="en-US" sz="1300" dirty="0"/>
          </a:p>
        </p:txBody>
      </p:sp>
      <p:sp>
        <p:nvSpPr>
          <p:cNvPr id="23" name="Shape 21"/>
          <p:cNvSpPr/>
          <p:nvPr/>
        </p:nvSpPr>
        <p:spPr>
          <a:xfrm>
            <a:off x="6350000" y="2981871"/>
            <a:ext cx="2171700" cy="868561"/>
          </a:xfrm>
          <a:prstGeom prst="roundRect">
            <a:avLst>
              <a:gd name="adj" fmla="val 7311"/>
            </a:avLst>
          </a:prstGeom>
          <a:solidFill>
            <a:srgbClr val="FCE9DD"/>
          </a:solidFill>
          <a:ln/>
        </p:spPr>
      </p:sp>
      <p:sp>
        <p:nvSpPr>
          <p:cNvPr id="24" name="Text 22"/>
          <p:cNvSpPr/>
          <p:nvPr/>
        </p:nvSpPr>
        <p:spPr>
          <a:xfrm>
            <a:off x="6451600" y="3070771"/>
            <a:ext cx="20275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Inventory가 생성</a:t>
            </a:r>
            <a:endParaRPr lang="en-US" sz="1200" dirty="0"/>
          </a:p>
        </p:txBody>
      </p:sp>
      <p:sp>
        <p:nvSpPr>
          <p:cNvPr id="25" name="Text 23"/>
          <p:cNvSpPr/>
          <p:nvPr/>
        </p:nvSpPr>
        <p:spPr>
          <a:xfrm>
            <a:off x="6451600" y="330949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Task T-481: 노트북 예약</a:t>
            </a:r>
            <a:endParaRPr lang="en-US" sz="1200" dirty="0"/>
          </a:p>
        </p:txBody>
      </p:sp>
      <p:sp>
        <p:nvSpPr>
          <p:cNvPr id="26" name="Text 24"/>
          <p:cNvSpPr/>
          <p:nvPr/>
        </p:nvSpPr>
        <p:spPr>
          <a:xfrm>
            <a:off x="6451600" y="354821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상태: working</a:t>
            </a:r>
            <a:endParaRPr lang="en-US" sz="1200" dirty="0"/>
          </a:p>
        </p:txBody>
      </p:sp>
      <p:sp>
        <p:nvSpPr>
          <p:cNvPr id="27" name="Shape 25"/>
          <p:cNvSpPr/>
          <p:nvPr/>
        </p:nvSpPr>
        <p:spPr>
          <a:xfrm>
            <a:off x="8851900" y="1808411"/>
            <a:ext cx="2527300" cy="2219821"/>
          </a:xfrm>
          <a:prstGeom prst="roundRect">
            <a:avLst>
              <a:gd name="adj" fmla="val 4577"/>
            </a:avLst>
          </a:prstGeom>
          <a:solidFill>
            <a:srgbClr val="FCFBF8"/>
          </a:solidFill>
          <a:ln/>
        </p:spPr>
      </p:sp>
      <p:sp>
        <p:nvSpPr>
          <p:cNvPr id="28" name="Shape 26"/>
          <p:cNvSpPr/>
          <p:nvPr/>
        </p:nvSpPr>
        <p:spPr>
          <a:xfrm>
            <a:off x="8851900" y="1808411"/>
            <a:ext cx="2527300" cy="2219821"/>
          </a:xfrm>
          <a:custGeom>
            <a:avLst/>
            <a:gdLst/>
            <a:ahLst/>
            <a:cxnLst/>
            <a:rect l="l" t="t" r="r" b="b"/>
            <a:pathLst>
              <a:path w="2527300" h="221982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9531E"/>
          </a:solidFill>
          <a:ln/>
        </p:spPr>
      </p:sp>
      <p:sp>
        <p:nvSpPr>
          <p:cNvPr id="29" name="Text 27"/>
          <p:cNvSpPr/>
          <p:nvPr/>
        </p:nvSpPr>
        <p:spPr>
          <a:xfrm>
            <a:off x="9029700" y="2024311"/>
            <a:ext cx="22368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Artifact</a:t>
            </a:r>
            <a:endParaRPr lang="en-US" sz="1700" dirty="0"/>
          </a:p>
        </p:txBody>
      </p:sp>
      <p:sp>
        <p:nvSpPr>
          <p:cNvPr id="30" name="Text 28"/>
          <p:cNvSpPr/>
          <p:nvPr/>
        </p:nvSpPr>
        <p:spPr>
          <a:xfrm>
            <a:off x="9029700" y="2359571"/>
            <a:ext cx="223685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Task가 만들어 낸 결과물</a:t>
            </a:r>
            <a:endParaRPr lang="en-US" sz="1300" dirty="0"/>
          </a:p>
        </p:txBody>
      </p:sp>
      <p:sp>
        <p:nvSpPr>
          <p:cNvPr id="31" name="Shape 29"/>
          <p:cNvSpPr/>
          <p:nvPr/>
        </p:nvSpPr>
        <p:spPr>
          <a:xfrm>
            <a:off x="9029700" y="2981871"/>
            <a:ext cx="2171700" cy="868561"/>
          </a:xfrm>
          <a:prstGeom prst="roundRect">
            <a:avLst>
              <a:gd name="adj" fmla="val 7311"/>
            </a:avLst>
          </a:prstGeom>
          <a:solidFill>
            <a:srgbClr val="FCE9DD"/>
          </a:solidFill>
          <a:ln/>
        </p:spPr>
      </p:sp>
      <p:sp>
        <p:nvSpPr>
          <p:cNvPr id="32" name="Text 30"/>
          <p:cNvSpPr/>
          <p:nvPr/>
        </p:nvSpPr>
        <p:spPr>
          <a:xfrm>
            <a:off x="9131300" y="3070771"/>
            <a:ext cx="20275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T-481의 결과</a:t>
            </a:r>
            <a:endParaRPr lang="en-US" sz="1200" dirty="0"/>
          </a:p>
        </p:txBody>
      </p:sp>
      <p:sp>
        <p:nvSpPr>
          <p:cNvPr id="33" name="Text 31"/>
          <p:cNvSpPr/>
          <p:nvPr/>
        </p:nvSpPr>
        <p:spPr>
          <a:xfrm>
            <a:off x="9131300" y="330949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예약 확인 R-2041 (20대)</a:t>
            </a:r>
            <a:endParaRPr lang="en-US" sz="1200" dirty="0"/>
          </a:p>
        </p:txBody>
      </p:sp>
      <p:sp>
        <p:nvSpPr>
          <p:cNvPr id="34" name="Text 32"/>
          <p:cNvSpPr/>
          <p:nvPr/>
        </p:nvSpPr>
        <p:spPr>
          <a:xfrm>
            <a:off x="9131300" y="354821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백오더 B-118 (80대)</a:t>
            </a:r>
            <a:endParaRPr lang="en-US" sz="1200" dirty="0"/>
          </a:p>
        </p:txBody>
      </p:sp>
      <p:sp>
        <p:nvSpPr>
          <p:cNvPr id="35" name="Shape 33"/>
          <p:cNvSpPr/>
          <p:nvPr/>
        </p:nvSpPr>
        <p:spPr>
          <a:xfrm>
            <a:off x="815975" y="4260007"/>
            <a:ext cx="10560050" cy="1433711"/>
          </a:xfrm>
          <a:prstGeom prst="roundRect">
            <a:avLst>
              <a:gd name="adj" fmla="val 8637"/>
            </a:avLst>
          </a:prstGeom>
          <a:solidFill>
            <a:srgbClr val="FCFBF8"/>
          </a:solidFill>
          <a:ln w="6350">
            <a:solidFill>
              <a:srgbClr val="DAD6CC"/>
            </a:solidFill>
            <a:prstDash val="solid"/>
          </a:ln>
        </p:spPr>
      </p:sp>
      <p:sp>
        <p:nvSpPr>
          <p:cNvPr id="36" name="Text 34"/>
          <p:cNvSpPr/>
          <p:nvPr/>
        </p:nvSpPr>
        <p:spPr>
          <a:xfrm>
            <a:off x="1047750" y="4440982"/>
            <a:ext cx="103993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Space Grotesk" pitchFamily="34" charset="0"/>
                <a:ea typeface="Space Grotesk" pitchFamily="34" charset="-122"/>
                <a:cs typeface="Space Grotesk" pitchFamily="34" charset="-120"/>
              </a:rPr>
              <a:t>TASK LIFECYCLE</a:t>
            </a:r>
            <a:endParaRPr lang="en-US" sz="1200" dirty="0"/>
          </a:p>
        </p:txBody>
      </p:sp>
      <p:sp>
        <p:nvSpPr>
          <p:cNvPr id="37" name="Text 35"/>
          <p:cNvSpPr/>
          <p:nvPr/>
        </p:nvSpPr>
        <p:spPr>
          <a:xfrm>
            <a:off x="1054100" y="4774952"/>
            <a:ext cx="1064270" cy="302220"/>
          </a:xfrm>
          <a:prstGeom prst="roundRect">
            <a:avLst>
              <a:gd name="adj" fmla="val 50000"/>
            </a:avLst>
          </a:prstGeom>
          <a:noFill/>
          <a:ln w="12700">
            <a:solidFill>
              <a:srgbClr val="2F6FD1"/>
            </a:solidFill>
            <a:prstDash val="solid"/>
          </a:ln>
        </p:spPr>
        <p:txBody>
          <a:bodyPr wrap="none" lIns="0" tIns="0" rIns="0" bIns="0" rtlCol="0" anchor="ctr">
            <a:normAutofit/>
          </a:bodyPr>
          <a:lstStyle/>
          <a:p>
            <a:pPr algn="ctr"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submitted</a:t>
            </a:r>
            <a:endParaRPr lang="en-US" sz="1200" dirty="0"/>
          </a:p>
        </p:txBody>
      </p:sp>
      <p:pic>
        <p:nvPicPr>
          <p:cNvPr id="38" name="Image 0" descr="arrow-right">    </p:cNvPr>
          <p:cNvPicPr>
            <a:picLocks noChangeAspect="1"/>
          </p:cNvPicPr>
          <p:nvPr/>
        </p:nvPicPr>
        <p:blipFill>
          <a:blip r:embed="rId1"/>
          <a:srcRect l="0" r="0" t="0" b="0"/>
          <a:stretch/>
        </p:blipFill>
        <p:spPr>
          <a:xfrm>
            <a:off x="2226320" y="4862562"/>
            <a:ext cx="254000" cy="127000"/>
          </a:xfrm>
          <a:prstGeom prst="rect">
            <a:avLst/>
          </a:prstGeom>
        </p:spPr>
      </p:pic>
      <p:sp>
        <p:nvSpPr>
          <p:cNvPr id="39" name="Text 36"/>
          <p:cNvSpPr/>
          <p:nvPr/>
        </p:nvSpPr>
        <p:spPr>
          <a:xfrm>
            <a:off x="2588270" y="4774952"/>
            <a:ext cx="881410" cy="302220"/>
          </a:xfrm>
          <a:prstGeom prst="roundRect">
            <a:avLst>
              <a:gd name="adj" fmla="val 50000"/>
            </a:avLst>
          </a:prstGeom>
          <a:noFill/>
          <a:ln w="12700">
            <a:solidFill>
              <a:srgbClr val="2F6FD1"/>
            </a:solidFill>
            <a:prstDash val="solid"/>
          </a:ln>
        </p:spPr>
        <p:txBody>
          <a:bodyPr wrap="none" lIns="0" tIns="0" rIns="0" bIns="0" rtlCol="0" anchor="ctr">
            <a:normAutofit/>
          </a:bodyPr>
          <a:lstStyle/>
          <a:p>
            <a:pPr algn="ctr"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working</a:t>
            </a:r>
            <a:endParaRPr lang="en-US" sz="1200" dirty="0"/>
          </a:p>
        </p:txBody>
      </p:sp>
      <p:pic>
        <p:nvPicPr>
          <p:cNvPr id="40" name="Image 1" descr="arrow-right">    </p:cNvPr>
          <p:cNvPicPr>
            <a:picLocks noChangeAspect="1"/>
          </p:cNvPicPr>
          <p:nvPr/>
        </p:nvPicPr>
        <p:blipFill>
          <a:blip r:embed="rId2"/>
          <a:srcRect l="0" r="0" t="0" b="0"/>
          <a:stretch/>
        </p:blipFill>
        <p:spPr>
          <a:xfrm>
            <a:off x="3577630" y="4862562"/>
            <a:ext cx="254000" cy="127000"/>
          </a:xfrm>
          <a:prstGeom prst="rect">
            <a:avLst/>
          </a:prstGeom>
        </p:spPr>
      </p:pic>
      <p:sp>
        <p:nvSpPr>
          <p:cNvPr id="41" name="Text 37"/>
          <p:cNvSpPr/>
          <p:nvPr/>
        </p:nvSpPr>
        <p:spPr>
          <a:xfrm>
            <a:off x="3933230" y="4781302"/>
            <a:ext cx="1051570" cy="289520"/>
          </a:xfrm>
          <a:custGeom>
            <a:avLst/>
            <a:gdLst/>
            <a:ahLst/>
            <a:cxnLst/>
            <a:rect l="l" t="t" r="r" b="b"/>
            <a:pathLst>
              <a:path w="1051570" h="289520">
                <a:moveTo>
                  <a:pt x="144760" y="0"/>
                </a:moveTo>
                <a:lnTo>
                  <a:pt x="906810" y="0"/>
                </a:lnTo>
                <a:arcTo hR="144760" wR="144760" stAng="16200000" swAng="5400000"/>
                <a:lnTo>
                  <a:pt x="1051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2F6FD1"/>
          </a:solidFill>
          <a:ln/>
        </p:spPr>
        <p:txBody>
          <a:bodyPr wrap="none" lIns="0" tIns="0" rIns="0" bIns="0" rtlCol="0" anchor="ctr">
            <a:normAutofit/>
          </a:bodyPr>
          <a:lstStyle/>
          <a:p>
            <a:pPr algn="ctr" indent="0" marL="0">
              <a:lnSpc>
                <a:spcPts val="1680"/>
              </a:lnSpc>
              <a:buNone/>
            </a:pPr>
            <a:r>
              <a:rPr lang="en-US" sz="1200" dirty="0">
                <a:solidFill>
                  <a:srgbClr val="FCFBF8"/>
                </a:solidFill>
                <a:latin typeface="JetBrains Mono" pitchFamily="49" charset="0"/>
                <a:ea typeface="JetBrains Mono" pitchFamily="49" charset="-122"/>
                <a:cs typeface="JetBrains Mono" pitchFamily="49" charset="-120"/>
              </a:rPr>
              <a:t>completed</a:t>
            </a:r>
            <a:endParaRPr lang="en-US" sz="1200" dirty="0"/>
          </a:p>
        </p:txBody>
      </p:sp>
      <p:sp>
        <p:nvSpPr>
          <p:cNvPr id="42" name="Text 38"/>
          <p:cNvSpPr/>
          <p:nvPr/>
        </p:nvSpPr>
        <p:spPr>
          <a:xfrm>
            <a:off x="5086400" y="4819402"/>
            <a:ext cx="68818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또는 종료:</a:t>
            </a:r>
            <a:endParaRPr lang="en-US" sz="1200" dirty="0"/>
          </a:p>
        </p:txBody>
      </p:sp>
      <p:sp>
        <p:nvSpPr>
          <p:cNvPr id="43" name="Text 39"/>
          <p:cNvSpPr/>
          <p:nvPr/>
        </p:nvSpPr>
        <p:spPr>
          <a:xfrm>
            <a:off x="5825381" y="4781302"/>
            <a:ext cx="777280" cy="289520"/>
          </a:xfrm>
          <a:custGeom>
            <a:avLst/>
            <a:gdLst/>
            <a:ahLst/>
            <a:cxnLst/>
            <a:rect l="l" t="t" r="r" b="b"/>
            <a:pathLst>
              <a:path w="777280" h="289520">
                <a:moveTo>
                  <a:pt x="144760" y="0"/>
                </a:moveTo>
                <a:lnTo>
                  <a:pt x="632520" y="0"/>
                </a:lnTo>
                <a:arcTo hR="144760" wR="144760" stAng="16200000" swAng="5400000"/>
                <a:lnTo>
                  <a:pt x="77728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failed</a:t>
            </a:r>
            <a:endParaRPr lang="en-US" sz="1200" dirty="0"/>
          </a:p>
        </p:txBody>
      </p:sp>
      <p:sp>
        <p:nvSpPr>
          <p:cNvPr id="44" name="Text 40"/>
          <p:cNvSpPr/>
          <p:nvPr/>
        </p:nvSpPr>
        <p:spPr>
          <a:xfrm>
            <a:off x="6704261" y="4781302"/>
            <a:ext cx="960140" cy="289520"/>
          </a:xfrm>
          <a:custGeom>
            <a:avLst/>
            <a:gdLst/>
            <a:ahLst/>
            <a:cxnLst/>
            <a:rect l="l" t="t" r="r" b="b"/>
            <a:pathLst>
              <a:path w="960140" h="289520">
                <a:moveTo>
                  <a:pt x="144760" y="0"/>
                </a:moveTo>
                <a:lnTo>
                  <a:pt x="815380" y="0"/>
                </a:lnTo>
                <a:arcTo hR="144760" wR="144760" stAng="16200000" swAng="5400000"/>
                <a:lnTo>
                  <a:pt x="96014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canceled</a:t>
            </a:r>
            <a:endParaRPr lang="en-US" sz="1200" dirty="0"/>
          </a:p>
        </p:txBody>
      </p:sp>
      <p:sp>
        <p:nvSpPr>
          <p:cNvPr id="45" name="Text 41"/>
          <p:cNvSpPr/>
          <p:nvPr/>
        </p:nvSpPr>
        <p:spPr>
          <a:xfrm>
            <a:off x="7766000" y="4781302"/>
            <a:ext cx="960140" cy="289520"/>
          </a:xfrm>
          <a:custGeom>
            <a:avLst/>
            <a:gdLst/>
            <a:ahLst/>
            <a:cxnLst/>
            <a:rect l="l" t="t" r="r" b="b"/>
            <a:pathLst>
              <a:path w="960140" h="289520">
                <a:moveTo>
                  <a:pt x="144760" y="0"/>
                </a:moveTo>
                <a:lnTo>
                  <a:pt x="815380" y="0"/>
                </a:lnTo>
                <a:arcTo hR="144760" wR="144760" stAng="16200000" swAng="5400000"/>
                <a:lnTo>
                  <a:pt x="96014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rejected</a:t>
            </a:r>
            <a:endParaRPr lang="en-US" sz="1200" dirty="0"/>
          </a:p>
        </p:txBody>
      </p:sp>
      <p:sp>
        <p:nvSpPr>
          <p:cNvPr id="46" name="Text 42"/>
          <p:cNvSpPr/>
          <p:nvPr/>
        </p:nvSpPr>
        <p:spPr>
          <a:xfrm>
            <a:off x="1054100" y="5204172"/>
            <a:ext cx="1521470" cy="302220"/>
          </a:xfrm>
          <a:prstGeom prst="roundRect">
            <a:avLst>
              <a:gd name="adj" fmla="val 5000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input-required</a:t>
            </a:r>
            <a:endParaRPr lang="en-US" sz="1200" dirty="0"/>
          </a:p>
        </p:txBody>
      </p:sp>
      <p:sp>
        <p:nvSpPr>
          <p:cNvPr id="47" name="Text 43"/>
          <p:cNvSpPr/>
          <p:nvPr/>
        </p:nvSpPr>
        <p:spPr>
          <a:xfrm>
            <a:off x="2689870" y="5204172"/>
            <a:ext cx="1430040" cy="302220"/>
          </a:xfrm>
          <a:prstGeom prst="roundRect">
            <a:avLst>
              <a:gd name="adj" fmla="val 5000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auth-required</a:t>
            </a:r>
            <a:endParaRPr lang="en-US" sz="1200" dirty="0"/>
          </a:p>
        </p:txBody>
      </p:sp>
      <p:sp>
        <p:nvSpPr>
          <p:cNvPr id="48" name="Text 44"/>
          <p:cNvSpPr/>
          <p:nvPr/>
        </p:nvSpPr>
        <p:spPr>
          <a:xfrm>
            <a:off x="4227860" y="5239693"/>
            <a:ext cx="458539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263"/>
                </a:solidFill>
                <a:latin typeface="Noto Sans KR" pitchFamily="34" charset="0"/>
                <a:ea typeface="Noto Sans KR" pitchFamily="34" charset="-122"/>
                <a:cs typeface="Noto Sans KR" pitchFamily="34" charset="-120"/>
              </a:rPr>
              <a:t>일시 정지:</a:t>
            </a:r>
            <a:r>
              <a:rPr lang="en-US" sz="1300" dirty="0">
                <a:solidFill>
                  <a:srgbClr val="4A5263"/>
                </a:solidFill>
                <a:latin typeface="Noto Sans KR" pitchFamily="34" charset="0"/>
                <a:ea typeface="Noto Sans KR" pitchFamily="34" charset="-122"/>
                <a:cs typeface="Noto Sans KR" pitchFamily="34" charset="-120"/>
              </a:rPr>
              <a:t> Client의 응답을 기다린 뒤 다시 working으로</a:t>
            </a:r>
            <a:endParaRPr lang="en-US" sz="1300" dirty="0"/>
          </a:p>
        </p:txBody>
      </p:sp>
      <p:sp>
        <p:nvSpPr>
          <p:cNvPr id="49" name="Text 45"/>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50" name="Text 46"/>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Agent Skills</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에이전트가 할 수 있는 일을 설명하는 방법</a:t>
            </a:r>
            <a:endParaRPr lang="en-US" sz="1400" dirty="0"/>
          </a:p>
        </p:txBody>
      </p:sp>
      <p:sp>
        <p:nvSpPr>
          <p:cNvPr id="4" name="Text 2"/>
          <p:cNvSpPr/>
          <p:nvPr/>
        </p:nvSpPr>
        <p:spPr>
          <a:xfrm>
            <a:off x="812800" y="183381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5" name="Text 3"/>
          <p:cNvSpPr/>
          <p:nvPr/>
        </p:nvSpPr>
        <p:spPr>
          <a:xfrm>
            <a:off x="1092200" y="1833811"/>
            <a:ext cx="2678787"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하나의 구체적인 작업</a:t>
            </a:r>
            <a:r>
              <a:rPr lang="en-US" sz="1500" dirty="0">
                <a:solidFill>
                  <a:srgbClr val="33405A"/>
                </a:solidFill>
                <a:latin typeface="Noto Sans KR" pitchFamily="34" charset="0"/>
                <a:ea typeface="Noto Sans KR" pitchFamily="34" charset="-122"/>
                <a:cs typeface="Noto Sans KR" pitchFamily="34" charset="-120"/>
              </a:rPr>
              <a:t>을 정의</a:t>
            </a:r>
            <a:endParaRPr lang="en-US" sz="1500" dirty="0"/>
          </a:p>
        </p:txBody>
      </p:sp>
      <p:sp>
        <p:nvSpPr>
          <p:cNvPr id="6" name="Text 4"/>
          <p:cNvSpPr/>
          <p:nvPr/>
        </p:nvSpPr>
        <p:spPr>
          <a:xfrm>
            <a:off x="812800" y="234816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7" name="Text 5"/>
          <p:cNvSpPr/>
          <p:nvPr/>
        </p:nvSpPr>
        <p:spPr>
          <a:xfrm>
            <a:off x="1092200" y="2348161"/>
            <a:ext cx="397722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LLM이 읽도록 작성:</a:t>
            </a:r>
            <a:r>
              <a:rPr lang="en-US" sz="1500" dirty="0">
                <a:solidFill>
                  <a:srgbClr val="33405A"/>
                </a:solidFill>
                <a:latin typeface="Noto Sans KR" pitchFamily="34" charset="0"/>
                <a:ea typeface="Noto Sans KR" pitchFamily="34" charset="-122"/>
                <a:cs typeface="Noto Sans KR" pitchFamily="34" charset="-120"/>
              </a:rPr>
              <a:t> 이름, 설명, 태그, 예시</a:t>
            </a:r>
            <a:endParaRPr lang="en-US" sz="1500" dirty="0"/>
          </a:p>
        </p:txBody>
      </p:sp>
      <p:sp>
        <p:nvSpPr>
          <p:cNvPr id="8" name="Text 6"/>
          <p:cNvSpPr/>
          <p:nvPr/>
        </p:nvSpPr>
        <p:spPr>
          <a:xfrm>
            <a:off x="812800" y="286251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9" name="Text 7"/>
          <p:cNvSpPr/>
          <p:nvPr/>
        </p:nvSpPr>
        <p:spPr>
          <a:xfrm>
            <a:off x="1092200" y="2862511"/>
            <a:ext cx="260312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입력·출력 형식</a:t>
            </a:r>
            <a:r>
              <a:rPr lang="en-US" sz="1500" dirty="0">
                <a:solidFill>
                  <a:srgbClr val="33405A"/>
                </a:solidFill>
                <a:latin typeface="Noto Sans KR" pitchFamily="34" charset="0"/>
                <a:ea typeface="Noto Sans KR" pitchFamily="34" charset="-122"/>
                <a:cs typeface="Noto Sans KR" pitchFamily="34" charset="-120"/>
              </a:rPr>
              <a:t>을 미리 선언</a:t>
            </a:r>
            <a:endParaRPr lang="en-US" sz="1500" dirty="0"/>
          </a:p>
        </p:txBody>
      </p:sp>
      <p:sp>
        <p:nvSpPr>
          <p:cNvPr id="10" name="Text 8"/>
          <p:cNvSpPr/>
          <p:nvPr/>
        </p:nvSpPr>
        <p:spPr>
          <a:xfrm>
            <a:off x="812800" y="5080000"/>
            <a:ext cx="5207000" cy="762000"/>
          </a:xfrm>
          <a:prstGeom prst="roundRect">
            <a:avLst>
              <a:gd name="adj" fmla="val 13333"/>
            </a:avLst>
          </a:prstGeom>
          <a:solidFill>
            <a:srgbClr val="E9E5DC"/>
          </a:solidFill>
          <a:ln/>
        </p:spPr>
        <p:txBody>
          <a:bodyPr wrap="square" lIns="148042" tIns="122642" rIns="2500" bIns="97242" rtlCol="0" anchor="t">
            <a:normAutofit/>
          </a:bodyPr>
          <a:lstStyle/>
          <a:p>
            <a:pPr algn="l" indent="0" marL="0">
              <a:lnSpc>
                <a:spcPts val="1800"/>
              </a:lnSpc>
              <a:buNone/>
            </a:pPr>
            <a:r>
              <a:rPr lang="en-US" sz="1200" b="1" dirty="0">
                <a:solidFill>
                  <a:srgbClr val="4A5263"/>
                </a:solidFill>
                <a:latin typeface="Noto Sans KR" pitchFamily="34" charset="0"/>
                <a:ea typeface="Noto Sans KR" pitchFamily="34" charset="-122"/>
                <a:cs typeface="Noto Sans KR" pitchFamily="34" charset="-120"/>
              </a:rPr>
              <a:t>참고:</a:t>
            </a:r>
            <a:r>
              <a:rPr lang="en-US" sz="1200" dirty="0">
                <a:solidFill>
                  <a:srgbClr val="4A5263"/>
                </a:solidFill>
                <a:latin typeface="Noto Sans KR" pitchFamily="34" charset="0"/>
                <a:ea typeface="Noto Sans KR" pitchFamily="34" charset="-122"/>
                <a:cs typeface="Noto Sans KR" pitchFamily="34" charset="-120"/>
              </a:rPr>
              <a:t> SKILL.md 형태의 “agent skills”와는 다른 개념입니다. A2A Skill은 외부에 공개하는 기능입니다.</a:t>
            </a:r>
            <a:endParaRPr lang="en-US" sz="1200" dirty="0"/>
          </a:p>
        </p:txBody>
      </p:sp>
      <p:sp>
        <p:nvSpPr>
          <p:cNvPr id="11" name="Shape 9"/>
          <p:cNvSpPr/>
          <p:nvPr/>
        </p:nvSpPr>
        <p:spPr>
          <a:xfrm>
            <a:off x="6378575" y="1836986"/>
            <a:ext cx="4997450" cy="4001839"/>
          </a:xfrm>
          <a:prstGeom prst="roundRect">
            <a:avLst>
              <a:gd name="adj" fmla="val 3729"/>
            </a:avLst>
          </a:prstGeom>
          <a:solidFill>
            <a:srgbClr val="FCFBF8"/>
          </a:solidFill>
          <a:ln w="6350">
            <a:solidFill>
              <a:srgbClr val="DAD6CC"/>
            </a:solidFill>
            <a:prstDash val="solid"/>
          </a:ln>
          <a:effectLst>
            <a:outerShdw sx="100000" sy="100000" kx="0" ky="0" algn="bl" rotWithShape="0" blurRad="254000" dist="76200" dir="5400000">
              <a:srgbClr val="141B2D">
                <a:alpha val="8000"/>
              </a:srgbClr>
            </a:outerShdw>
          </a:effectLst>
        </p:spPr>
      </p:sp>
      <p:sp>
        <p:nvSpPr>
          <p:cNvPr id="12" name="Shape 10"/>
          <p:cNvSpPr/>
          <p:nvPr/>
        </p:nvSpPr>
        <p:spPr>
          <a:xfrm>
            <a:off x="6635750" y="2141091"/>
            <a:ext cx="406400" cy="406400"/>
          </a:xfrm>
          <a:prstGeom prst="roundRect">
            <a:avLst>
              <a:gd name="adj" fmla="val 25000"/>
            </a:avLst>
          </a:prstGeom>
          <a:solidFill>
            <a:srgbClr val="E7EEF9"/>
          </a:solidFill>
          <a:ln/>
        </p:spPr>
      </p:sp>
      <p:pic>
        <p:nvPicPr>
          <p:cNvPr id="13" name="Image 0" descr="Database">    </p:cNvPr>
          <p:cNvPicPr>
            <a:picLocks noChangeAspect="1"/>
          </p:cNvPicPr>
          <p:nvPr/>
        </p:nvPicPr>
        <p:blipFill>
          <a:blip r:embed="rId1"/>
          <a:srcRect l="0" r="0" t="0" b="0"/>
          <a:stretch/>
        </p:blipFill>
        <p:spPr>
          <a:xfrm>
            <a:off x="6724650" y="2229991"/>
            <a:ext cx="228600" cy="228600"/>
          </a:xfrm>
          <a:prstGeom prst="rect">
            <a:avLst/>
          </a:prstGeom>
        </p:spPr>
      </p:pic>
      <p:sp>
        <p:nvSpPr>
          <p:cNvPr id="14" name="Text 11"/>
          <p:cNvSpPr/>
          <p:nvPr/>
        </p:nvSpPr>
        <p:spPr>
          <a:xfrm>
            <a:off x="7169150" y="2094161"/>
            <a:ext cx="20848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Skill · check_stock</a:t>
            </a:r>
            <a:endParaRPr lang="en-US" sz="1200" dirty="0"/>
          </a:p>
        </p:txBody>
      </p:sp>
      <p:sp>
        <p:nvSpPr>
          <p:cNvPr id="15" name="Text 12"/>
          <p:cNvSpPr/>
          <p:nvPr/>
        </p:nvSpPr>
        <p:spPr>
          <a:xfrm>
            <a:off x="7169150" y="2320181"/>
            <a:ext cx="178949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B2D"/>
                </a:solidFill>
                <a:latin typeface="Noto Sans KR" pitchFamily="34" charset="0"/>
                <a:ea typeface="Noto Sans KR" pitchFamily="34" charset="-122"/>
                <a:cs typeface="Noto Sans KR" pitchFamily="34" charset="-120"/>
              </a:rPr>
              <a:t>창고 재고 확인</a:t>
            </a:r>
            <a:endParaRPr lang="en-US" sz="1800" dirty="0"/>
          </a:p>
        </p:txBody>
      </p:sp>
      <p:sp>
        <p:nvSpPr>
          <p:cNvPr id="16" name="Text 13"/>
          <p:cNvSpPr/>
          <p:nvPr/>
        </p:nvSpPr>
        <p:spPr>
          <a:xfrm>
            <a:off x="6635750" y="2721471"/>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설명</a:t>
            </a:r>
            <a:endParaRPr lang="en-US" sz="1200" dirty="0"/>
          </a:p>
        </p:txBody>
      </p:sp>
      <p:sp>
        <p:nvSpPr>
          <p:cNvPr id="17" name="Text 14"/>
          <p:cNvSpPr/>
          <p:nvPr/>
        </p:nvSpPr>
        <p:spPr>
          <a:xfrm>
            <a:off x="6635750" y="2972891"/>
            <a:ext cx="4617593"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41B2D"/>
                </a:solidFill>
                <a:latin typeface="Noto Sans KR" pitchFamily="34" charset="0"/>
                <a:ea typeface="Noto Sans KR" pitchFamily="34" charset="-122"/>
                <a:cs typeface="Noto Sans KR" pitchFamily="34" charset="-120"/>
              </a:rPr>
              <a:t>특정 제품의 실시간 창고 재고 수량을 반환합니다.</a:t>
            </a:r>
            <a:endParaRPr lang="en-US" sz="1400" dirty="0"/>
          </a:p>
        </p:txBody>
      </p:sp>
      <p:sp>
        <p:nvSpPr>
          <p:cNvPr id="18" name="Text 15"/>
          <p:cNvSpPr/>
          <p:nvPr/>
        </p:nvSpPr>
        <p:spPr>
          <a:xfrm>
            <a:off x="6635750" y="3366591"/>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태그</a:t>
            </a:r>
            <a:endParaRPr lang="en-US" sz="1200" dirty="0"/>
          </a:p>
        </p:txBody>
      </p:sp>
      <p:sp>
        <p:nvSpPr>
          <p:cNvPr id="19" name="Text 16"/>
          <p:cNvSpPr/>
          <p:nvPr/>
        </p:nvSpPr>
        <p:spPr>
          <a:xfrm>
            <a:off x="6635750" y="3643412"/>
            <a:ext cx="908745" cy="264120"/>
          </a:xfrm>
          <a:custGeom>
            <a:avLst/>
            <a:gdLst/>
            <a:ahLst/>
            <a:cxnLst/>
            <a:rect l="l" t="t" r="r" b="b"/>
            <a:pathLst>
              <a:path w="908745" h="264120">
                <a:moveTo>
                  <a:pt x="132060" y="0"/>
                </a:moveTo>
                <a:lnTo>
                  <a:pt x="776684" y="0"/>
                </a:lnTo>
                <a:arcTo hR="132060" wR="132060" stAng="16200000" swAng="5400000"/>
                <a:lnTo>
                  <a:pt x="908745"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inventory</a:t>
            </a:r>
            <a:endParaRPr lang="en-US" sz="1200" dirty="0"/>
          </a:p>
        </p:txBody>
      </p:sp>
      <p:sp>
        <p:nvSpPr>
          <p:cNvPr id="20" name="Text 17"/>
          <p:cNvSpPr/>
          <p:nvPr/>
        </p:nvSpPr>
        <p:spPr>
          <a:xfrm>
            <a:off x="7620695" y="3643412"/>
            <a:ext cx="1009005" cy="264120"/>
          </a:xfrm>
          <a:custGeom>
            <a:avLst/>
            <a:gdLst/>
            <a:ahLst/>
            <a:cxnLst/>
            <a:rect l="l" t="t" r="r" b="b"/>
            <a:pathLst>
              <a:path w="1009005" h="264120">
                <a:moveTo>
                  <a:pt x="132060" y="0"/>
                </a:moveTo>
                <a:lnTo>
                  <a:pt x="876945" y="0"/>
                </a:lnTo>
                <a:arcTo hR="132060" wR="132060" stAng="16200000" swAng="5400000"/>
                <a:lnTo>
                  <a:pt x="1009005"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warehouse</a:t>
            </a:r>
            <a:endParaRPr lang="en-US" sz="1200" dirty="0"/>
          </a:p>
        </p:txBody>
      </p:sp>
      <p:sp>
        <p:nvSpPr>
          <p:cNvPr id="21" name="Text 18"/>
          <p:cNvSpPr/>
          <p:nvPr/>
        </p:nvSpPr>
        <p:spPr>
          <a:xfrm>
            <a:off x="8705900" y="3643412"/>
            <a:ext cx="605036" cy="264120"/>
          </a:xfrm>
          <a:custGeom>
            <a:avLst/>
            <a:gdLst/>
            <a:ahLst/>
            <a:cxnLst/>
            <a:rect l="l" t="t" r="r" b="b"/>
            <a:pathLst>
              <a:path w="605036" h="264120">
                <a:moveTo>
                  <a:pt x="132060" y="0"/>
                </a:moveTo>
                <a:lnTo>
                  <a:pt x="472976" y="0"/>
                </a:lnTo>
                <a:arcTo hR="132060" wR="132060" stAng="16200000" swAng="5400000"/>
                <a:lnTo>
                  <a:pt x="605036"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stock</a:t>
            </a:r>
            <a:endParaRPr lang="en-US" sz="1200" dirty="0"/>
          </a:p>
        </p:txBody>
      </p:sp>
      <p:sp>
        <p:nvSpPr>
          <p:cNvPr id="22" name="Text 19"/>
          <p:cNvSpPr/>
          <p:nvPr/>
        </p:nvSpPr>
        <p:spPr>
          <a:xfrm>
            <a:off x="6635750" y="4034532"/>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예시 프롬프트</a:t>
            </a:r>
            <a:endParaRPr lang="en-US" sz="1200" dirty="0"/>
          </a:p>
        </p:txBody>
      </p:sp>
      <p:sp>
        <p:nvSpPr>
          <p:cNvPr id="23" name="Text 20"/>
          <p:cNvSpPr/>
          <p:nvPr/>
        </p:nvSpPr>
        <p:spPr>
          <a:xfrm>
            <a:off x="6635750" y="4285952"/>
            <a:ext cx="461759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“노트북 재고가 몇 대 남았나요?”</a:t>
            </a:r>
            <a:endParaRPr lang="en-US" sz="1400" dirty="0"/>
          </a:p>
        </p:txBody>
      </p:sp>
      <p:sp>
        <p:nvSpPr>
          <p:cNvPr id="24" name="Text 21"/>
          <p:cNvSpPr/>
          <p:nvPr/>
        </p:nvSpPr>
        <p:spPr>
          <a:xfrm>
            <a:off x="6635750" y="4661843"/>
            <a:ext cx="3907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입력</a:t>
            </a:r>
            <a:endParaRPr lang="en-US" sz="1200" dirty="0"/>
          </a:p>
        </p:txBody>
      </p:sp>
      <p:sp>
        <p:nvSpPr>
          <p:cNvPr id="25" name="Text 22"/>
          <p:cNvSpPr/>
          <p:nvPr/>
        </p:nvSpPr>
        <p:spPr>
          <a:xfrm>
            <a:off x="6635750" y="4900563"/>
            <a:ext cx="40796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Text</a:t>
            </a:r>
            <a:endParaRPr lang="en-US" sz="1400" dirty="0"/>
          </a:p>
        </p:txBody>
      </p:sp>
      <p:sp>
        <p:nvSpPr>
          <p:cNvPr id="26" name="Text 23"/>
          <p:cNvSpPr/>
          <p:nvPr/>
        </p:nvSpPr>
        <p:spPr>
          <a:xfrm>
            <a:off x="7382123" y="4661843"/>
            <a:ext cx="10317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출력</a:t>
            </a:r>
            <a:endParaRPr lang="en-US" sz="1200" dirty="0"/>
          </a:p>
        </p:txBody>
      </p:sp>
      <p:sp>
        <p:nvSpPr>
          <p:cNvPr id="27" name="Text 24"/>
          <p:cNvSpPr/>
          <p:nvPr/>
        </p:nvSpPr>
        <p:spPr>
          <a:xfrm>
            <a:off x="7382123" y="4900563"/>
            <a:ext cx="117711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Text · JSON</a:t>
            </a:r>
            <a:endParaRPr lang="en-US" sz="1400" dirty="0"/>
          </a:p>
        </p:txBody>
      </p:sp>
      <p:sp>
        <p:nvSpPr>
          <p:cNvPr id="28" name="Text 25"/>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29" name="Text 26"/>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The Agent Card</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탐색과 연결을 위한 에이전트의 공개 명함</a:t>
            </a:r>
            <a:endParaRPr lang="en-US" sz="1400" dirty="0"/>
          </a:p>
        </p:txBody>
      </p:sp>
      <p:sp>
        <p:nvSpPr>
          <p:cNvPr id="4" name="Text 2"/>
          <p:cNvSpPr/>
          <p:nvPr/>
        </p:nvSpPr>
        <p:spPr>
          <a:xfrm>
            <a:off x="812800" y="2912715"/>
            <a:ext cx="460451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E6573"/>
                </a:solidFill>
                <a:latin typeface="Noto Sans KR" pitchFamily="34" charset="0"/>
                <a:ea typeface="Noto Sans KR" pitchFamily="34" charset="-122"/>
                <a:cs typeface="Noto Sans KR" pitchFamily="34" charset="-120"/>
              </a:rPr>
              <a:t>Agent Card가 알려 주는 것</a:t>
            </a:r>
            <a:endParaRPr lang="en-US" sz="1300" dirty="0"/>
          </a:p>
        </p:txBody>
      </p:sp>
      <p:sp>
        <p:nvSpPr>
          <p:cNvPr id="5" name="Text 3"/>
          <p:cNvSpPr/>
          <p:nvPr/>
        </p:nvSpPr>
        <p:spPr>
          <a:xfrm>
            <a:off x="812800" y="3397845"/>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6" name="Text 4"/>
          <p:cNvSpPr/>
          <p:nvPr/>
        </p:nvSpPr>
        <p:spPr>
          <a:xfrm>
            <a:off x="1092200" y="3397845"/>
            <a:ext cx="3437037"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무엇을 하는가:</a:t>
            </a:r>
            <a:r>
              <a:rPr lang="en-US" sz="1500" dirty="0">
                <a:solidFill>
                  <a:srgbClr val="33405A"/>
                </a:solidFill>
                <a:latin typeface="Noto Sans KR" pitchFamily="34" charset="0"/>
                <a:ea typeface="Noto Sans KR" pitchFamily="34" charset="-122"/>
                <a:cs typeface="Noto Sans KR" pitchFamily="34" charset="-120"/>
              </a:rPr>
              <a:t> 이름, 버전, Skill 목록</a:t>
            </a:r>
            <a:endParaRPr lang="en-US" sz="1500" dirty="0"/>
          </a:p>
        </p:txBody>
      </p:sp>
      <p:sp>
        <p:nvSpPr>
          <p:cNvPr id="7" name="Text 5"/>
          <p:cNvSpPr/>
          <p:nvPr/>
        </p:nvSpPr>
        <p:spPr>
          <a:xfrm>
            <a:off x="812800" y="3937595"/>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8" name="Text 6"/>
          <p:cNvSpPr/>
          <p:nvPr/>
        </p:nvSpPr>
        <p:spPr>
          <a:xfrm>
            <a:off x="1092200" y="3937595"/>
            <a:ext cx="317301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어디에 있는가:</a:t>
            </a:r>
            <a:r>
              <a:rPr lang="en-US" sz="1500" dirty="0">
                <a:solidFill>
                  <a:srgbClr val="33405A"/>
                </a:solidFill>
                <a:latin typeface="Noto Sans KR" pitchFamily="34" charset="0"/>
                <a:ea typeface="Noto Sans KR" pitchFamily="34" charset="-122"/>
                <a:cs typeface="Noto Sans KR" pitchFamily="34" charset="-120"/>
              </a:rPr>
              <a:t> 서비스 엔드포인트</a:t>
            </a:r>
            <a:endParaRPr lang="en-US" sz="1500" dirty="0"/>
          </a:p>
        </p:txBody>
      </p:sp>
      <p:sp>
        <p:nvSpPr>
          <p:cNvPr id="9" name="Text 7"/>
          <p:cNvSpPr/>
          <p:nvPr/>
        </p:nvSpPr>
        <p:spPr>
          <a:xfrm>
            <a:off x="812800" y="4477345"/>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10" name="Text 8"/>
          <p:cNvSpPr/>
          <p:nvPr/>
        </p:nvSpPr>
        <p:spPr>
          <a:xfrm>
            <a:off x="1092200" y="4477345"/>
            <a:ext cx="382321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어떻게 통신하는가:</a:t>
            </a:r>
            <a:r>
              <a:rPr lang="en-US" sz="1500" dirty="0">
                <a:solidFill>
                  <a:srgbClr val="33405A"/>
                </a:solidFill>
                <a:latin typeface="Noto Sans KR" pitchFamily="34" charset="0"/>
                <a:ea typeface="Noto Sans KR" pitchFamily="34" charset="-122"/>
                <a:cs typeface="Noto Sans KR" pitchFamily="34" charset="-120"/>
              </a:rPr>
              <a:t> 전송 방식, 기능, 보안</a:t>
            </a:r>
            <a:endParaRPr lang="en-US" sz="1500" dirty="0"/>
          </a:p>
        </p:txBody>
      </p:sp>
      <p:sp>
        <p:nvSpPr>
          <p:cNvPr id="11" name="Shape 9"/>
          <p:cNvSpPr/>
          <p:nvPr/>
        </p:nvSpPr>
        <p:spPr>
          <a:xfrm>
            <a:off x="5641975" y="1836986"/>
            <a:ext cx="5734050" cy="4001839"/>
          </a:xfrm>
          <a:prstGeom prst="roundRect">
            <a:avLst>
              <a:gd name="adj" fmla="val 3729"/>
            </a:avLst>
          </a:prstGeom>
          <a:solidFill>
            <a:srgbClr val="FCFBF8"/>
          </a:solidFill>
          <a:ln w="6350">
            <a:solidFill>
              <a:srgbClr val="DAD6CC"/>
            </a:solidFill>
            <a:prstDash val="solid"/>
          </a:ln>
          <a:effectLst>
            <a:outerShdw sx="100000" sy="100000" kx="0" ky="0" algn="bl" rotWithShape="0" blurRad="254000" dist="76200" dir="5400000">
              <a:srgbClr val="141B2D">
                <a:alpha val="8000"/>
              </a:srgbClr>
            </a:outerShdw>
          </a:effectLst>
        </p:spPr>
      </p:sp>
      <p:sp>
        <p:nvSpPr>
          <p:cNvPr id="12" name="Shape 10"/>
          <p:cNvSpPr/>
          <p:nvPr/>
        </p:nvSpPr>
        <p:spPr>
          <a:xfrm>
            <a:off x="5873750" y="2090291"/>
            <a:ext cx="457200" cy="457200"/>
          </a:xfrm>
          <a:prstGeom prst="roundRect">
            <a:avLst>
              <a:gd name="adj" fmla="val 25000"/>
            </a:avLst>
          </a:prstGeom>
          <a:solidFill>
            <a:srgbClr val="141B2D"/>
          </a:solidFill>
          <a:ln/>
        </p:spPr>
      </p:sp>
      <p:pic>
        <p:nvPicPr>
          <p:cNvPr id="13" name="Image 0" descr="Database">    </p:cNvPr>
          <p:cNvPicPr>
            <a:picLocks noChangeAspect="1"/>
          </p:cNvPicPr>
          <p:nvPr/>
        </p:nvPicPr>
        <p:blipFill>
          <a:blip r:embed="rId1"/>
          <a:srcRect l="0" r="0" t="0" b="0"/>
          <a:stretch/>
        </p:blipFill>
        <p:spPr>
          <a:xfrm>
            <a:off x="5975350" y="2191891"/>
            <a:ext cx="254000" cy="254000"/>
          </a:xfrm>
          <a:prstGeom prst="rect">
            <a:avLst/>
          </a:prstGeom>
        </p:spPr>
      </p:pic>
      <p:sp>
        <p:nvSpPr>
          <p:cNvPr id="14" name="Text 11"/>
          <p:cNvSpPr/>
          <p:nvPr/>
        </p:nvSpPr>
        <p:spPr>
          <a:xfrm>
            <a:off x="6457950" y="2068761"/>
            <a:ext cx="367694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B2D"/>
                </a:solidFill>
                <a:latin typeface="Space Grotesk" pitchFamily="34" charset="0"/>
                <a:ea typeface="Space Grotesk" pitchFamily="34" charset="-122"/>
                <a:cs typeface="Space Grotesk" pitchFamily="34" charset="-120"/>
              </a:rPr>
              <a:t>Warehouse Inventory Agent</a:t>
            </a:r>
            <a:endParaRPr lang="en-US" sz="1800" dirty="0"/>
          </a:p>
        </p:txBody>
      </p:sp>
      <p:sp>
        <p:nvSpPr>
          <p:cNvPr id="15" name="Text 12"/>
          <p:cNvSpPr/>
          <p:nvPr/>
        </p:nvSpPr>
        <p:spPr>
          <a:xfrm>
            <a:off x="6457950" y="2355751"/>
            <a:ext cx="31560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v1.0.0 · 제공: Acme Logistics</a:t>
            </a:r>
            <a:endParaRPr lang="en-US" sz="1200" dirty="0"/>
          </a:p>
        </p:txBody>
      </p:sp>
      <p:sp>
        <p:nvSpPr>
          <p:cNvPr id="16" name="Shape 13"/>
          <p:cNvSpPr/>
          <p:nvPr/>
        </p:nvSpPr>
        <p:spPr>
          <a:xfrm>
            <a:off x="5873750" y="2683371"/>
            <a:ext cx="5270500" cy="629841"/>
          </a:xfrm>
          <a:prstGeom prst="roundRect">
            <a:avLst>
              <a:gd name="adj" fmla="val 12098"/>
            </a:avLst>
          </a:prstGeom>
          <a:solidFill>
            <a:srgbClr val="F0EDE6"/>
          </a:solidFill>
          <a:ln/>
        </p:spPr>
      </p:sp>
      <p:sp>
        <p:nvSpPr>
          <p:cNvPr id="17" name="Text 14"/>
          <p:cNvSpPr/>
          <p:nvPr/>
        </p:nvSpPr>
        <p:spPr>
          <a:xfrm>
            <a:off x="6000750" y="277227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JetBrains Mono" pitchFamily="49" charset="0"/>
                <a:ea typeface="JetBrains Mono" pitchFamily="49" charset="-122"/>
                <a:cs typeface="JetBrains Mono" pitchFamily="49" charset="-120"/>
              </a:rPr>
              <a:t>inventory.acme.example/a2a</a:t>
            </a:r>
            <a:endParaRPr lang="en-US" sz="1200" dirty="0"/>
          </a:p>
        </p:txBody>
      </p:sp>
      <p:sp>
        <p:nvSpPr>
          <p:cNvPr id="18" name="Text 15"/>
          <p:cNvSpPr/>
          <p:nvPr/>
        </p:nvSpPr>
        <p:spPr>
          <a:xfrm>
            <a:off x="6000750" y="301099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Card 위치: /.well-known/agent-card.json</a:t>
            </a:r>
            <a:endParaRPr lang="en-US" sz="1200" dirty="0"/>
          </a:p>
        </p:txBody>
      </p:sp>
      <p:sp>
        <p:nvSpPr>
          <p:cNvPr id="19" name="Shape 16"/>
          <p:cNvSpPr/>
          <p:nvPr/>
        </p:nvSpPr>
        <p:spPr>
          <a:xfrm>
            <a:off x="5873750" y="3427512"/>
            <a:ext cx="1111101" cy="289520"/>
          </a:xfrm>
          <a:prstGeom prst="roundRect">
            <a:avLst>
              <a:gd name="adj" fmla="val 50000"/>
            </a:avLst>
          </a:prstGeom>
          <a:solidFill>
            <a:srgbClr val="E7EEF9"/>
          </a:solidFill>
          <a:ln/>
        </p:spPr>
      </p:sp>
      <p:pic>
        <p:nvPicPr>
          <p:cNvPr id="20" name="Image 1" descr="Check">    </p:cNvPr>
          <p:cNvPicPr>
            <a:picLocks noChangeAspect="1"/>
          </p:cNvPicPr>
          <p:nvPr/>
        </p:nvPicPr>
        <p:blipFill>
          <a:blip r:embed="rId2"/>
          <a:srcRect l="0" r="0" t="0" b="0"/>
          <a:stretch/>
        </p:blipFill>
        <p:spPr>
          <a:xfrm>
            <a:off x="5962650" y="3496072"/>
            <a:ext cx="152400" cy="152400"/>
          </a:xfrm>
          <a:prstGeom prst="rect">
            <a:avLst/>
          </a:prstGeom>
        </p:spPr>
      </p:pic>
      <p:sp>
        <p:nvSpPr>
          <p:cNvPr id="21" name="Text 17"/>
          <p:cNvSpPr/>
          <p:nvPr/>
        </p:nvSpPr>
        <p:spPr>
          <a:xfrm>
            <a:off x="6165850" y="3465612"/>
            <a:ext cx="81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Streaming</a:t>
            </a:r>
            <a:endParaRPr lang="en-US" sz="1200" dirty="0"/>
          </a:p>
        </p:txBody>
      </p:sp>
      <p:sp>
        <p:nvSpPr>
          <p:cNvPr id="22" name="Shape 18"/>
          <p:cNvSpPr/>
          <p:nvPr/>
        </p:nvSpPr>
        <p:spPr>
          <a:xfrm>
            <a:off x="7061051" y="3427512"/>
            <a:ext cx="1655366" cy="289520"/>
          </a:xfrm>
          <a:prstGeom prst="roundRect">
            <a:avLst>
              <a:gd name="adj" fmla="val 50000"/>
            </a:avLst>
          </a:prstGeom>
          <a:solidFill>
            <a:srgbClr val="E7EEF9"/>
          </a:solidFill>
          <a:ln/>
        </p:spPr>
      </p:sp>
      <p:pic>
        <p:nvPicPr>
          <p:cNvPr id="23" name="Image 2" descr="Check">    </p:cNvPr>
          <p:cNvPicPr>
            <a:picLocks noChangeAspect="1"/>
          </p:cNvPicPr>
          <p:nvPr/>
        </p:nvPicPr>
        <p:blipFill>
          <a:blip r:embed="rId3"/>
          <a:srcRect l="0" r="0" t="0" b="0"/>
          <a:stretch/>
        </p:blipFill>
        <p:spPr>
          <a:xfrm>
            <a:off x="7149951" y="3496072"/>
            <a:ext cx="152400" cy="152400"/>
          </a:xfrm>
          <a:prstGeom prst="rect">
            <a:avLst/>
          </a:prstGeom>
        </p:spPr>
      </p:pic>
      <p:sp>
        <p:nvSpPr>
          <p:cNvPr id="24" name="Text 19"/>
          <p:cNvSpPr/>
          <p:nvPr/>
        </p:nvSpPr>
        <p:spPr>
          <a:xfrm>
            <a:off x="7353151" y="3465612"/>
            <a:ext cx="1363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Push notifications</a:t>
            </a:r>
            <a:endParaRPr lang="en-US" sz="1200" dirty="0"/>
          </a:p>
        </p:txBody>
      </p:sp>
      <p:sp>
        <p:nvSpPr>
          <p:cNvPr id="25" name="Shape 20"/>
          <p:cNvSpPr/>
          <p:nvPr/>
        </p:nvSpPr>
        <p:spPr>
          <a:xfrm>
            <a:off x="8792617" y="3427512"/>
            <a:ext cx="1389063" cy="289520"/>
          </a:xfrm>
          <a:prstGeom prst="roundRect">
            <a:avLst>
              <a:gd name="adj" fmla="val 50000"/>
            </a:avLst>
          </a:prstGeom>
          <a:solidFill>
            <a:srgbClr val="E7EEF9"/>
          </a:solidFill>
          <a:ln/>
        </p:spPr>
      </p:sp>
      <p:pic>
        <p:nvPicPr>
          <p:cNvPr id="26" name="Image 3" descr="Check">    </p:cNvPr>
          <p:cNvPicPr>
            <a:picLocks noChangeAspect="1"/>
          </p:cNvPicPr>
          <p:nvPr/>
        </p:nvPicPr>
        <p:blipFill>
          <a:blip r:embed="rId4"/>
          <a:srcRect l="0" r="0" t="0" b="0"/>
          <a:stretch/>
        </p:blipFill>
        <p:spPr>
          <a:xfrm>
            <a:off x="8881517" y="3496072"/>
            <a:ext cx="152400" cy="152400"/>
          </a:xfrm>
          <a:prstGeom prst="rect">
            <a:avLst/>
          </a:prstGeom>
        </p:spPr>
      </p:pic>
      <p:sp>
        <p:nvSpPr>
          <p:cNvPr id="27" name="Text 21"/>
          <p:cNvSpPr/>
          <p:nvPr/>
        </p:nvSpPr>
        <p:spPr>
          <a:xfrm>
            <a:off x="9084717" y="3465612"/>
            <a:ext cx="1096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Extended card</a:t>
            </a:r>
            <a:endParaRPr lang="en-US" sz="1200" dirty="0"/>
          </a:p>
        </p:txBody>
      </p:sp>
      <p:sp>
        <p:nvSpPr>
          <p:cNvPr id="28" name="Text 22"/>
          <p:cNvSpPr/>
          <p:nvPr/>
        </p:nvSpPr>
        <p:spPr>
          <a:xfrm>
            <a:off x="5873750" y="3831332"/>
            <a:ext cx="26358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보안</a:t>
            </a:r>
            <a:endParaRPr lang="en-US" sz="1200" dirty="0"/>
          </a:p>
        </p:txBody>
      </p:sp>
      <p:sp>
        <p:nvSpPr>
          <p:cNvPr id="29" name="Text 23"/>
          <p:cNvSpPr/>
          <p:nvPr/>
        </p:nvSpPr>
        <p:spPr>
          <a:xfrm>
            <a:off x="5873750" y="4057352"/>
            <a:ext cx="2635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OAuth 2.0 · OpenID Connect</a:t>
            </a:r>
            <a:endParaRPr lang="en-US" sz="1200" dirty="0"/>
          </a:p>
        </p:txBody>
      </p:sp>
      <p:sp>
        <p:nvSpPr>
          <p:cNvPr id="30" name="Text 24"/>
          <p:cNvSpPr/>
          <p:nvPr/>
        </p:nvSpPr>
        <p:spPr>
          <a:xfrm>
            <a:off x="8585200" y="3831332"/>
            <a:ext cx="26358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전송 방식</a:t>
            </a:r>
            <a:endParaRPr lang="en-US" sz="1200" dirty="0"/>
          </a:p>
        </p:txBody>
      </p:sp>
      <p:sp>
        <p:nvSpPr>
          <p:cNvPr id="31" name="Text 25"/>
          <p:cNvSpPr/>
          <p:nvPr/>
        </p:nvSpPr>
        <p:spPr>
          <a:xfrm>
            <a:off x="8585200" y="4057352"/>
            <a:ext cx="2635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JSON-RPC · gRPC · HTTP+JSON</a:t>
            </a:r>
            <a:endParaRPr lang="en-US" sz="1200" dirty="0"/>
          </a:p>
        </p:txBody>
      </p:sp>
      <p:sp>
        <p:nvSpPr>
          <p:cNvPr id="32" name="Text 26"/>
          <p:cNvSpPr/>
          <p:nvPr/>
        </p:nvSpPr>
        <p:spPr>
          <a:xfrm>
            <a:off x="5873750" y="4384973"/>
            <a:ext cx="54286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Skills (2)</a:t>
            </a:r>
            <a:endParaRPr lang="en-US" sz="1200" dirty="0"/>
          </a:p>
        </p:txBody>
      </p:sp>
      <p:sp>
        <p:nvSpPr>
          <p:cNvPr id="33" name="Shape 27"/>
          <p:cNvSpPr/>
          <p:nvPr/>
        </p:nvSpPr>
        <p:spPr>
          <a:xfrm>
            <a:off x="5876925" y="4664968"/>
            <a:ext cx="5264150" cy="321270"/>
          </a:xfrm>
          <a:prstGeom prst="roundRect">
            <a:avLst>
              <a:gd name="adj" fmla="val 22730"/>
            </a:avLst>
          </a:prstGeom>
          <a:noFill/>
          <a:ln w="6350">
            <a:solidFill>
              <a:srgbClr val="DAD6CC"/>
            </a:solidFill>
            <a:prstDash val="solid"/>
          </a:ln>
        </p:spPr>
      </p:sp>
      <p:pic>
        <p:nvPicPr>
          <p:cNvPr id="34" name="Image 4" descr="Database">    </p:cNvPr>
          <p:cNvPicPr>
            <a:picLocks noChangeAspect="1"/>
          </p:cNvPicPr>
          <p:nvPr/>
        </p:nvPicPr>
        <p:blipFill>
          <a:blip r:embed="rId5"/>
          <a:srcRect l="0" r="0" t="0" b="0"/>
          <a:stretch/>
        </p:blipFill>
        <p:spPr>
          <a:xfrm>
            <a:off x="5981700" y="4736703"/>
            <a:ext cx="177800" cy="177800"/>
          </a:xfrm>
          <a:prstGeom prst="rect">
            <a:avLst/>
          </a:prstGeom>
        </p:spPr>
      </p:pic>
      <p:sp>
        <p:nvSpPr>
          <p:cNvPr id="35" name="Text 28"/>
          <p:cNvSpPr/>
          <p:nvPr/>
        </p:nvSpPr>
        <p:spPr>
          <a:xfrm>
            <a:off x="6248400" y="4718943"/>
            <a:ext cx="10921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창고 재고 확인</a:t>
            </a:r>
            <a:endParaRPr lang="en-US" sz="1200" dirty="0"/>
          </a:p>
        </p:txBody>
      </p:sp>
      <p:sp>
        <p:nvSpPr>
          <p:cNvPr id="36" name="Text 29"/>
          <p:cNvSpPr/>
          <p:nvPr/>
        </p:nvSpPr>
        <p:spPr>
          <a:xfrm>
            <a:off x="10030420" y="4718943"/>
            <a:ext cx="1107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check_stock</a:t>
            </a:r>
            <a:endParaRPr lang="en-US" sz="1200" dirty="0"/>
          </a:p>
        </p:txBody>
      </p:sp>
      <p:sp>
        <p:nvSpPr>
          <p:cNvPr id="37" name="Shape 30"/>
          <p:cNvSpPr/>
          <p:nvPr/>
        </p:nvSpPr>
        <p:spPr>
          <a:xfrm>
            <a:off x="5876925" y="5056088"/>
            <a:ext cx="5264150" cy="321270"/>
          </a:xfrm>
          <a:prstGeom prst="roundRect">
            <a:avLst>
              <a:gd name="adj" fmla="val 22730"/>
            </a:avLst>
          </a:prstGeom>
          <a:noFill/>
          <a:ln w="6350">
            <a:solidFill>
              <a:srgbClr val="DAD6CC"/>
            </a:solidFill>
            <a:prstDash val="solid"/>
          </a:ln>
        </p:spPr>
      </p:sp>
      <p:pic>
        <p:nvPicPr>
          <p:cNvPr id="38" name="Image 5" descr="Check">    </p:cNvPr>
          <p:cNvPicPr>
            <a:picLocks noChangeAspect="1"/>
          </p:cNvPicPr>
          <p:nvPr/>
        </p:nvPicPr>
        <p:blipFill>
          <a:blip r:embed="rId6"/>
          <a:srcRect l="0" r="0" t="0" b="0"/>
          <a:stretch/>
        </p:blipFill>
        <p:spPr>
          <a:xfrm>
            <a:off x="5981700" y="5127823"/>
            <a:ext cx="177800" cy="177800"/>
          </a:xfrm>
          <a:prstGeom prst="rect">
            <a:avLst/>
          </a:prstGeom>
        </p:spPr>
      </p:pic>
      <p:sp>
        <p:nvSpPr>
          <p:cNvPr id="39" name="Text 31"/>
          <p:cNvSpPr/>
          <p:nvPr/>
        </p:nvSpPr>
        <p:spPr>
          <a:xfrm>
            <a:off x="6248400" y="5110063"/>
            <a:ext cx="14700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재고 예약 및 백오더</a:t>
            </a:r>
            <a:endParaRPr lang="en-US" sz="1200" dirty="0"/>
          </a:p>
        </p:txBody>
      </p:sp>
      <p:sp>
        <p:nvSpPr>
          <p:cNvPr id="40" name="Text 32"/>
          <p:cNvSpPr/>
          <p:nvPr/>
        </p:nvSpPr>
        <p:spPr>
          <a:xfrm>
            <a:off x="9847560" y="5110063"/>
            <a:ext cx="1290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reserve_stock</a:t>
            </a:r>
            <a:endParaRPr lang="en-US" sz="1200" dirty="0"/>
          </a:p>
        </p:txBody>
      </p:sp>
      <p:sp>
        <p:nvSpPr>
          <p:cNvPr id="41" name="Text 33"/>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42" name="Text 34"/>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20198" y="889000"/>
            <a:ext cx="1036935" cy="289520"/>
          </a:xfrm>
          <a:custGeom>
            <a:avLst/>
            <a:gdLst/>
            <a:ahLst/>
            <a:cxnLst/>
            <a:rect l="l" t="t" r="r" b="b"/>
            <a:pathLst>
              <a:path w="1036935" h="289520">
                <a:moveTo>
                  <a:pt x="144760" y="0"/>
                </a:moveTo>
                <a:lnTo>
                  <a:pt x="892175" y="0"/>
                </a:lnTo>
                <a:arcTo hR="144760" wR="144760" stAng="16200000" swAng="5400000"/>
                <a:lnTo>
                  <a:pt x="1036935"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33333" y="989310"/>
            <a:ext cx="177800" cy="88900"/>
          </a:xfrm>
          <a:prstGeom prst="rect">
            <a:avLst/>
          </a:prstGeom>
        </p:spPr>
      </p:pic>
      <p:sp>
        <p:nvSpPr>
          <p:cNvPr id="4" name="Text 1"/>
          <p:cNvSpPr/>
          <p:nvPr/>
        </p:nvSpPr>
        <p:spPr>
          <a:xfrm>
            <a:off x="8593683" y="882650"/>
            <a:ext cx="1411288"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087521" y="989310"/>
            <a:ext cx="177800" cy="88900"/>
          </a:xfrm>
          <a:prstGeom prst="rect">
            <a:avLst/>
          </a:prstGeom>
        </p:spPr>
      </p:pic>
      <p:sp>
        <p:nvSpPr>
          <p:cNvPr id="6" name="Text 2"/>
          <p:cNvSpPr/>
          <p:nvPr/>
        </p:nvSpPr>
        <p:spPr>
          <a:xfrm>
            <a:off x="10347871" y="882650"/>
            <a:ext cx="1024979"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1 · Discovery</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함께 일할 에이전트를 찾는 단계</a:t>
            </a:r>
            <a:endParaRPr lang="en-US" sz="1400" dirty="0"/>
          </a:p>
        </p:txBody>
      </p:sp>
      <p:sp>
        <p:nvSpPr>
          <p:cNvPr id="9" name="Shape 5"/>
          <p:cNvSpPr/>
          <p:nvPr/>
        </p:nvSpPr>
        <p:spPr>
          <a:xfrm>
            <a:off x="815975" y="1836986"/>
            <a:ext cx="10560050" cy="1093391"/>
          </a:xfrm>
          <a:prstGeom prst="roundRect">
            <a:avLst>
              <a:gd name="adj" fmla="val 11325"/>
            </a:avLst>
          </a:prstGeom>
          <a:solidFill>
            <a:srgbClr val="FCFBF8"/>
          </a:solidFill>
          <a:ln w="6350">
            <a:solidFill>
              <a:srgbClr val="DAD6CC"/>
            </a:solidFill>
            <a:prstDash val="solid"/>
          </a:ln>
        </p:spPr>
      </p:sp>
      <p:sp>
        <p:nvSpPr>
          <p:cNvPr id="10" name="Shape 6"/>
          <p:cNvSpPr/>
          <p:nvPr/>
        </p:nvSpPr>
        <p:spPr>
          <a:xfrm>
            <a:off x="1022350" y="2040781"/>
            <a:ext cx="1229519" cy="685750"/>
          </a:xfrm>
          <a:prstGeom prst="roundRect">
            <a:avLst>
              <a:gd name="adj" fmla="val 12964"/>
            </a:avLst>
          </a:prstGeom>
          <a:solidFill>
            <a:srgbClr val="141B2D"/>
          </a:solidFill>
          <a:ln/>
        </p:spPr>
      </p:sp>
      <p:sp>
        <p:nvSpPr>
          <p:cNvPr id="11" name="Text 7"/>
          <p:cNvSpPr/>
          <p:nvPr/>
        </p:nvSpPr>
        <p:spPr>
          <a:xfrm>
            <a:off x="1174750" y="2155081"/>
            <a:ext cx="107711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Sales Agent</a:t>
            </a:r>
            <a:endParaRPr lang="en-US" sz="1300" dirty="0"/>
          </a:p>
        </p:txBody>
      </p:sp>
      <p:sp>
        <p:nvSpPr>
          <p:cNvPr id="12" name="Text 8"/>
          <p:cNvSpPr/>
          <p:nvPr/>
        </p:nvSpPr>
        <p:spPr>
          <a:xfrm>
            <a:off x="1174750" y="2398911"/>
            <a:ext cx="9755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A2A Client</a:t>
            </a:r>
            <a:endParaRPr lang="en-US" sz="1200" dirty="0"/>
          </a:p>
        </p:txBody>
      </p:sp>
      <p:sp>
        <p:nvSpPr>
          <p:cNvPr id="13" name="Text 9"/>
          <p:cNvSpPr/>
          <p:nvPr/>
        </p:nvSpPr>
        <p:spPr>
          <a:xfrm>
            <a:off x="2404269" y="1992561"/>
            <a:ext cx="72280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1 · GET /.well-known/agent-card.json</a:t>
            </a:r>
            <a:endParaRPr lang="en-US" sz="1200" dirty="0"/>
          </a:p>
        </p:txBody>
      </p:sp>
      <p:pic>
        <p:nvPicPr>
          <p:cNvPr id="14" name="Image 2" descr="connector">    </p:cNvPr>
          <p:cNvPicPr>
            <a:picLocks noChangeAspect="1"/>
          </p:cNvPicPr>
          <p:nvPr/>
        </p:nvPicPr>
        <p:blipFill>
          <a:blip r:embed="rId3"/>
          <a:srcRect l="0" r="0" t="0" b="0"/>
          <a:stretch/>
        </p:blipFill>
        <p:spPr>
          <a:xfrm>
            <a:off x="2404269" y="2256681"/>
            <a:ext cx="6350000" cy="101600"/>
          </a:xfrm>
          <a:prstGeom prst="rect">
            <a:avLst/>
          </a:prstGeom>
        </p:spPr>
      </p:pic>
      <p:pic>
        <p:nvPicPr>
          <p:cNvPr id="15" name="Image 3" descr="connector">    </p:cNvPr>
          <p:cNvPicPr>
            <a:picLocks noChangeAspect="1"/>
          </p:cNvPicPr>
          <p:nvPr/>
        </p:nvPicPr>
        <p:blipFill>
          <a:blip r:embed="rId4"/>
          <a:srcRect l="0" r="0" t="0" b="0"/>
          <a:stretch/>
        </p:blipFill>
        <p:spPr>
          <a:xfrm>
            <a:off x="2404269" y="2409081"/>
            <a:ext cx="6350000" cy="101600"/>
          </a:xfrm>
          <a:prstGeom prst="rect">
            <a:avLst/>
          </a:prstGeom>
        </p:spPr>
      </p:pic>
      <p:sp>
        <p:nvSpPr>
          <p:cNvPr id="16" name="Text 10"/>
          <p:cNvSpPr/>
          <p:nvPr/>
        </p:nvSpPr>
        <p:spPr>
          <a:xfrm>
            <a:off x="2404269" y="2561481"/>
            <a:ext cx="72280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2 · Agent Card 반환: Skill, 엔드포인트, 보안, 지원 기능</a:t>
            </a:r>
            <a:endParaRPr lang="en-US" sz="1200" dirty="0"/>
          </a:p>
        </p:txBody>
      </p:sp>
      <p:sp>
        <p:nvSpPr>
          <p:cNvPr id="17" name="Shape 11"/>
          <p:cNvSpPr/>
          <p:nvPr/>
        </p:nvSpPr>
        <p:spPr>
          <a:xfrm>
            <a:off x="9577388" y="2037606"/>
            <a:ext cx="1589088" cy="692100"/>
          </a:xfrm>
          <a:prstGeom prst="roundRect">
            <a:avLst>
              <a:gd name="adj" fmla="val 12386"/>
            </a:avLst>
          </a:prstGeom>
          <a:solidFill>
            <a:srgbClr val="FCE9DD"/>
          </a:solidFill>
          <a:ln w="6350">
            <a:solidFill>
              <a:srgbClr val="F1C9B0"/>
            </a:solidFill>
            <a:prstDash val="solid"/>
          </a:ln>
        </p:spPr>
      </p:sp>
      <p:sp>
        <p:nvSpPr>
          <p:cNvPr id="18" name="Text 12"/>
          <p:cNvSpPr/>
          <p:nvPr/>
        </p:nvSpPr>
        <p:spPr>
          <a:xfrm>
            <a:off x="9732963" y="2155081"/>
            <a:ext cx="143033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Inventory Agent</a:t>
            </a:r>
            <a:endParaRPr lang="en-US" sz="1300" dirty="0"/>
          </a:p>
        </p:txBody>
      </p:sp>
      <p:sp>
        <p:nvSpPr>
          <p:cNvPr id="19" name="Text 13"/>
          <p:cNvSpPr/>
          <p:nvPr/>
        </p:nvSpPr>
        <p:spPr>
          <a:xfrm>
            <a:off x="9732963" y="2398911"/>
            <a:ext cx="1328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A2A Server</a:t>
            </a:r>
            <a:endParaRPr lang="en-US" sz="1200" dirty="0"/>
          </a:p>
        </p:txBody>
      </p:sp>
      <p:sp>
        <p:nvSpPr>
          <p:cNvPr id="20" name="Shape 14"/>
          <p:cNvSpPr/>
          <p:nvPr/>
        </p:nvSpPr>
        <p:spPr>
          <a:xfrm>
            <a:off x="815975" y="3190726"/>
            <a:ext cx="3414167" cy="2648099"/>
          </a:xfrm>
          <a:prstGeom prst="roundRect">
            <a:avLst>
              <a:gd name="adj" fmla="val 4676"/>
            </a:avLst>
          </a:prstGeom>
          <a:solidFill>
            <a:srgbClr val="FCFBF8"/>
          </a:solidFill>
          <a:ln w="6350">
            <a:solidFill>
              <a:srgbClr val="DAD6CC"/>
            </a:solidFill>
            <a:prstDash val="solid"/>
          </a:ln>
        </p:spPr>
      </p:sp>
      <p:pic>
        <p:nvPicPr>
          <p:cNvPr id="21" name="Image 4" descr="Globe">    </p:cNvPr>
          <p:cNvPicPr>
            <a:picLocks noChangeAspect="1"/>
          </p:cNvPicPr>
          <p:nvPr/>
        </p:nvPicPr>
        <p:blipFill>
          <a:blip r:embed="rId5"/>
          <a:srcRect l="0" r="0" t="0" b="0"/>
          <a:stretch/>
        </p:blipFill>
        <p:spPr>
          <a:xfrm>
            <a:off x="1022350" y="3397101"/>
            <a:ext cx="254000" cy="254000"/>
          </a:xfrm>
          <a:prstGeom prst="rect">
            <a:avLst/>
          </a:prstGeom>
        </p:spPr>
      </p:pic>
      <p:sp>
        <p:nvSpPr>
          <p:cNvPr id="22" name="Text 15"/>
          <p:cNvSpPr/>
          <p:nvPr/>
        </p:nvSpPr>
        <p:spPr>
          <a:xfrm>
            <a:off x="1022350" y="372730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Well-known URI</a:t>
            </a:r>
            <a:endParaRPr lang="en-US" sz="1600" dirty="0"/>
          </a:p>
        </p:txBody>
      </p:sp>
      <p:sp>
        <p:nvSpPr>
          <p:cNvPr id="23" name="Text 16"/>
          <p:cNvSpPr/>
          <p:nvPr/>
        </p:nvSpPr>
        <p:spPr>
          <a:xfrm>
            <a:off x="1022350" y="404733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Noto Sans KR" pitchFamily="34" charset="0"/>
                <a:ea typeface="Noto Sans KR" pitchFamily="34" charset="-122"/>
                <a:cs typeface="Noto Sans KR" pitchFamily="34" charset="-120"/>
              </a:rPr>
              <a:t>공개된 정문</a:t>
            </a:r>
            <a:endParaRPr lang="en-US" sz="1200" dirty="0"/>
          </a:p>
        </p:txBody>
      </p:sp>
      <p:sp>
        <p:nvSpPr>
          <p:cNvPr id="24" name="Text 17"/>
          <p:cNvSpPr/>
          <p:nvPr/>
        </p:nvSpPr>
        <p:spPr>
          <a:xfrm>
            <a:off x="1022350" y="4336852"/>
            <a:ext cx="309145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도메인의 표준 경로 /.well-known/에서 Card를 조회</a:t>
            </a:r>
            <a:endParaRPr lang="en-US" sz="1300" dirty="0"/>
          </a:p>
        </p:txBody>
      </p:sp>
      <p:sp>
        <p:nvSpPr>
          <p:cNvPr id="25" name="Text 18"/>
          <p:cNvSpPr/>
          <p:nvPr/>
        </p:nvSpPr>
        <p:spPr>
          <a:xfrm>
            <a:off x="1022350" y="5419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공개·파트너용 에이전트</a:t>
            </a:r>
            <a:endParaRPr lang="en-US" sz="1200" dirty="0"/>
          </a:p>
        </p:txBody>
      </p:sp>
      <p:sp>
        <p:nvSpPr>
          <p:cNvPr id="26" name="Shape 19"/>
          <p:cNvSpPr/>
          <p:nvPr/>
        </p:nvSpPr>
        <p:spPr>
          <a:xfrm>
            <a:off x="4388892" y="3190726"/>
            <a:ext cx="3414216" cy="2648099"/>
          </a:xfrm>
          <a:prstGeom prst="roundRect">
            <a:avLst>
              <a:gd name="adj" fmla="val 4676"/>
            </a:avLst>
          </a:prstGeom>
          <a:solidFill>
            <a:srgbClr val="FCFBF8"/>
          </a:solidFill>
          <a:ln w="6350">
            <a:solidFill>
              <a:srgbClr val="DAD6CC"/>
            </a:solidFill>
            <a:prstDash val="solid"/>
          </a:ln>
        </p:spPr>
      </p:sp>
      <p:pic>
        <p:nvPicPr>
          <p:cNvPr id="27" name="Image 5" descr="Search">    </p:cNvPr>
          <p:cNvPicPr>
            <a:picLocks noChangeAspect="1"/>
          </p:cNvPicPr>
          <p:nvPr/>
        </p:nvPicPr>
        <p:blipFill>
          <a:blip r:embed="rId6"/>
          <a:srcRect l="0" r="0" t="0" b="0"/>
          <a:stretch/>
        </p:blipFill>
        <p:spPr>
          <a:xfrm>
            <a:off x="4595267" y="3397101"/>
            <a:ext cx="254000" cy="254000"/>
          </a:xfrm>
          <a:prstGeom prst="rect">
            <a:avLst/>
          </a:prstGeom>
        </p:spPr>
      </p:pic>
      <p:sp>
        <p:nvSpPr>
          <p:cNvPr id="28" name="Text 20"/>
          <p:cNvSpPr/>
          <p:nvPr/>
        </p:nvSpPr>
        <p:spPr>
          <a:xfrm>
            <a:off x="4595267" y="372730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Curated registry</a:t>
            </a:r>
            <a:endParaRPr lang="en-US" sz="1600" dirty="0"/>
          </a:p>
        </p:txBody>
      </p:sp>
      <p:sp>
        <p:nvSpPr>
          <p:cNvPr id="29" name="Text 21"/>
          <p:cNvSpPr/>
          <p:nvPr/>
        </p:nvSpPr>
        <p:spPr>
          <a:xfrm>
            <a:off x="4595267" y="404733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Noto Sans KR" pitchFamily="34" charset="0"/>
                <a:ea typeface="Noto Sans KR" pitchFamily="34" charset="-122"/>
                <a:cs typeface="Noto Sans KR" pitchFamily="34" charset="-120"/>
              </a:rPr>
              <a:t>사내 전화번호부</a:t>
            </a:r>
            <a:endParaRPr lang="en-US" sz="1200" dirty="0"/>
          </a:p>
        </p:txBody>
      </p:sp>
      <p:sp>
        <p:nvSpPr>
          <p:cNvPr id="30" name="Text 22"/>
          <p:cNvSpPr/>
          <p:nvPr/>
        </p:nvSpPr>
        <p:spPr>
          <a:xfrm>
            <a:off x="4595267" y="4336852"/>
            <a:ext cx="309151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Agent Card를 모은 중앙 카탈로그에서 Skill·태그로 검색</a:t>
            </a:r>
            <a:endParaRPr lang="en-US" sz="1300" dirty="0"/>
          </a:p>
        </p:txBody>
      </p:sp>
      <p:sp>
        <p:nvSpPr>
          <p:cNvPr id="31" name="Text 23"/>
          <p:cNvSpPr/>
          <p:nvPr/>
        </p:nvSpPr>
        <p:spPr>
          <a:xfrm>
            <a:off x="4595267" y="54191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에이전트가 많은 기업</a:t>
            </a:r>
            <a:endParaRPr lang="en-US" sz="1200" dirty="0"/>
          </a:p>
        </p:txBody>
      </p:sp>
      <p:sp>
        <p:nvSpPr>
          <p:cNvPr id="32" name="Shape 24"/>
          <p:cNvSpPr/>
          <p:nvPr/>
        </p:nvSpPr>
        <p:spPr>
          <a:xfrm>
            <a:off x="7961858" y="3190726"/>
            <a:ext cx="3414167" cy="2648099"/>
          </a:xfrm>
          <a:prstGeom prst="roundRect">
            <a:avLst>
              <a:gd name="adj" fmla="val 4676"/>
            </a:avLst>
          </a:prstGeom>
          <a:solidFill>
            <a:srgbClr val="FCFBF8"/>
          </a:solidFill>
          <a:ln w="6350">
            <a:solidFill>
              <a:srgbClr val="DAD6CC"/>
            </a:solidFill>
            <a:prstDash val="solid"/>
          </a:ln>
        </p:spPr>
      </p:sp>
      <p:pic>
        <p:nvPicPr>
          <p:cNvPr id="33" name="Image 6" descr="Settings">    </p:cNvPr>
          <p:cNvPicPr>
            <a:picLocks noChangeAspect="1"/>
          </p:cNvPicPr>
          <p:nvPr/>
        </p:nvPicPr>
        <p:blipFill>
          <a:blip r:embed="rId7"/>
          <a:srcRect l="0" r="0" t="0" b="0"/>
          <a:stretch/>
        </p:blipFill>
        <p:spPr>
          <a:xfrm>
            <a:off x="8168233" y="3397101"/>
            <a:ext cx="254000" cy="254000"/>
          </a:xfrm>
          <a:prstGeom prst="rect">
            <a:avLst/>
          </a:prstGeom>
        </p:spPr>
      </p:pic>
      <p:sp>
        <p:nvSpPr>
          <p:cNvPr id="34" name="Text 25"/>
          <p:cNvSpPr/>
          <p:nvPr/>
        </p:nvSpPr>
        <p:spPr>
          <a:xfrm>
            <a:off x="8168233" y="372730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Direct configuration</a:t>
            </a:r>
            <a:endParaRPr lang="en-US" sz="1600" dirty="0"/>
          </a:p>
        </p:txBody>
      </p:sp>
      <p:sp>
        <p:nvSpPr>
          <p:cNvPr id="35" name="Text 26"/>
          <p:cNvSpPr/>
          <p:nvPr/>
        </p:nvSpPr>
        <p:spPr>
          <a:xfrm>
            <a:off x="8168233" y="404733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Noto Sans KR" pitchFamily="34" charset="0"/>
                <a:ea typeface="Noto Sans KR" pitchFamily="34" charset="-122"/>
                <a:cs typeface="Noto Sans KR" pitchFamily="34" charset="-120"/>
              </a:rPr>
              <a:t>저장된 단축 번호</a:t>
            </a:r>
            <a:endParaRPr lang="en-US" sz="1200" dirty="0"/>
          </a:p>
        </p:txBody>
      </p:sp>
      <p:sp>
        <p:nvSpPr>
          <p:cNvPr id="36" name="Text 27"/>
          <p:cNvSpPr/>
          <p:nvPr/>
        </p:nvSpPr>
        <p:spPr>
          <a:xfrm>
            <a:off x="8168233" y="4336852"/>
            <a:ext cx="309145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설정 파일, 환경 변수, 내부 API에 Card나 URL을 직접 지정</a:t>
            </a:r>
            <a:endParaRPr lang="en-US" sz="1300" dirty="0"/>
          </a:p>
        </p:txBody>
      </p:sp>
      <p:sp>
        <p:nvSpPr>
          <p:cNvPr id="37" name="Text 28"/>
          <p:cNvSpPr/>
          <p:nvPr/>
        </p:nvSpPr>
        <p:spPr>
          <a:xfrm>
            <a:off x="8168233" y="5419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밀결합 시스템, 로컬 개발</a:t>
            </a:r>
            <a:endParaRPr lang="en-US" sz="1200" dirty="0"/>
          </a:p>
        </p:txBody>
      </p:sp>
      <p:sp>
        <p:nvSpPr>
          <p:cNvPr id="38" name="Text 29"/>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9" name="Text 30"/>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56115" y="889000"/>
            <a:ext cx="1026765" cy="289520"/>
          </a:xfrm>
          <a:custGeom>
            <a:avLst/>
            <a:gdLst/>
            <a:ahLst/>
            <a:cxnLst/>
            <a:rect l="l" t="t" r="r" b="b"/>
            <a:pathLst>
              <a:path w="1026765" h="289520">
                <a:moveTo>
                  <a:pt x="144760" y="0"/>
                </a:moveTo>
                <a:lnTo>
                  <a:pt x="882005" y="0"/>
                </a:lnTo>
                <a:arcTo hR="144760" wR="144760" stAng="16200000" swAng="5400000"/>
                <a:lnTo>
                  <a:pt x="1026765"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59080" y="989310"/>
            <a:ext cx="177800" cy="88900"/>
          </a:xfrm>
          <a:prstGeom prst="rect">
            <a:avLst/>
          </a:prstGeom>
        </p:spPr>
      </p:pic>
      <p:sp>
        <p:nvSpPr>
          <p:cNvPr id="4" name="Text 1"/>
          <p:cNvSpPr/>
          <p:nvPr/>
        </p:nvSpPr>
        <p:spPr>
          <a:xfrm>
            <a:off x="8613080" y="889000"/>
            <a:ext cx="1398240" cy="289520"/>
          </a:xfrm>
          <a:custGeom>
            <a:avLst/>
            <a:gdLst/>
            <a:ahLst/>
            <a:cxnLst/>
            <a:rect l="l" t="t" r="r" b="b"/>
            <a:pathLst>
              <a:path w="1398240" h="289520">
                <a:moveTo>
                  <a:pt x="144760" y="0"/>
                </a:moveTo>
                <a:lnTo>
                  <a:pt x="1253480" y="0"/>
                </a:lnTo>
                <a:arcTo hR="144760" wR="144760" stAng="16200000" swAng="5400000"/>
                <a:lnTo>
                  <a:pt x="1398240"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087521" y="989310"/>
            <a:ext cx="177800" cy="88900"/>
          </a:xfrm>
          <a:prstGeom prst="rect">
            <a:avLst/>
          </a:prstGeom>
        </p:spPr>
      </p:pic>
      <p:sp>
        <p:nvSpPr>
          <p:cNvPr id="6" name="Text 2"/>
          <p:cNvSpPr/>
          <p:nvPr/>
        </p:nvSpPr>
        <p:spPr>
          <a:xfrm>
            <a:off x="10347871" y="882650"/>
            <a:ext cx="1024979"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2 · Authentication</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기존 인증 체계를 그대로 활용하는 분리형 보안</a:t>
            </a:r>
            <a:endParaRPr lang="en-US" sz="1400" dirty="0"/>
          </a:p>
        </p:txBody>
      </p:sp>
      <p:sp>
        <p:nvSpPr>
          <p:cNvPr id="9" name="Shape 5"/>
          <p:cNvSpPr/>
          <p:nvPr/>
        </p:nvSpPr>
        <p:spPr>
          <a:xfrm>
            <a:off x="815975" y="1836986"/>
            <a:ext cx="2520950" cy="1892300"/>
          </a:xfrm>
          <a:prstGeom prst="roundRect">
            <a:avLst>
              <a:gd name="adj" fmla="val 6544"/>
            </a:avLst>
          </a:prstGeom>
          <a:solidFill>
            <a:srgbClr val="FCFBF8"/>
          </a:solidFill>
          <a:ln w="6350">
            <a:solidFill>
              <a:srgbClr val="DAD6CC"/>
            </a:solidFill>
            <a:prstDash val="solid"/>
          </a:ln>
        </p:spPr>
      </p:sp>
      <p:sp>
        <p:nvSpPr>
          <p:cNvPr id="10" name="Text 6"/>
          <p:cNvSpPr/>
          <p:nvPr/>
        </p:nvSpPr>
        <p:spPr>
          <a:xfrm>
            <a:off x="1022350" y="204336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1</a:t>
            </a:r>
            <a:endParaRPr lang="en-US" sz="1400" dirty="0"/>
          </a:p>
        </p:txBody>
      </p:sp>
      <p:sp>
        <p:nvSpPr>
          <p:cNvPr id="11" name="Text 7"/>
          <p:cNvSpPr/>
          <p:nvPr/>
        </p:nvSpPr>
        <p:spPr>
          <a:xfrm>
            <a:off x="10223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Card 확인</a:t>
            </a:r>
            <a:endParaRPr lang="en-US" sz="1500" dirty="0"/>
          </a:p>
        </p:txBody>
      </p:sp>
      <p:sp>
        <p:nvSpPr>
          <p:cNvPr id="12" name="Text 8"/>
          <p:cNvSpPr/>
          <p:nvPr/>
        </p:nvSpPr>
        <p:spPr>
          <a:xfrm>
            <a:off x="1022350" y="2779961"/>
            <a:ext cx="217144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보안 섹션에서 허용 방식 확인 (예: OAuth 2.0, OIDC)</a:t>
            </a:r>
            <a:endParaRPr lang="en-US" sz="1300" dirty="0"/>
          </a:p>
        </p:txBody>
      </p:sp>
      <p:sp>
        <p:nvSpPr>
          <p:cNvPr id="13" name="Shape 9"/>
          <p:cNvSpPr/>
          <p:nvPr/>
        </p:nvSpPr>
        <p:spPr>
          <a:xfrm>
            <a:off x="3495675" y="1836986"/>
            <a:ext cx="2520950" cy="1892300"/>
          </a:xfrm>
          <a:prstGeom prst="roundRect">
            <a:avLst>
              <a:gd name="adj" fmla="val 6544"/>
            </a:avLst>
          </a:prstGeom>
          <a:solidFill>
            <a:srgbClr val="FCFBF8"/>
          </a:solidFill>
          <a:ln w="6350">
            <a:solidFill>
              <a:srgbClr val="DAD6CC"/>
            </a:solidFill>
            <a:prstDash val="solid"/>
          </a:ln>
        </p:spPr>
      </p:sp>
      <p:sp>
        <p:nvSpPr>
          <p:cNvPr id="14" name="Text 10"/>
          <p:cNvSpPr/>
          <p:nvPr/>
        </p:nvSpPr>
        <p:spPr>
          <a:xfrm>
            <a:off x="3702050" y="204336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2</a:t>
            </a:r>
            <a:endParaRPr lang="en-US" sz="1400" dirty="0"/>
          </a:p>
        </p:txBody>
      </p:sp>
      <p:sp>
        <p:nvSpPr>
          <p:cNvPr id="15" name="Text 11"/>
          <p:cNvSpPr/>
          <p:nvPr/>
        </p:nvSpPr>
        <p:spPr>
          <a:xfrm>
            <a:off x="37020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토큰 발급</a:t>
            </a:r>
            <a:endParaRPr lang="en-US" sz="1500" dirty="0"/>
          </a:p>
        </p:txBody>
      </p:sp>
      <p:sp>
        <p:nvSpPr>
          <p:cNvPr id="16" name="Text 12"/>
          <p:cNvSpPr/>
          <p:nvPr/>
        </p:nvSpPr>
        <p:spPr>
          <a:xfrm>
            <a:off x="3702050" y="2779961"/>
            <a:ext cx="2171446"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에이전트가 아닌 사내 Identity Provider에서 발급 (주로 JWT)</a:t>
            </a:r>
            <a:endParaRPr lang="en-US" sz="1300" dirty="0"/>
          </a:p>
        </p:txBody>
      </p:sp>
      <p:sp>
        <p:nvSpPr>
          <p:cNvPr id="17" name="Shape 13"/>
          <p:cNvSpPr/>
          <p:nvPr/>
        </p:nvSpPr>
        <p:spPr>
          <a:xfrm>
            <a:off x="6175375" y="1836986"/>
            <a:ext cx="2520950" cy="1892300"/>
          </a:xfrm>
          <a:prstGeom prst="roundRect">
            <a:avLst>
              <a:gd name="adj" fmla="val 6544"/>
            </a:avLst>
          </a:prstGeom>
          <a:solidFill>
            <a:srgbClr val="FCFBF8"/>
          </a:solidFill>
          <a:ln w="6350">
            <a:solidFill>
              <a:srgbClr val="DAD6CC"/>
            </a:solidFill>
            <a:prstDash val="solid"/>
          </a:ln>
        </p:spPr>
      </p:sp>
      <p:sp>
        <p:nvSpPr>
          <p:cNvPr id="18" name="Text 14"/>
          <p:cNvSpPr/>
          <p:nvPr/>
        </p:nvSpPr>
        <p:spPr>
          <a:xfrm>
            <a:off x="6381750" y="204336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3</a:t>
            </a:r>
            <a:endParaRPr lang="en-US" sz="1400" dirty="0"/>
          </a:p>
        </p:txBody>
      </p:sp>
      <p:sp>
        <p:nvSpPr>
          <p:cNvPr id="19" name="Text 15"/>
          <p:cNvSpPr/>
          <p:nvPr/>
        </p:nvSpPr>
        <p:spPr>
          <a:xfrm>
            <a:off x="63817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토큰과 함께 호출</a:t>
            </a:r>
            <a:endParaRPr lang="en-US" sz="1500" dirty="0"/>
          </a:p>
        </p:txBody>
      </p:sp>
      <p:sp>
        <p:nvSpPr>
          <p:cNvPr id="20" name="Text 16"/>
          <p:cNvSpPr/>
          <p:nvPr/>
        </p:nvSpPr>
        <p:spPr>
          <a:xfrm>
            <a:off x="6381750" y="2779961"/>
            <a:ext cx="217144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토큰은 HTTP 헤더에 포함, 메시지 본문에는 넣지 않음</a:t>
            </a:r>
            <a:endParaRPr lang="en-US" sz="1300" dirty="0"/>
          </a:p>
        </p:txBody>
      </p:sp>
      <p:sp>
        <p:nvSpPr>
          <p:cNvPr id="21" name="Shape 17"/>
          <p:cNvSpPr/>
          <p:nvPr/>
        </p:nvSpPr>
        <p:spPr>
          <a:xfrm>
            <a:off x="8855075" y="1836986"/>
            <a:ext cx="2520950" cy="1892300"/>
          </a:xfrm>
          <a:prstGeom prst="roundRect">
            <a:avLst>
              <a:gd name="adj" fmla="val 6544"/>
            </a:avLst>
          </a:prstGeom>
          <a:solidFill>
            <a:srgbClr val="FCFBF8"/>
          </a:solidFill>
          <a:ln w="6350">
            <a:solidFill>
              <a:srgbClr val="DAD6CC"/>
            </a:solidFill>
            <a:prstDash val="solid"/>
          </a:ln>
        </p:spPr>
      </p:sp>
      <p:sp>
        <p:nvSpPr>
          <p:cNvPr id="22" name="Text 18"/>
          <p:cNvSpPr/>
          <p:nvPr/>
        </p:nvSpPr>
        <p:spPr>
          <a:xfrm>
            <a:off x="9061450" y="2043361"/>
            <a:ext cx="355600" cy="355600"/>
          </a:xfrm>
          <a:prstGeom prst="roundRect">
            <a:avLst>
              <a:gd name="adj" fmla="val 50000"/>
            </a:avLst>
          </a:prstGeom>
          <a:solidFill>
            <a:srgbClr val="B9531E"/>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4</a:t>
            </a:r>
            <a:endParaRPr lang="en-US" sz="1400" dirty="0"/>
          </a:p>
        </p:txBody>
      </p:sp>
      <p:sp>
        <p:nvSpPr>
          <p:cNvPr id="23" name="Text 19"/>
          <p:cNvSpPr/>
          <p:nvPr/>
        </p:nvSpPr>
        <p:spPr>
          <a:xfrm>
            <a:off x="90614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검증 및 권한 판단</a:t>
            </a:r>
            <a:endParaRPr lang="en-US" sz="1500" dirty="0"/>
          </a:p>
        </p:txBody>
      </p:sp>
      <p:sp>
        <p:nvSpPr>
          <p:cNvPr id="24" name="Text 20"/>
          <p:cNvSpPr/>
          <p:nvPr/>
        </p:nvSpPr>
        <p:spPr>
          <a:xfrm>
            <a:off x="9061450" y="2779961"/>
            <a:ext cx="217144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Server가 토큰을 검증하고 허용 범위를 결정</a:t>
            </a:r>
            <a:endParaRPr lang="en-US" sz="1300" dirty="0"/>
          </a:p>
        </p:txBody>
      </p:sp>
      <p:sp>
        <p:nvSpPr>
          <p:cNvPr id="25" name="Shape 21"/>
          <p:cNvSpPr/>
          <p:nvPr/>
        </p:nvSpPr>
        <p:spPr>
          <a:xfrm>
            <a:off x="812800" y="3986461"/>
            <a:ext cx="10566400" cy="1855539"/>
          </a:xfrm>
          <a:prstGeom prst="roundRect">
            <a:avLst>
              <a:gd name="adj" fmla="val 6844"/>
            </a:avLst>
          </a:prstGeom>
          <a:solidFill>
            <a:srgbClr val="E7EEF9"/>
          </a:solidFill>
          <a:ln/>
        </p:spPr>
      </p:sp>
      <p:sp>
        <p:nvSpPr>
          <p:cNvPr id="26" name="Text 22"/>
          <p:cNvSpPr/>
          <p:nvPr/>
        </p:nvSpPr>
        <p:spPr>
          <a:xfrm>
            <a:off x="1041400" y="4399855"/>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F9E"/>
                </a:solidFill>
                <a:latin typeface="Noto Sans KR" pitchFamily="34" charset="0"/>
                <a:ea typeface="Noto Sans KR" pitchFamily="34" charset="-122"/>
                <a:cs typeface="Noto Sans KR" pitchFamily="34" charset="-120"/>
              </a:rPr>
              <a:t>–</a:t>
            </a:r>
            <a:endParaRPr lang="en-US" sz="1400" dirty="0"/>
          </a:p>
        </p:txBody>
      </p:sp>
      <p:sp>
        <p:nvSpPr>
          <p:cNvPr id="27" name="Text 23"/>
          <p:cNvSpPr/>
          <p:nvPr/>
        </p:nvSpPr>
        <p:spPr>
          <a:xfrm>
            <a:off x="1320800" y="4399855"/>
            <a:ext cx="4968538"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분리형 구조:</a:t>
            </a:r>
            <a:r>
              <a:rPr lang="en-US" sz="1400" dirty="0">
                <a:solidFill>
                  <a:srgbClr val="33405A"/>
                </a:solidFill>
                <a:latin typeface="Noto Sans KR" pitchFamily="34" charset="0"/>
                <a:ea typeface="Noto Sans KR" pitchFamily="34" charset="-122"/>
                <a:cs typeface="Noto Sans KR" pitchFamily="34" charset="-120"/>
              </a:rPr>
              <a:t> 이미 운영 중인 Identity Provider를 재사용</a:t>
            </a:r>
            <a:endParaRPr lang="en-US" sz="1400" dirty="0"/>
          </a:p>
        </p:txBody>
      </p:sp>
      <p:sp>
        <p:nvSpPr>
          <p:cNvPr id="28" name="Text 24"/>
          <p:cNvSpPr/>
          <p:nvPr/>
        </p:nvSpPr>
        <p:spPr>
          <a:xfrm>
            <a:off x="1041400" y="4780855"/>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F9E"/>
                </a:solidFill>
                <a:latin typeface="Noto Sans KR" pitchFamily="34" charset="0"/>
                <a:ea typeface="Noto Sans KR" pitchFamily="34" charset="-122"/>
                <a:cs typeface="Noto Sans KR" pitchFamily="34" charset="-120"/>
              </a:rPr>
              <a:t>–</a:t>
            </a:r>
            <a:endParaRPr lang="en-US" sz="1400" dirty="0"/>
          </a:p>
        </p:txBody>
      </p:sp>
      <p:sp>
        <p:nvSpPr>
          <p:cNvPr id="29" name="Text 25"/>
          <p:cNvSpPr/>
          <p:nvPr/>
        </p:nvSpPr>
        <p:spPr>
          <a:xfrm>
            <a:off x="1320800" y="4780855"/>
            <a:ext cx="5350431"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익숙한 방식:</a:t>
            </a:r>
            <a:r>
              <a:rPr lang="en-US" sz="1400" dirty="0">
                <a:solidFill>
                  <a:srgbClr val="33405A"/>
                </a:solidFill>
                <a:latin typeface="Noto Sans KR" pitchFamily="34" charset="0"/>
                <a:ea typeface="Noto Sans KR" pitchFamily="34" charset="-122"/>
                <a:cs typeface="Noto Sans KR" pitchFamily="34" charset="-120"/>
              </a:rPr>
              <a:t> API Key, OAuth 2.0, OpenID Connect, mTLS</a:t>
            </a:r>
            <a:endParaRPr lang="en-US" sz="1400" dirty="0"/>
          </a:p>
        </p:txBody>
      </p:sp>
      <p:sp>
        <p:nvSpPr>
          <p:cNvPr id="30" name="Text 26"/>
          <p:cNvSpPr/>
          <p:nvPr/>
        </p:nvSpPr>
        <p:spPr>
          <a:xfrm>
            <a:off x="1041400" y="5161855"/>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F9E"/>
                </a:solidFill>
                <a:latin typeface="Noto Sans KR" pitchFamily="34" charset="0"/>
                <a:ea typeface="Noto Sans KR" pitchFamily="34" charset="-122"/>
                <a:cs typeface="Noto Sans KR" pitchFamily="34" charset="-120"/>
              </a:rPr>
              <a:t>–</a:t>
            </a:r>
            <a:endParaRPr lang="en-US" sz="1400" dirty="0"/>
          </a:p>
        </p:txBody>
      </p:sp>
      <p:sp>
        <p:nvSpPr>
          <p:cNvPr id="31" name="Text 27"/>
          <p:cNvSpPr/>
          <p:nvPr/>
        </p:nvSpPr>
        <p:spPr>
          <a:xfrm>
            <a:off x="1320800" y="5161855"/>
            <a:ext cx="4065389"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Extended Card:</a:t>
            </a:r>
            <a:r>
              <a:rPr lang="en-US" sz="1400" dirty="0">
                <a:solidFill>
                  <a:srgbClr val="33405A"/>
                </a:solidFill>
                <a:latin typeface="Noto Sans KR" pitchFamily="34" charset="0"/>
                <a:ea typeface="Noto Sans KR" pitchFamily="34" charset="-122"/>
                <a:cs typeface="Noto Sans KR" pitchFamily="34" charset="-120"/>
              </a:rPr>
              <a:t> 인증 후 추가 Skill 확인 가능</a:t>
            </a:r>
            <a:endParaRPr lang="en-US" sz="1400" dirty="0"/>
          </a:p>
        </p:txBody>
      </p:sp>
      <p:sp>
        <p:nvSpPr>
          <p:cNvPr id="32" name="Text 28"/>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3" name="Text 29"/>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75364" y="876300"/>
            <a:ext cx="1026765" cy="289520"/>
          </a:xfrm>
          <a:custGeom>
            <a:avLst/>
            <a:gdLst/>
            <a:ahLst/>
            <a:cxnLst/>
            <a:rect l="l" t="t" r="r" b="b"/>
            <a:pathLst>
              <a:path w="1026765" h="289520">
                <a:moveTo>
                  <a:pt x="144760" y="0"/>
                </a:moveTo>
                <a:lnTo>
                  <a:pt x="882005" y="0"/>
                </a:lnTo>
                <a:arcTo hR="144760" wR="144760" stAng="16200000" swAng="5400000"/>
                <a:lnTo>
                  <a:pt x="1026765"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78329" y="976610"/>
            <a:ext cx="177800" cy="88900"/>
          </a:xfrm>
          <a:prstGeom prst="rect">
            <a:avLst/>
          </a:prstGeom>
        </p:spPr>
      </p:pic>
      <p:sp>
        <p:nvSpPr>
          <p:cNvPr id="4" name="Text 1"/>
          <p:cNvSpPr/>
          <p:nvPr/>
        </p:nvSpPr>
        <p:spPr>
          <a:xfrm>
            <a:off x="8632329" y="876300"/>
            <a:ext cx="1398588" cy="289520"/>
          </a:xfrm>
          <a:custGeom>
            <a:avLst/>
            <a:gdLst/>
            <a:ahLst/>
            <a:cxnLst/>
            <a:rect l="l" t="t" r="r" b="b"/>
            <a:pathLst>
              <a:path w="1398588" h="289520">
                <a:moveTo>
                  <a:pt x="144760" y="0"/>
                </a:moveTo>
                <a:lnTo>
                  <a:pt x="1253827" y="0"/>
                </a:lnTo>
                <a:arcTo hR="144760" wR="144760" stAng="16200000" swAng="5400000"/>
                <a:lnTo>
                  <a:pt x="13985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7116" y="976610"/>
            <a:ext cx="177800" cy="88900"/>
          </a:xfrm>
          <a:prstGeom prst="rect">
            <a:avLst/>
          </a:prstGeom>
        </p:spPr>
      </p:pic>
      <p:sp>
        <p:nvSpPr>
          <p:cNvPr id="6" name="Text 2"/>
          <p:cNvSpPr/>
          <p:nvPr/>
        </p:nvSpPr>
        <p:spPr>
          <a:xfrm>
            <a:off x="10361116" y="876300"/>
            <a:ext cx="1018084" cy="289520"/>
          </a:xfrm>
          <a:custGeom>
            <a:avLst/>
            <a:gdLst/>
            <a:ahLst/>
            <a:cxnLst/>
            <a:rect l="l" t="t" r="r" b="b"/>
            <a:pathLst>
              <a:path w="1018084" h="289520">
                <a:moveTo>
                  <a:pt x="144760" y="0"/>
                </a:moveTo>
                <a:lnTo>
                  <a:pt x="873323" y="0"/>
                </a:lnTo>
                <a:arcTo hR="144760" wR="144760" stAng="16200000" swAng="5400000"/>
                <a:lnTo>
                  <a:pt x="101808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3 · Interaction</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상황에 맞는 세 가지 상호작용 방식</a:t>
            </a:r>
            <a:endParaRPr lang="en-US" sz="1400" dirty="0"/>
          </a:p>
        </p:txBody>
      </p:sp>
      <p:sp>
        <p:nvSpPr>
          <p:cNvPr id="9" name="Shape 5"/>
          <p:cNvSpPr/>
          <p:nvPr/>
        </p:nvSpPr>
        <p:spPr>
          <a:xfrm>
            <a:off x="815975" y="1836986"/>
            <a:ext cx="3414167" cy="4001839"/>
          </a:xfrm>
          <a:prstGeom prst="roundRect">
            <a:avLst>
              <a:gd name="adj" fmla="val 3627"/>
            </a:avLst>
          </a:prstGeom>
          <a:solidFill>
            <a:srgbClr val="FCFBF8"/>
          </a:solidFill>
          <a:ln w="6350">
            <a:solidFill>
              <a:srgbClr val="DAD6CC"/>
            </a:solidFill>
            <a:prstDash val="solid"/>
          </a:ln>
        </p:spPr>
      </p:sp>
      <p:pic>
        <p:nvPicPr>
          <p:cNvPr id="10" name="Image 2" descr="Chat">    </p:cNvPr>
          <p:cNvPicPr>
            <a:picLocks noChangeAspect="1"/>
          </p:cNvPicPr>
          <p:nvPr/>
        </p:nvPicPr>
        <p:blipFill>
          <a:blip r:embed="rId3"/>
          <a:srcRect l="0" r="0" t="0" b="0"/>
          <a:stretch/>
        </p:blipFill>
        <p:spPr>
          <a:xfrm>
            <a:off x="1047750" y="2068761"/>
            <a:ext cx="279400" cy="279400"/>
          </a:xfrm>
          <a:prstGeom prst="rect">
            <a:avLst/>
          </a:prstGeom>
        </p:spPr>
      </p:pic>
      <p:sp>
        <p:nvSpPr>
          <p:cNvPr id="11" name="Text 6"/>
          <p:cNvSpPr/>
          <p:nvPr/>
        </p:nvSpPr>
        <p:spPr>
          <a:xfrm>
            <a:off x="1428750" y="2086521"/>
            <a:ext cx="228373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Request / response</a:t>
            </a:r>
            <a:endParaRPr lang="en-US" sz="1600" dirty="0"/>
          </a:p>
        </p:txBody>
      </p:sp>
      <p:sp>
        <p:nvSpPr>
          <p:cNvPr id="12" name="Text 7"/>
          <p:cNvSpPr/>
          <p:nvPr/>
        </p:nvSpPr>
        <p:spPr>
          <a:xfrm>
            <a:off x="1047750" y="2449761"/>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Space Grotesk" pitchFamily="34" charset="0"/>
                <a:ea typeface="Space Grotesk" pitchFamily="34" charset="-122"/>
                <a:cs typeface="Space Grotesk" pitchFamily="34" charset="-120"/>
              </a:rPr>
              <a:t>Send message</a:t>
            </a:r>
            <a:endParaRPr lang="en-US" sz="1200" dirty="0"/>
          </a:p>
        </p:txBody>
      </p:sp>
      <p:sp>
        <p:nvSpPr>
          <p:cNvPr id="13" name="Text 8"/>
          <p:cNvSpPr/>
          <p:nvPr/>
        </p:nvSpPr>
        <p:spPr>
          <a:xfrm>
            <a:off x="1047750" y="2764681"/>
            <a:ext cx="30391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요청 후 응답 수신: 즉시 답하는 Message 또는 추적 가능한 Task</a:t>
            </a:r>
            <a:endParaRPr lang="en-US" sz="1300" dirty="0"/>
          </a:p>
        </p:txBody>
      </p:sp>
      <p:sp>
        <p:nvSpPr>
          <p:cNvPr id="14" name="Shape 9"/>
          <p:cNvSpPr/>
          <p:nvPr/>
        </p:nvSpPr>
        <p:spPr>
          <a:xfrm>
            <a:off x="1047750" y="3361581"/>
            <a:ext cx="2950617" cy="731441"/>
          </a:xfrm>
          <a:prstGeom prst="roundRect">
            <a:avLst>
              <a:gd name="adj" fmla="val 12154"/>
            </a:avLst>
          </a:prstGeom>
          <a:solidFill>
            <a:srgbClr val="F0EDE6"/>
          </a:solidFill>
          <a:ln/>
        </p:spPr>
      </p:sp>
      <p:sp>
        <p:nvSpPr>
          <p:cNvPr id="15" name="Text 10"/>
          <p:cNvSpPr/>
          <p:nvPr/>
        </p:nvSpPr>
        <p:spPr>
          <a:xfrm>
            <a:off x="1174750" y="348858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 “X1 노트북 재고는?”</a:t>
            </a:r>
            <a:endParaRPr lang="en-US" sz="1200" dirty="0"/>
          </a:p>
        </p:txBody>
      </p:sp>
      <p:sp>
        <p:nvSpPr>
          <p:cNvPr id="16" name="Text 11"/>
          <p:cNvSpPr/>
          <p:nvPr/>
        </p:nvSpPr>
        <p:spPr>
          <a:xfrm>
            <a:off x="1174750" y="375270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 Message: “20대 남음”</a:t>
            </a:r>
            <a:endParaRPr lang="en-US" sz="1200" dirty="0"/>
          </a:p>
        </p:txBody>
      </p:sp>
      <p:sp>
        <p:nvSpPr>
          <p:cNvPr id="17" name="Text 12"/>
          <p:cNvSpPr/>
          <p:nvPr/>
        </p:nvSpPr>
        <p:spPr>
          <a:xfrm>
            <a:off x="1047750" y="5393730"/>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빠른 조회</a:t>
            </a:r>
            <a:endParaRPr lang="en-US" sz="1200" dirty="0"/>
          </a:p>
        </p:txBody>
      </p:sp>
      <p:sp>
        <p:nvSpPr>
          <p:cNvPr id="18" name="Shape 13"/>
          <p:cNvSpPr/>
          <p:nvPr/>
        </p:nvSpPr>
        <p:spPr>
          <a:xfrm>
            <a:off x="4388892" y="1836986"/>
            <a:ext cx="3414216" cy="4001839"/>
          </a:xfrm>
          <a:prstGeom prst="roundRect">
            <a:avLst>
              <a:gd name="adj" fmla="val 3627"/>
            </a:avLst>
          </a:prstGeom>
          <a:solidFill>
            <a:srgbClr val="FCFBF8"/>
          </a:solidFill>
          <a:ln w="6350">
            <a:solidFill>
              <a:srgbClr val="DAD6CC"/>
            </a:solidFill>
            <a:prstDash val="solid"/>
          </a:ln>
        </p:spPr>
      </p:sp>
      <p:pic>
        <p:nvPicPr>
          <p:cNvPr id="19" name="Image 3" descr="Lightning">    </p:cNvPr>
          <p:cNvPicPr>
            <a:picLocks noChangeAspect="1"/>
          </p:cNvPicPr>
          <p:nvPr/>
        </p:nvPicPr>
        <p:blipFill>
          <a:blip r:embed="rId4"/>
          <a:srcRect l="0" r="0" t="0" b="0"/>
          <a:stretch/>
        </p:blipFill>
        <p:spPr>
          <a:xfrm>
            <a:off x="4620667" y="2068761"/>
            <a:ext cx="279400" cy="279400"/>
          </a:xfrm>
          <a:prstGeom prst="rect">
            <a:avLst/>
          </a:prstGeom>
        </p:spPr>
      </p:pic>
      <p:sp>
        <p:nvSpPr>
          <p:cNvPr id="20" name="Text 14"/>
          <p:cNvSpPr/>
          <p:nvPr/>
        </p:nvSpPr>
        <p:spPr>
          <a:xfrm>
            <a:off x="5001667" y="2086521"/>
            <a:ext cx="12109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Streaming</a:t>
            </a:r>
            <a:endParaRPr lang="en-US" sz="1600" dirty="0"/>
          </a:p>
        </p:txBody>
      </p:sp>
      <p:sp>
        <p:nvSpPr>
          <p:cNvPr id="21" name="Text 15"/>
          <p:cNvSpPr/>
          <p:nvPr/>
        </p:nvSpPr>
        <p:spPr>
          <a:xfrm>
            <a:off x="4620667" y="2449761"/>
            <a:ext cx="30391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Space Grotesk" pitchFamily="34" charset="0"/>
                <a:ea typeface="Space Grotesk" pitchFamily="34" charset="-122"/>
                <a:cs typeface="Space Grotesk" pitchFamily="34" charset="-120"/>
              </a:rPr>
              <a:t>Stream message · SSE</a:t>
            </a:r>
            <a:endParaRPr lang="en-US" sz="1200" dirty="0"/>
          </a:p>
        </p:txBody>
      </p:sp>
      <p:sp>
        <p:nvSpPr>
          <p:cNvPr id="22" name="Text 16"/>
          <p:cNvSpPr/>
          <p:nvPr/>
        </p:nvSpPr>
        <p:spPr>
          <a:xfrm>
            <a:off x="4620667" y="2764681"/>
            <a:ext cx="303918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연결을 유지한 채 Server가 실시간 업데이트를 전송</a:t>
            </a:r>
            <a:endParaRPr lang="en-US" sz="1300" dirty="0"/>
          </a:p>
        </p:txBody>
      </p:sp>
      <p:sp>
        <p:nvSpPr>
          <p:cNvPr id="23" name="Shape 17"/>
          <p:cNvSpPr/>
          <p:nvPr/>
        </p:nvSpPr>
        <p:spPr>
          <a:xfrm>
            <a:off x="4620667" y="3361581"/>
            <a:ext cx="2950666" cy="1523802"/>
          </a:xfrm>
          <a:prstGeom prst="roundRect">
            <a:avLst>
              <a:gd name="adj" fmla="val 5834"/>
            </a:avLst>
          </a:prstGeom>
          <a:solidFill>
            <a:srgbClr val="F0EDE6"/>
          </a:solidFill>
          <a:ln/>
        </p:spPr>
      </p:sp>
      <p:sp>
        <p:nvSpPr>
          <p:cNvPr id="24" name="Text 18"/>
          <p:cNvSpPr/>
          <p:nvPr/>
        </p:nvSpPr>
        <p:spPr>
          <a:xfrm>
            <a:off x="4747667" y="348858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Task · submitted</a:t>
            </a:r>
            <a:endParaRPr lang="en-US" sz="1200" dirty="0"/>
          </a:p>
        </p:txBody>
      </p:sp>
      <p:sp>
        <p:nvSpPr>
          <p:cNvPr id="25" name="Text 19"/>
          <p:cNvSpPr/>
          <p:nvPr/>
        </p:nvSpPr>
        <p:spPr>
          <a:xfrm>
            <a:off x="4747667" y="375270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Status · working</a:t>
            </a:r>
            <a:endParaRPr lang="en-US" sz="1200" dirty="0"/>
          </a:p>
        </p:txBody>
      </p:sp>
      <p:sp>
        <p:nvSpPr>
          <p:cNvPr id="26" name="Text 20"/>
          <p:cNvSpPr/>
          <p:nvPr/>
        </p:nvSpPr>
        <p:spPr>
          <a:xfrm>
            <a:off x="4747667" y="401682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Artifact A · stock</a:t>
            </a:r>
            <a:endParaRPr lang="en-US" sz="1200" dirty="0"/>
          </a:p>
        </p:txBody>
      </p:sp>
      <p:sp>
        <p:nvSpPr>
          <p:cNvPr id="27" name="Text 21"/>
          <p:cNvSpPr/>
          <p:nvPr/>
        </p:nvSpPr>
        <p:spPr>
          <a:xfrm>
            <a:off x="4747667" y="428094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Artifact B · backorder</a:t>
            </a:r>
            <a:endParaRPr lang="en-US" sz="1200" dirty="0"/>
          </a:p>
        </p:txBody>
      </p:sp>
      <p:sp>
        <p:nvSpPr>
          <p:cNvPr id="28" name="Text 22"/>
          <p:cNvSpPr/>
          <p:nvPr/>
        </p:nvSpPr>
        <p:spPr>
          <a:xfrm>
            <a:off x="4747667" y="454506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Status · completed</a:t>
            </a:r>
            <a:endParaRPr lang="en-US" sz="1200" dirty="0"/>
          </a:p>
        </p:txBody>
      </p:sp>
      <p:sp>
        <p:nvSpPr>
          <p:cNvPr id="29" name="Text 23"/>
          <p:cNvSpPr/>
          <p:nvPr/>
        </p:nvSpPr>
        <p:spPr>
          <a:xfrm>
            <a:off x="4620667" y="5393730"/>
            <a:ext cx="30391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진행을 지켜보는 긴 작업</a:t>
            </a:r>
            <a:endParaRPr lang="en-US" sz="1200" dirty="0"/>
          </a:p>
        </p:txBody>
      </p:sp>
      <p:sp>
        <p:nvSpPr>
          <p:cNvPr id="30" name="Shape 24"/>
          <p:cNvSpPr/>
          <p:nvPr/>
        </p:nvSpPr>
        <p:spPr>
          <a:xfrm>
            <a:off x="7961858" y="1836986"/>
            <a:ext cx="3414167" cy="4001839"/>
          </a:xfrm>
          <a:prstGeom prst="roundRect">
            <a:avLst>
              <a:gd name="adj" fmla="val 3627"/>
            </a:avLst>
          </a:prstGeom>
          <a:solidFill>
            <a:srgbClr val="FCFBF8"/>
          </a:solidFill>
          <a:ln w="6350">
            <a:solidFill>
              <a:srgbClr val="DAD6CC"/>
            </a:solidFill>
            <a:prstDash val="solid"/>
          </a:ln>
        </p:spPr>
      </p:sp>
      <p:pic>
        <p:nvPicPr>
          <p:cNvPr id="31" name="Image 4" descr="PaperPlane">    </p:cNvPr>
          <p:cNvPicPr>
            <a:picLocks noChangeAspect="1"/>
          </p:cNvPicPr>
          <p:nvPr/>
        </p:nvPicPr>
        <p:blipFill>
          <a:blip r:embed="rId5"/>
          <a:srcRect l="0" r="0" t="0" b="0"/>
          <a:stretch/>
        </p:blipFill>
        <p:spPr>
          <a:xfrm>
            <a:off x="8193633" y="2068761"/>
            <a:ext cx="279400" cy="279400"/>
          </a:xfrm>
          <a:prstGeom prst="rect">
            <a:avLst/>
          </a:prstGeom>
        </p:spPr>
      </p:pic>
      <p:sp>
        <p:nvSpPr>
          <p:cNvPr id="32" name="Text 25"/>
          <p:cNvSpPr/>
          <p:nvPr/>
        </p:nvSpPr>
        <p:spPr>
          <a:xfrm>
            <a:off x="8574633" y="2086521"/>
            <a:ext cx="214949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Push notifications</a:t>
            </a:r>
            <a:endParaRPr lang="en-US" sz="1600" dirty="0"/>
          </a:p>
        </p:txBody>
      </p:sp>
      <p:sp>
        <p:nvSpPr>
          <p:cNvPr id="33" name="Text 26"/>
          <p:cNvSpPr/>
          <p:nvPr/>
        </p:nvSpPr>
        <p:spPr>
          <a:xfrm>
            <a:off x="8193633" y="2449761"/>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Space Grotesk" pitchFamily="34" charset="0"/>
                <a:ea typeface="Space Grotesk" pitchFamily="34" charset="-122"/>
                <a:cs typeface="Space Grotesk" pitchFamily="34" charset="-120"/>
              </a:rPr>
              <a:t>Webhook callback</a:t>
            </a:r>
            <a:endParaRPr lang="en-US" sz="1200" dirty="0"/>
          </a:p>
        </p:txBody>
      </p:sp>
      <p:sp>
        <p:nvSpPr>
          <p:cNvPr id="34" name="Text 27"/>
          <p:cNvSpPr/>
          <p:nvPr/>
        </p:nvSpPr>
        <p:spPr>
          <a:xfrm>
            <a:off x="8193633" y="2764681"/>
            <a:ext cx="30391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webhook URL을 남기고 연결 종료, 변경 시 Server가 호출</a:t>
            </a:r>
            <a:endParaRPr lang="en-US" sz="1300" dirty="0"/>
          </a:p>
        </p:txBody>
      </p:sp>
      <p:sp>
        <p:nvSpPr>
          <p:cNvPr id="35" name="Shape 28"/>
          <p:cNvSpPr/>
          <p:nvPr/>
        </p:nvSpPr>
        <p:spPr>
          <a:xfrm>
            <a:off x="8193633" y="3361581"/>
            <a:ext cx="2950617" cy="1208881"/>
          </a:xfrm>
          <a:prstGeom prst="roundRect">
            <a:avLst>
              <a:gd name="adj" fmla="val 7354"/>
            </a:avLst>
          </a:prstGeom>
          <a:solidFill>
            <a:srgbClr val="F0EDE6"/>
          </a:solidFill>
          <a:ln/>
        </p:spPr>
      </p:sp>
      <p:sp>
        <p:nvSpPr>
          <p:cNvPr id="36" name="Text 29"/>
          <p:cNvSpPr/>
          <p:nvPr/>
        </p:nvSpPr>
        <p:spPr>
          <a:xfrm>
            <a:off x="8320633" y="348858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 Task + webhook URL</a:t>
            </a:r>
            <a:endParaRPr lang="en-US" sz="1200" dirty="0"/>
          </a:p>
        </p:txBody>
      </p:sp>
      <p:sp>
        <p:nvSpPr>
          <p:cNvPr id="37" name="Text 30"/>
          <p:cNvSpPr/>
          <p:nvPr/>
        </p:nvSpPr>
        <p:spPr>
          <a:xfrm>
            <a:off x="8320633" y="375270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 몇 시간 동안 연결 해제</a:t>
            </a:r>
            <a:endParaRPr lang="en-US" sz="1200" dirty="0"/>
          </a:p>
        </p:txBody>
      </p:sp>
      <p:sp>
        <p:nvSpPr>
          <p:cNvPr id="38" name="Text 31"/>
          <p:cNvSpPr/>
          <p:nvPr/>
        </p:nvSpPr>
        <p:spPr>
          <a:xfrm>
            <a:off x="8320633" y="4016821"/>
            <a:ext cx="27775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 Server가 webhook 호출: “completed”</a:t>
            </a:r>
            <a:endParaRPr lang="en-US" sz="1200" dirty="0"/>
          </a:p>
        </p:txBody>
      </p:sp>
      <p:sp>
        <p:nvSpPr>
          <p:cNvPr id="39" name="Text 32"/>
          <p:cNvSpPr/>
          <p:nvPr/>
        </p:nvSpPr>
        <p:spPr>
          <a:xfrm>
            <a:off x="8193633" y="5393730"/>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몇 시간 걸리는 작업</a:t>
            </a:r>
            <a:endParaRPr lang="en-US" sz="1200" dirty="0"/>
          </a:p>
        </p:txBody>
      </p:sp>
      <p:sp>
        <p:nvSpPr>
          <p:cNvPr id="40" name="Text 33"/>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41" name="Text 34"/>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75364" y="876300"/>
            <a:ext cx="1026765" cy="289520"/>
          </a:xfrm>
          <a:custGeom>
            <a:avLst/>
            <a:gdLst/>
            <a:ahLst/>
            <a:cxnLst/>
            <a:rect l="l" t="t" r="r" b="b"/>
            <a:pathLst>
              <a:path w="1026765" h="289520">
                <a:moveTo>
                  <a:pt x="144760" y="0"/>
                </a:moveTo>
                <a:lnTo>
                  <a:pt x="882005" y="0"/>
                </a:lnTo>
                <a:arcTo hR="144760" wR="144760" stAng="16200000" swAng="5400000"/>
                <a:lnTo>
                  <a:pt x="1026765"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78329" y="976610"/>
            <a:ext cx="177800" cy="88900"/>
          </a:xfrm>
          <a:prstGeom prst="rect">
            <a:avLst/>
          </a:prstGeom>
        </p:spPr>
      </p:pic>
      <p:sp>
        <p:nvSpPr>
          <p:cNvPr id="4" name="Text 1"/>
          <p:cNvSpPr/>
          <p:nvPr/>
        </p:nvSpPr>
        <p:spPr>
          <a:xfrm>
            <a:off x="8632329" y="876300"/>
            <a:ext cx="1398588" cy="289520"/>
          </a:xfrm>
          <a:custGeom>
            <a:avLst/>
            <a:gdLst/>
            <a:ahLst/>
            <a:cxnLst/>
            <a:rect l="l" t="t" r="r" b="b"/>
            <a:pathLst>
              <a:path w="1398588" h="289520">
                <a:moveTo>
                  <a:pt x="144760" y="0"/>
                </a:moveTo>
                <a:lnTo>
                  <a:pt x="1253827" y="0"/>
                </a:lnTo>
                <a:arcTo hR="144760" wR="144760" stAng="16200000" swAng="5400000"/>
                <a:lnTo>
                  <a:pt x="13985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7116" y="976610"/>
            <a:ext cx="177800" cy="88900"/>
          </a:xfrm>
          <a:prstGeom prst="rect">
            <a:avLst/>
          </a:prstGeom>
        </p:spPr>
      </p:pic>
      <p:sp>
        <p:nvSpPr>
          <p:cNvPr id="6" name="Text 2"/>
          <p:cNvSpPr/>
          <p:nvPr/>
        </p:nvSpPr>
        <p:spPr>
          <a:xfrm>
            <a:off x="10361116" y="876300"/>
            <a:ext cx="1018084" cy="289520"/>
          </a:xfrm>
          <a:custGeom>
            <a:avLst/>
            <a:gdLst/>
            <a:ahLst/>
            <a:cxnLst/>
            <a:rect l="l" t="t" r="r" b="b"/>
            <a:pathLst>
              <a:path w="1018084" h="289520">
                <a:moveTo>
                  <a:pt x="144760" y="0"/>
                </a:moveTo>
                <a:lnTo>
                  <a:pt x="873323" y="0"/>
                </a:lnTo>
                <a:arcTo hR="144760" wR="144760" stAng="16200000" swAng="5400000"/>
                <a:lnTo>
                  <a:pt x="101808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Multi-turn collaboration</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에이전트에게 추가 정보가 필요할 때</a:t>
            </a:r>
            <a:endParaRPr lang="en-US" sz="1400" dirty="0"/>
          </a:p>
        </p:txBody>
      </p:sp>
      <p:sp>
        <p:nvSpPr>
          <p:cNvPr id="9" name="Shape 5"/>
          <p:cNvSpPr/>
          <p:nvPr/>
        </p:nvSpPr>
        <p:spPr>
          <a:xfrm>
            <a:off x="815975" y="1836986"/>
            <a:ext cx="6343650" cy="4001839"/>
          </a:xfrm>
          <a:prstGeom prst="roundRect">
            <a:avLst>
              <a:gd name="adj" fmla="val 3094"/>
            </a:avLst>
          </a:prstGeom>
          <a:solidFill>
            <a:srgbClr val="FCFBF8"/>
          </a:solidFill>
          <a:ln w="6350">
            <a:solidFill>
              <a:srgbClr val="DAD6CC"/>
            </a:solidFill>
            <a:prstDash val="solid"/>
          </a:ln>
        </p:spPr>
      </p:sp>
      <p:sp>
        <p:nvSpPr>
          <p:cNvPr id="10" name="Text 6"/>
          <p:cNvSpPr/>
          <p:nvPr/>
        </p:nvSpPr>
        <p:spPr>
          <a:xfrm>
            <a:off x="1022350" y="2043361"/>
            <a:ext cx="6108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Task T-481 · 하나의 Task, 여러 턴</a:t>
            </a:r>
            <a:endParaRPr lang="en-US" sz="1200" dirty="0"/>
          </a:p>
        </p:txBody>
      </p:sp>
      <p:sp>
        <p:nvSpPr>
          <p:cNvPr id="11" name="Shape 7"/>
          <p:cNvSpPr/>
          <p:nvPr/>
        </p:nvSpPr>
        <p:spPr>
          <a:xfrm>
            <a:off x="1022350" y="2358281"/>
            <a:ext cx="5334000" cy="647650"/>
          </a:xfrm>
          <a:prstGeom prst="roundRect">
            <a:avLst>
              <a:gd name="adj" fmla="val 15687"/>
            </a:avLst>
          </a:prstGeom>
          <a:solidFill>
            <a:srgbClr val="E7EEF9"/>
          </a:solidFill>
          <a:ln/>
        </p:spPr>
      </p:sp>
      <p:sp>
        <p:nvSpPr>
          <p:cNvPr id="12" name="Text 8"/>
          <p:cNvSpPr/>
          <p:nvPr/>
        </p:nvSpPr>
        <p:spPr>
          <a:xfrm>
            <a:off x="1162050" y="2447181"/>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Sales → Inventory</a:t>
            </a:r>
            <a:endParaRPr lang="en-US" sz="1200" dirty="0"/>
          </a:p>
        </p:txBody>
      </p:sp>
      <p:sp>
        <p:nvSpPr>
          <p:cNvPr id="13" name="Text 9"/>
          <p:cNvSpPr/>
          <p:nvPr/>
        </p:nvSpPr>
        <p:spPr>
          <a:xfrm>
            <a:off x="1162050" y="2685901"/>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“내일 배송으로 X1 노트북 100대 예약해 주세요.”</a:t>
            </a:r>
            <a:endParaRPr lang="en-US" sz="1300" dirty="0"/>
          </a:p>
        </p:txBody>
      </p:sp>
      <p:sp>
        <p:nvSpPr>
          <p:cNvPr id="14" name="Shape 10"/>
          <p:cNvSpPr/>
          <p:nvPr/>
        </p:nvSpPr>
        <p:spPr>
          <a:xfrm>
            <a:off x="1619250" y="3107531"/>
            <a:ext cx="5334000" cy="673050"/>
          </a:xfrm>
          <a:prstGeom prst="roundRect">
            <a:avLst>
              <a:gd name="adj" fmla="val 15095"/>
            </a:avLst>
          </a:prstGeom>
          <a:solidFill>
            <a:srgbClr val="FCE9DD"/>
          </a:solidFill>
          <a:ln/>
        </p:spPr>
      </p:sp>
      <p:sp>
        <p:nvSpPr>
          <p:cNvPr id="15" name="Text 11"/>
          <p:cNvSpPr/>
          <p:nvPr/>
        </p:nvSpPr>
        <p:spPr>
          <a:xfrm>
            <a:off x="1758950" y="3209131"/>
            <a:ext cx="14180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Inventory → Sales</a:t>
            </a:r>
            <a:endParaRPr lang="en-US" sz="1200" dirty="0"/>
          </a:p>
        </p:txBody>
      </p:sp>
      <p:sp>
        <p:nvSpPr>
          <p:cNvPr id="16" name="Text 12"/>
          <p:cNvSpPr/>
          <p:nvPr/>
        </p:nvSpPr>
        <p:spPr>
          <a:xfrm>
            <a:off x="3183384" y="3202781"/>
            <a:ext cx="1470670" cy="226020"/>
          </a:xfrm>
          <a:custGeom>
            <a:avLst/>
            <a:gdLst/>
            <a:ahLst/>
            <a:cxnLst/>
            <a:rect l="l" t="t" r="r" b="b"/>
            <a:pathLst>
              <a:path w="1470670" h="226020">
                <a:moveTo>
                  <a:pt x="113010" y="0"/>
                </a:moveTo>
                <a:lnTo>
                  <a:pt x="1357660" y="0"/>
                </a:lnTo>
                <a:arcTo hR="113010" wR="113010" stAng="16200000" swAng="5400000"/>
                <a:lnTo>
                  <a:pt x="147067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input-required</a:t>
            </a:r>
            <a:endParaRPr lang="en-US" sz="1200" dirty="0"/>
          </a:p>
        </p:txBody>
      </p:sp>
      <p:sp>
        <p:nvSpPr>
          <p:cNvPr id="17" name="Text 13"/>
          <p:cNvSpPr/>
          <p:nvPr/>
        </p:nvSpPr>
        <p:spPr>
          <a:xfrm>
            <a:off x="1758950" y="3460552"/>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“재고는 20대입니다. 20대 예약, 80대 백오더로 할까요?”</a:t>
            </a:r>
            <a:endParaRPr lang="en-US" sz="1300" dirty="0"/>
          </a:p>
        </p:txBody>
      </p:sp>
      <p:sp>
        <p:nvSpPr>
          <p:cNvPr id="18" name="Text 14"/>
          <p:cNvSpPr/>
          <p:nvPr/>
        </p:nvSpPr>
        <p:spPr>
          <a:xfrm>
            <a:off x="933387" y="3882182"/>
            <a:ext cx="610882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Sales가 고객에게 확인하는 동안 Task는 대기, 진행 상황은 유지</a:t>
            </a:r>
            <a:endParaRPr lang="en-US" sz="1200" dirty="0"/>
          </a:p>
        </p:txBody>
      </p:sp>
      <p:sp>
        <p:nvSpPr>
          <p:cNvPr id="19" name="Shape 15"/>
          <p:cNvSpPr/>
          <p:nvPr/>
        </p:nvSpPr>
        <p:spPr>
          <a:xfrm>
            <a:off x="1022350" y="4197102"/>
            <a:ext cx="5334000" cy="647650"/>
          </a:xfrm>
          <a:prstGeom prst="roundRect">
            <a:avLst>
              <a:gd name="adj" fmla="val 15687"/>
            </a:avLst>
          </a:prstGeom>
          <a:solidFill>
            <a:srgbClr val="E7EEF9"/>
          </a:solidFill>
          <a:ln/>
        </p:spPr>
      </p:sp>
      <p:sp>
        <p:nvSpPr>
          <p:cNvPr id="20" name="Text 16"/>
          <p:cNvSpPr/>
          <p:nvPr/>
        </p:nvSpPr>
        <p:spPr>
          <a:xfrm>
            <a:off x="1162050" y="4286002"/>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Sales → Inventory · 같은 Task</a:t>
            </a:r>
            <a:endParaRPr lang="en-US" sz="1200" dirty="0"/>
          </a:p>
        </p:txBody>
      </p:sp>
      <p:sp>
        <p:nvSpPr>
          <p:cNvPr id="21" name="Text 17"/>
          <p:cNvSpPr/>
          <p:nvPr/>
        </p:nvSpPr>
        <p:spPr>
          <a:xfrm>
            <a:off x="1162050" y="4524722"/>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“네, 20대 예약하고 80대는 백오더로 진행해 주세요.”</a:t>
            </a:r>
            <a:endParaRPr lang="en-US" sz="1300" dirty="0"/>
          </a:p>
        </p:txBody>
      </p:sp>
      <p:sp>
        <p:nvSpPr>
          <p:cNvPr id="22" name="Shape 18"/>
          <p:cNvSpPr/>
          <p:nvPr/>
        </p:nvSpPr>
        <p:spPr>
          <a:xfrm>
            <a:off x="1619250" y="4946352"/>
            <a:ext cx="5334000" cy="647650"/>
          </a:xfrm>
          <a:prstGeom prst="roundRect">
            <a:avLst>
              <a:gd name="adj" fmla="val 15687"/>
            </a:avLst>
          </a:prstGeom>
          <a:solidFill>
            <a:srgbClr val="FCE9DD"/>
          </a:solidFill>
          <a:ln/>
        </p:spPr>
      </p:sp>
      <p:sp>
        <p:nvSpPr>
          <p:cNvPr id="23" name="Text 19"/>
          <p:cNvSpPr/>
          <p:nvPr/>
        </p:nvSpPr>
        <p:spPr>
          <a:xfrm>
            <a:off x="1758950" y="5035252"/>
            <a:ext cx="14180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Inventory → Sales</a:t>
            </a:r>
            <a:endParaRPr lang="en-US" sz="1200" dirty="0"/>
          </a:p>
        </p:txBody>
      </p:sp>
      <p:sp>
        <p:nvSpPr>
          <p:cNvPr id="24" name="Text 20"/>
          <p:cNvSpPr/>
          <p:nvPr/>
        </p:nvSpPr>
        <p:spPr>
          <a:xfrm>
            <a:off x="3177034" y="5035252"/>
            <a:ext cx="1000770" cy="213320"/>
          </a:xfrm>
          <a:custGeom>
            <a:avLst/>
            <a:gdLst/>
            <a:ahLst/>
            <a:cxnLst/>
            <a:rect l="l" t="t" r="r" b="b"/>
            <a:pathLst>
              <a:path w="1000770" h="213320">
                <a:moveTo>
                  <a:pt x="106660" y="0"/>
                </a:moveTo>
                <a:lnTo>
                  <a:pt x="894110" y="0"/>
                </a:lnTo>
                <a:arcTo hR="106660" wR="106660" stAng="16200000" swAng="5400000"/>
                <a:lnTo>
                  <a:pt x="1000770" y="106660"/>
                </a:lnTo>
                <a:arcTo hR="106660" wR="106660" stAng="0" swAng="5400000"/>
                <a:lnTo>
                  <a:pt x="106660" y="213320"/>
                </a:lnTo>
                <a:arcTo hR="106660" wR="106660" stAng="5400000" swAng="5400000"/>
                <a:lnTo>
                  <a:pt x="0" y="106660"/>
                </a:lnTo>
                <a:arcTo hR="106660" wR="106660" stAng="10800000" swAng="5400000"/>
                <a:close/>
              </a:path>
            </a:pathLst>
          </a:custGeom>
          <a:solidFill>
            <a:srgbClr val="2F6FD1"/>
          </a:solidFill>
          <a:ln/>
        </p:spPr>
        <p:txBody>
          <a:bodyPr wrap="none" lIns="0" tIns="0" rIns="0" bIns="0" rtlCol="0" anchor="ctr">
            <a:normAutofit/>
          </a:bodyPr>
          <a:lstStyle/>
          <a:p>
            <a:pPr algn="ctr" indent="0" marL="0">
              <a:lnSpc>
                <a:spcPts val="1680"/>
              </a:lnSpc>
              <a:buNone/>
            </a:pPr>
            <a:r>
              <a:rPr lang="en-US" sz="1200" dirty="0">
                <a:solidFill>
                  <a:srgbClr val="FCFBF8"/>
                </a:solidFill>
                <a:latin typeface="JetBrains Mono" pitchFamily="49" charset="0"/>
                <a:ea typeface="JetBrains Mono" pitchFamily="49" charset="-122"/>
                <a:cs typeface="JetBrains Mono" pitchFamily="49" charset="-120"/>
              </a:rPr>
              <a:t>completed</a:t>
            </a:r>
            <a:endParaRPr lang="en-US" sz="1200" dirty="0"/>
          </a:p>
        </p:txBody>
      </p:sp>
      <p:sp>
        <p:nvSpPr>
          <p:cNvPr id="25" name="Text 21"/>
          <p:cNvSpPr/>
          <p:nvPr/>
        </p:nvSpPr>
        <p:spPr>
          <a:xfrm>
            <a:off x="1758950" y="5273973"/>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Artifact: 예약 R-2041 + 백오더 B-118</a:t>
            </a:r>
            <a:endParaRPr lang="en-US" sz="1300" dirty="0"/>
          </a:p>
        </p:txBody>
      </p:sp>
      <p:sp>
        <p:nvSpPr>
          <p:cNvPr id="26" name="Text 22"/>
          <p:cNvSpPr/>
          <p:nvPr/>
        </p:nvSpPr>
        <p:spPr>
          <a:xfrm>
            <a:off x="7467600" y="3183830"/>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7" name="Text 23"/>
          <p:cNvSpPr/>
          <p:nvPr/>
        </p:nvSpPr>
        <p:spPr>
          <a:xfrm>
            <a:off x="7747000" y="3183830"/>
            <a:ext cx="3315474"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실패가 아닌 일시 정지:</a:t>
            </a:r>
            <a:r>
              <a:rPr lang="en-US" sz="1400" dirty="0">
                <a:solidFill>
                  <a:srgbClr val="33405A"/>
                </a:solidFill>
                <a:latin typeface="Noto Sans KR" pitchFamily="34" charset="0"/>
                <a:ea typeface="Noto Sans KR" pitchFamily="34" charset="-122"/>
                <a:cs typeface="Noto Sans KR" pitchFamily="34" charset="-120"/>
              </a:rPr>
              <a:t> ID와 이력 유지</a:t>
            </a:r>
            <a:endParaRPr lang="en-US" sz="1400" dirty="0"/>
          </a:p>
        </p:txBody>
      </p:sp>
      <p:sp>
        <p:nvSpPr>
          <p:cNvPr id="28" name="Text 24"/>
          <p:cNvSpPr/>
          <p:nvPr/>
        </p:nvSpPr>
        <p:spPr>
          <a:xfrm>
            <a:off x="7467600" y="3704530"/>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9" name="Text 25"/>
          <p:cNvSpPr/>
          <p:nvPr/>
        </p:nvSpPr>
        <p:spPr>
          <a:xfrm>
            <a:off x="7747000" y="3704530"/>
            <a:ext cx="2972098"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같은 Task ID:</a:t>
            </a:r>
            <a:r>
              <a:rPr lang="en-US" sz="1400" dirty="0">
                <a:solidFill>
                  <a:srgbClr val="33405A"/>
                </a:solidFill>
                <a:latin typeface="Noto Sans KR" pitchFamily="34" charset="0"/>
                <a:ea typeface="Noto Sans KR" pitchFamily="34" charset="-122"/>
                <a:cs typeface="Noto Sans KR" pitchFamily="34" charset="-120"/>
              </a:rPr>
              <a:t> 멈춘 지점부터 재개</a:t>
            </a:r>
            <a:endParaRPr lang="en-US" sz="1400" dirty="0"/>
          </a:p>
        </p:txBody>
      </p:sp>
      <p:sp>
        <p:nvSpPr>
          <p:cNvPr id="30" name="Text 26"/>
          <p:cNvSpPr/>
          <p:nvPr/>
        </p:nvSpPr>
        <p:spPr>
          <a:xfrm>
            <a:off x="7467600" y="4225230"/>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31" name="Text 27"/>
          <p:cNvSpPr/>
          <p:nvPr/>
        </p:nvSpPr>
        <p:spPr>
          <a:xfrm>
            <a:off x="7747000" y="4225230"/>
            <a:ext cx="4002643"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Context ID:</a:t>
            </a:r>
            <a:r>
              <a:rPr lang="en-US" sz="1400" dirty="0">
                <a:solidFill>
                  <a:srgbClr val="33405A"/>
                </a:solidFill>
                <a:latin typeface="Noto Sans KR" pitchFamily="34" charset="0"/>
                <a:ea typeface="Noto Sans KR" pitchFamily="34" charset="-122"/>
                <a:cs typeface="Noto Sans KR" pitchFamily="34" charset="-120"/>
              </a:rPr>
              <a:t> 관련 Task를 하나의 대화로 연결</a:t>
            </a:r>
            <a:endParaRPr lang="en-US" sz="1400" dirty="0"/>
          </a:p>
        </p:txBody>
      </p:sp>
      <p:sp>
        <p:nvSpPr>
          <p:cNvPr id="32" name="Text 28"/>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3" name="Text 29"/>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pic>
        <p:nvPicPr>
          <p:cNvPr id="2" name="Image 0" descr="connector">    </p:cNvPr>
          <p:cNvPicPr>
            <a:picLocks noChangeAspect="1"/>
          </p:cNvPicPr>
          <p:nvPr/>
        </p:nvPicPr>
        <p:blipFill>
          <a:blip r:embed="rId1"/>
          <a:srcRect l="0" r="0" t="0" b="0"/>
          <a:stretch/>
        </p:blipFill>
        <p:spPr>
          <a:xfrm>
            <a:off x="2095500" y="2184400"/>
            <a:ext cx="76200" cy="3886200"/>
          </a:xfrm>
          <a:prstGeom prst="rect">
            <a:avLst/>
          </a:prstGeom>
        </p:spPr>
      </p:pic>
      <p:pic>
        <p:nvPicPr>
          <p:cNvPr id="3" name="Image 1" descr="connector">    </p:cNvPr>
          <p:cNvPicPr>
            <a:picLocks noChangeAspect="1"/>
          </p:cNvPicPr>
          <p:nvPr/>
        </p:nvPicPr>
        <p:blipFill>
          <a:blip r:embed="rId2"/>
          <a:srcRect l="0" r="0" t="0" b="0"/>
          <a:stretch/>
        </p:blipFill>
        <p:spPr>
          <a:xfrm>
            <a:off x="4737100" y="2184400"/>
            <a:ext cx="76200" cy="3886200"/>
          </a:xfrm>
          <a:prstGeom prst="rect">
            <a:avLst/>
          </a:prstGeom>
        </p:spPr>
      </p:pic>
      <p:pic>
        <p:nvPicPr>
          <p:cNvPr id="4" name="Image 2" descr="connector">    </p:cNvPr>
          <p:cNvPicPr>
            <a:picLocks noChangeAspect="1"/>
          </p:cNvPicPr>
          <p:nvPr/>
        </p:nvPicPr>
        <p:blipFill>
          <a:blip r:embed="rId3"/>
          <a:srcRect l="0" r="0" t="0" b="0"/>
          <a:stretch/>
        </p:blipFill>
        <p:spPr>
          <a:xfrm>
            <a:off x="7378700" y="2184400"/>
            <a:ext cx="76200" cy="3886200"/>
          </a:xfrm>
          <a:prstGeom prst="rect">
            <a:avLst/>
          </a:prstGeom>
        </p:spPr>
      </p:pic>
      <p:pic>
        <p:nvPicPr>
          <p:cNvPr id="5" name="Image 3" descr="connector">    </p:cNvPr>
          <p:cNvPicPr>
            <a:picLocks noChangeAspect="1"/>
          </p:cNvPicPr>
          <p:nvPr/>
        </p:nvPicPr>
        <p:blipFill>
          <a:blip r:embed="rId4"/>
          <a:srcRect l="0" r="0" t="0" b="0"/>
          <a:stretch/>
        </p:blipFill>
        <p:spPr>
          <a:xfrm>
            <a:off x="10020300" y="2184400"/>
            <a:ext cx="76200" cy="3886200"/>
          </a:xfrm>
          <a:prstGeom prst="rect">
            <a:avLst/>
          </a:prstGeom>
        </p:spPr>
      </p:pic>
      <p:sp>
        <p:nvSpPr>
          <p:cNvPr id="6" name="Text 0"/>
          <p:cNvSpPr/>
          <p:nvPr>
            <p:ph type="title"/>
          </p:nvPr>
        </p:nvSpPr>
        <p:spPr>
          <a:xfrm>
            <a:off x="812800" y="812800"/>
            <a:ext cx="737348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The laptop order, start to finish</a:t>
            </a:r>
            <a:endParaRPr lang="en-US" sz="3200" dirty="0"/>
          </a:p>
        </p:txBody>
      </p:sp>
      <p:sp>
        <p:nvSpPr>
          <p:cNvPr id="7" name="Text 1"/>
          <p:cNvSpPr/>
          <p:nvPr/>
        </p:nvSpPr>
        <p:spPr>
          <a:xfrm>
            <a:off x="812800" y="1330920"/>
            <a:ext cx="632890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노트북 주문의 전체 흐름</a:t>
            </a:r>
            <a:endParaRPr lang="en-US" sz="1400" dirty="0"/>
          </a:p>
        </p:txBody>
      </p:sp>
      <p:sp>
        <p:nvSpPr>
          <p:cNvPr id="8" name="Text 2"/>
          <p:cNvSpPr/>
          <p:nvPr/>
        </p:nvSpPr>
        <p:spPr>
          <a:xfrm>
            <a:off x="9481820" y="1366490"/>
            <a:ext cx="18973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실선 = 요청 · 점선 = 응답</a:t>
            </a:r>
            <a:endParaRPr lang="en-US" sz="1200" dirty="0"/>
          </a:p>
        </p:txBody>
      </p:sp>
      <p:sp>
        <p:nvSpPr>
          <p:cNvPr id="9" name="Text 3"/>
          <p:cNvSpPr/>
          <p:nvPr/>
        </p:nvSpPr>
        <p:spPr>
          <a:xfrm>
            <a:off x="1117600" y="1783011"/>
            <a:ext cx="2032000" cy="391120"/>
          </a:xfrm>
          <a:prstGeom prst="roundRect">
            <a:avLst>
              <a:gd name="adj" fmla="val 22730"/>
            </a:avLst>
          </a:prstGeom>
          <a:solidFill>
            <a:srgbClr val="E9E5DC"/>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Customer</a:t>
            </a:r>
            <a:endParaRPr lang="en-US" sz="1200" dirty="0"/>
          </a:p>
        </p:txBody>
      </p:sp>
      <p:sp>
        <p:nvSpPr>
          <p:cNvPr id="10" name="Text 4"/>
          <p:cNvSpPr/>
          <p:nvPr/>
        </p:nvSpPr>
        <p:spPr>
          <a:xfrm>
            <a:off x="3759200" y="1783011"/>
            <a:ext cx="2032000" cy="391120"/>
          </a:xfrm>
          <a:prstGeom prst="roundRect">
            <a:avLst>
              <a:gd name="adj" fmla="val 22730"/>
            </a:avLst>
          </a:prstGeom>
          <a:solidFill>
            <a:srgbClr val="141B2D"/>
          </a:solidFill>
          <a:ln/>
        </p:spPr>
        <p:txBody>
          <a:bodyPr wrap="square" lIns="35049" tIns="62862" rIns="35049" bIns="37462" rtlCol="0" anchor="t">
            <a:normAutofit/>
          </a:bodyPr>
          <a:lstStyle/>
          <a:p>
            <a:pPr algn="ctr" indent="0" marL="0">
              <a:lnSpc>
                <a:spcPts val="1680"/>
              </a:lnSpc>
              <a:buNone/>
            </a:pPr>
            <a:r>
              <a:rPr lang="en-US" sz="1200" b="1" dirty="0">
                <a:solidFill>
                  <a:srgbClr val="F2EFE8"/>
                </a:solidFill>
                <a:latin typeface="Noto Sans KR" pitchFamily="34" charset="0"/>
                <a:ea typeface="Noto Sans KR" pitchFamily="34" charset="-122"/>
                <a:cs typeface="Noto Sans KR" pitchFamily="34" charset="-120"/>
              </a:rPr>
              <a:t>Sales (client)</a:t>
            </a:r>
            <a:endParaRPr lang="en-US" sz="1200" dirty="0"/>
          </a:p>
        </p:txBody>
      </p:sp>
      <p:sp>
        <p:nvSpPr>
          <p:cNvPr id="11" name="Text 5"/>
          <p:cNvSpPr/>
          <p:nvPr/>
        </p:nvSpPr>
        <p:spPr>
          <a:xfrm>
            <a:off x="6400800" y="1783011"/>
            <a:ext cx="2032000" cy="391120"/>
          </a:xfrm>
          <a:prstGeom prst="roundRect">
            <a:avLst>
              <a:gd name="adj" fmla="val 22730"/>
            </a:avLst>
          </a:prstGeom>
          <a:solidFill>
            <a:srgbClr val="FCE9DD"/>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Inventory (server)</a:t>
            </a:r>
            <a:endParaRPr lang="en-US" sz="1200" dirty="0"/>
          </a:p>
        </p:txBody>
      </p:sp>
      <p:sp>
        <p:nvSpPr>
          <p:cNvPr id="12" name="Text 6"/>
          <p:cNvSpPr/>
          <p:nvPr/>
        </p:nvSpPr>
        <p:spPr>
          <a:xfrm>
            <a:off x="9042400" y="1783011"/>
            <a:ext cx="2032000" cy="391120"/>
          </a:xfrm>
          <a:prstGeom prst="roundRect">
            <a:avLst>
              <a:gd name="adj" fmla="val 22730"/>
            </a:avLst>
          </a:prstGeom>
          <a:solidFill>
            <a:srgbClr val="FCE9DD"/>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Shipping (server)</a:t>
            </a:r>
            <a:endParaRPr lang="en-US" sz="1200" dirty="0"/>
          </a:p>
        </p:txBody>
      </p:sp>
      <p:pic>
        <p:nvPicPr>
          <p:cNvPr id="13" name="Image 4" descr="connector">    </p:cNvPr>
          <p:cNvPicPr>
            <a:picLocks noChangeAspect="1"/>
          </p:cNvPicPr>
          <p:nvPr/>
        </p:nvPicPr>
        <p:blipFill>
          <a:blip r:embed="rId5"/>
          <a:srcRect l="0" r="0" t="0" b="0"/>
          <a:stretch/>
        </p:blipFill>
        <p:spPr>
          <a:xfrm>
            <a:off x="2082800" y="2457450"/>
            <a:ext cx="2743200" cy="101600"/>
          </a:xfrm>
          <a:prstGeom prst="rect">
            <a:avLst/>
          </a:prstGeom>
        </p:spPr>
      </p:pic>
      <p:sp>
        <p:nvSpPr>
          <p:cNvPr id="14" name="Text 7"/>
          <p:cNvSpPr/>
          <p:nvPr/>
        </p:nvSpPr>
        <p:spPr>
          <a:xfrm>
            <a:off x="2235200" y="2254250"/>
            <a:ext cx="2476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1 · 노트북 100대, 내일까지?</a:t>
            </a:r>
            <a:endParaRPr lang="en-US" sz="1200" dirty="0"/>
          </a:p>
        </p:txBody>
      </p:sp>
      <p:pic>
        <p:nvPicPr>
          <p:cNvPr id="15" name="Image 5" descr="connector">    </p:cNvPr>
          <p:cNvPicPr>
            <a:picLocks noChangeAspect="1"/>
          </p:cNvPicPr>
          <p:nvPr/>
        </p:nvPicPr>
        <p:blipFill>
          <a:blip r:embed="rId6"/>
          <a:srcRect l="0" r="0" t="0" b="0"/>
          <a:stretch/>
        </p:blipFill>
        <p:spPr>
          <a:xfrm>
            <a:off x="4724400" y="2838450"/>
            <a:ext cx="2743200" cy="101600"/>
          </a:xfrm>
          <a:prstGeom prst="rect">
            <a:avLst/>
          </a:prstGeom>
        </p:spPr>
      </p:pic>
      <p:sp>
        <p:nvSpPr>
          <p:cNvPr id="16" name="Text 8"/>
          <p:cNvSpPr/>
          <p:nvPr/>
        </p:nvSpPr>
        <p:spPr>
          <a:xfrm>
            <a:off x="4876800" y="2635250"/>
            <a:ext cx="2222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2 · 노트북 100대 예약</a:t>
            </a:r>
            <a:endParaRPr lang="en-US" sz="1200" dirty="0"/>
          </a:p>
        </p:txBody>
      </p:sp>
      <p:pic>
        <p:nvPicPr>
          <p:cNvPr id="17" name="Image 6" descr="connector">    </p:cNvPr>
          <p:cNvPicPr>
            <a:picLocks noChangeAspect="1"/>
          </p:cNvPicPr>
          <p:nvPr/>
        </p:nvPicPr>
        <p:blipFill>
          <a:blip r:embed="rId7"/>
          <a:srcRect l="0" r="0" t="0" b="0"/>
          <a:stretch/>
        </p:blipFill>
        <p:spPr>
          <a:xfrm>
            <a:off x="4724400" y="3219450"/>
            <a:ext cx="2743200" cy="101600"/>
          </a:xfrm>
          <a:prstGeom prst="rect">
            <a:avLst/>
          </a:prstGeom>
        </p:spPr>
      </p:pic>
      <p:sp>
        <p:nvSpPr>
          <p:cNvPr id="18" name="Text 9"/>
          <p:cNvSpPr/>
          <p:nvPr/>
        </p:nvSpPr>
        <p:spPr>
          <a:xfrm>
            <a:off x="4826000" y="3016250"/>
            <a:ext cx="2540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3 · input-required: 20대뿐</a:t>
            </a:r>
            <a:endParaRPr lang="en-US" sz="1200" dirty="0"/>
          </a:p>
        </p:txBody>
      </p:sp>
      <p:pic>
        <p:nvPicPr>
          <p:cNvPr id="19" name="Image 7" descr="connector">    </p:cNvPr>
          <p:cNvPicPr>
            <a:picLocks noChangeAspect="1"/>
          </p:cNvPicPr>
          <p:nvPr/>
        </p:nvPicPr>
        <p:blipFill>
          <a:blip r:embed="rId8"/>
          <a:srcRect l="0" r="0" t="0" b="0"/>
          <a:stretch/>
        </p:blipFill>
        <p:spPr>
          <a:xfrm>
            <a:off x="2082800" y="3600450"/>
            <a:ext cx="2743200" cy="101600"/>
          </a:xfrm>
          <a:prstGeom prst="rect">
            <a:avLst/>
          </a:prstGeom>
        </p:spPr>
      </p:pic>
      <p:sp>
        <p:nvSpPr>
          <p:cNvPr id="20" name="Text 10"/>
          <p:cNvSpPr/>
          <p:nvPr/>
        </p:nvSpPr>
        <p:spPr>
          <a:xfrm>
            <a:off x="2235200" y="3397250"/>
            <a:ext cx="2159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4 · 20대 먼저, 80대 나중?</a:t>
            </a:r>
            <a:endParaRPr lang="en-US" sz="1200" dirty="0"/>
          </a:p>
        </p:txBody>
      </p:sp>
      <p:pic>
        <p:nvPicPr>
          <p:cNvPr id="21" name="Image 8" descr="connector">    </p:cNvPr>
          <p:cNvPicPr>
            <a:picLocks noChangeAspect="1"/>
          </p:cNvPicPr>
          <p:nvPr/>
        </p:nvPicPr>
        <p:blipFill>
          <a:blip r:embed="rId9"/>
          <a:srcRect l="0" r="0" t="0" b="0"/>
          <a:stretch/>
        </p:blipFill>
        <p:spPr>
          <a:xfrm>
            <a:off x="2082800" y="3981450"/>
            <a:ext cx="2743200" cy="101600"/>
          </a:xfrm>
          <a:prstGeom prst="rect">
            <a:avLst/>
          </a:prstGeom>
        </p:spPr>
      </p:pic>
      <p:sp>
        <p:nvSpPr>
          <p:cNvPr id="22" name="Text 11"/>
          <p:cNvSpPr/>
          <p:nvPr/>
        </p:nvSpPr>
        <p:spPr>
          <a:xfrm>
            <a:off x="2235200" y="3778250"/>
            <a:ext cx="1841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5 · 네, 진행해 주세요</a:t>
            </a:r>
            <a:endParaRPr lang="en-US" sz="1200" dirty="0"/>
          </a:p>
        </p:txBody>
      </p:sp>
      <p:pic>
        <p:nvPicPr>
          <p:cNvPr id="23" name="Image 9" descr="connector">    </p:cNvPr>
          <p:cNvPicPr>
            <a:picLocks noChangeAspect="1"/>
          </p:cNvPicPr>
          <p:nvPr/>
        </p:nvPicPr>
        <p:blipFill>
          <a:blip r:embed="rId10"/>
          <a:srcRect l="0" r="0" t="0" b="0"/>
          <a:stretch/>
        </p:blipFill>
        <p:spPr>
          <a:xfrm>
            <a:off x="4724400" y="4362450"/>
            <a:ext cx="2743200" cy="101600"/>
          </a:xfrm>
          <a:prstGeom prst="rect">
            <a:avLst/>
          </a:prstGeom>
        </p:spPr>
      </p:pic>
      <p:sp>
        <p:nvSpPr>
          <p:cNvPr id="24" name="Text 12"/>
          <p:cNvSpPr/>
          <p:nvPr/>
        </p:nvSpPr>
        <p:spPr>
          <a:xfrm>
            <a:off x="4826000" y="4159250"/>
            <a:ext cx="2413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6 · 20대 예약 + 80대 백오더</a:t>
            </a:r>
            <a:endParaRPr lang="en-US" sz="1200" dirty="0"/>
          </a:p>
        </p:txBody>
      </p:sp>
      <p:pic>
        <p:nvPicPr>
          <p:cNvPr id="25" name="Image 10" descr="connector">    </p:cNvPr>
          <p:cNvPicPr>
            <a:picLocks noChangeAspect="1"/>
          </p:cNvPicPr>
          <p:nvPr/>
        </p:nvPicPr>
        <p:blipFill>
          <a:blip r:embed="rId11"/>
          <a:srcRect l="0" r="0" t="0" b="0"/>
          <a:stretch/>
        </p:blipFill>
        <p:spPr>
          <a:xfrm>
            <a:off x="4724400" y="4743450"/>
            <a:ext cx="2743200" cy="101600"/>
          </a:xfrm>
          <a:prstGeom prst="rect">
            <a:avLst/>
          </a:prstGeom>
        </p:spPr>
      </p:pic>
      <p:sp>
        <p:nvSpPr>
          <p:cNvPr id="26" name="Text 13"/>
          <p:cNvSpPr/>
          <p:nvPr/>
        </p:nvSpPr>
        <p:spPr>
          <a:xfrm>
            <a:off x="4826000" y="4540250"/>
            <a:ext cx="2349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7 · completed + Artifact</a:t>
            </a:r>
            <a:endParaRPr lang="en-US" sz="1200" dirty="0"/>
          </a:p>
        </p:txBody>
      </p:sp>
      <p:pic>
        <p:nvPicPr>
          <p:cNvPr id="27" name="Image 11" descr="connector">    </p:cNvPr>
          <p:cNvPicPr>
            <a:picLocks noChangeAspect="1"/>
          </p:cNvPicPr>
          <p:nvPr/>
        </p:nvPicPr>
        <p:blipFill>
          <a:blip r:embed="rId12"/>
          <a:srcRect l="0" r="0" t="0" b="0"/>
          <a:stretch/>
        </p:blipFill>
        <p:spPr>
          <a:xfrm>
            <a:off x="4724400" y="5124450"/>
            <a:ext cx="5384800" cy="101600"/>
          </a:xfrm>
          <a:prstGeom prst="rect">
            <a:avLst/>
          </a:prstGeom>
        </p:spPr>
      </p:pic>
      <p:sp>
        <p:nvSpPr>
          <p:cNvPr id="28" name="Text 14"/>
          <p:cNvSpPr/>
          <p:nvPr/>
        </p:nvSpPr>
        <p:spPr>
          <a:xfrm>
            <a:off x="7543800" y="4921250"/>
            <a:ext cx="23876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8 · 20대 배송일은?</a:t>
            </a:r>
            <a:endParaRPr lang="en-US" sz="1200" dirty="0"/>
          </a:p>
        </p:txBody>
      </p:sp>
      <p:pic>
        <p:nvPicPr>
          <p:cNvPr id="29" name="Image 12" descr="connector">    </p:cNvPr>
          <p:cNvPicPr>
            <a:picLocks noChangeAspect="1"/>
          </p:cNvPicPr>
          <p:nvPr/>
        </p:nvPicPr>
        <p:blipFill>
          <a:blip r:embed="rId13"/>
          <a:srcRect l="0" r="0" t="0" b="0"/>
          <a:stretch/>
        </p:blipFill>
        <p:spPr>
          <a:xfrm>
            <a:off x="4724400" y="5505450"/>
            <a:ext cx="5384800" cy="101600"/>
          </a:xfrm>
          <a:prstGeom prst="rect">
            <a:avLst/>
          </a:prstGeom>
        </p:spPr>
      </p:pic>
      <p:sp>
        <p:nvSpPr>
          <p:cNvPr id="30" name="Text 15"/>
          <p:cNvSpPr/>
          <p:nvPr/>
        </p:nvSpPr>
        <p:spPr>
          <a:xfrm>
            <a:off x="7543800" y="5302250"/>
            <a:ext cx="21336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9 · completed: 화요일</a:t>
            </a:r>
            <a:endParaRPr lang="en-US" sz="1200" dirty="0"/>
          </a:p>
        </p:txBody>
      </p:sp>
      <p:pic>
        <p:nvPicPr>
          <p:cNvPr id="31" name="Image 13" descr="connector">    </p:cNvPr>
          <p:cNvPicPr>
            <a:picLocks noChangeAspect="1"/>
          </p:cNvPicPr>
          <p:nvPr/>
        </p:nvPicPr>
        <p:blipFill>
          <a:blip r:embed="rId14"/>
          <a:srcRect l="0" r="0" t="0" b="0"/>
          <a:stretch/>
        </p:blipFill>
        <p:spPr>
          <a:xfrm>
            <a:off x="2082800" y="5886450"/>
            <a:ext cx="2743200" cy="101600"/>
          </a:xfrm>
          <a:prstGeom prst="rect">
            <a:avLst/>
          </a:prstGeom>
        </p:spPr>
      </p:pic>
      <p:sp>
        <p:nvSpPr>
          <p:cNvPr id="32" name="Text 16"/>
          <p:cNvSpPr/>
          <p:nvPr/>
        </p:nvSpPr>
        <p:spPr>
          <a:xfrm>
            <a:off x="2235200" y="5683250"/>
            <a:ext cx="2413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10 · 20대 화요일, 80대 추후</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What was ACP — and why did it merge?</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ACP의 핵심 기능과 A2A로 통합된 이유</a:t>
            </a:r>
            <a:endParaRPr lang="en-US" sz="1400" dirty="0"/>
          </a:p>
        </p:txBody>
      </p:sp>
      <p:sp>
        <p:nvSpPr>
          <p:cNvPr id="4" name="Text 2"/>
          <p:cNvSpPr/>
          <p:nvPr/>
        </p:nvSpPr>
        <p:spPr>
          <a:xfrm>
            <a:off x="812800" y="1833811"/>
            <a:ext cx="65405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Agent Communication Protocol</a:t>
            </a:r>
            <a:r>
              <a:rPr lang="en-US" sz="1300" dirty="0">
                <a:solidFill>
                  <a:srgbClr val="4A5263"/>
                </a:solidFill>
                <a:latin typeface="Noto Sans KR" pitchFamily="34" charset="0"/>
                <a:ea typeface="Noto Sans KR" pitchFamily="34" charset="-122"/>
                <a:cs typeface="Noto Sans KR" pitchFamily="34" charset="-120"/>
              </a:rPr>
              <a:t> · IBM Research · BeeAI 플랫폼 · local-first</a:t>
            </a:r>
            <a:endParaRPr lang="en-US" sz="1300" dirty="0"/>
          </a:p>
        </p:txBody>
      </p:sp>
      <p:sp>
        <p:nvSpPr>
          <p:cNvPr id="5" name="Shape 3"/>
          <p:cNvSpPr/>
          <p:nvPr/>
        </p:nvSpPr>
        <p:spPr>
          <a:xfrm>
            <a:off x="812800" y="2217341"/>
            <a:ext cx="3098800" cy="1736130"/>
          </a:xfrm>
          <a:prstGeom prst="roundRect">
            <a:avLst>
              <a:gd name="adj" fmla="val 5852"/>
            </a:avLst>
          </a:prstGeom>
          <a:solidFill>
            <a:srgbClr val="FCFBF8"/>
          </a:solidFill>
          <a:ln/>
        </p:spPr>
      </p:sp>
      <p:sp>
        <p:nvSpPr>
          <p:cNvPr id="6" name="Shape 4"/>
          <p:cNvSpPr/>
          <p:nvPr/>
        </p:nvSpPr>
        <p:spPr>
          <a:xfrm>
            <a:off x="812800" y="2217341"/>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7" name="Text 5"/>
          <p:cNvSpPr/>
          <p:nvPr/>
        </p:nvSpPr>
        <p:spPr>
          <a:xfrm>
            <a:off x="1016000" y="2458641"/>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REST-first</a:t>
            </a:r>
            <a:endParaRPr lang="en-US" sz="1700" dirty="0"/>
          </a:p>
        </p:txBody>
      </p:sp>
      <p:sp>
        <p:nvSpPr>
          <p:cNvPr id="8" name="Text 6"/>
          <p:cNvSpPr/>
          <p:nvPr/>
        </p:nvSpPr>
        <p:spPr>
          <a:xfrm>
            <a:off x="1016000" y="2781201"/>
            <a:ext cx="277317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일반 HTTP 엔드포인트, 별도 SDK 불필요</a:t>
            </a:r>
            <a:endParaRPr lang="en-US" sz="1400" dirty="0"/>
          </a:p>
        </p:txBody>
      </p:sp>
      <p:sp>
        <p:nvSpPr>
          <p:cNvPr id="9" name="Shape 7"/>
          <p:cNvSpPr/>
          <p:nvPr/>
        </p:nvSpPr>
        <p:spPr>
          <a:xfrm>
            <a:off x="4064000" y="2217341"/>
            <a:ext cx="3098800" cy="1736130"/>
          </a:xfrm>
          <a:prstGeom prst="roundRect">
            <a:avLst>
              <a:gd name="adj" fmla="val 5852"/>
            </a:avLst>
          </a:prstGeom>
          <a:solidFill>
            <a:srgbClr val="FCFBF8"/>
          </a:solidFill>
          <a:ln/>
        </p:spPr>
      </p:sp>
      <p:sp>
        <p:nvSpPr>
          <p:cNvPr id="10" name="Shape 8"/>
          <p:cNvSpPr/>
          <p:nvPr/>
        </p:nvSpPr>
        <p:spPr>
          <a:xfrm>
            <a:off x="4064000" y="2217341"/>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1" name="Text 9"/>
          <p:cNvSpPr/>
          <p:nvPr/>
        </p:nvSpPr>
        <p:spPr>
          <a:xfrm>
            <a:off x="4267200" y="2458641"/>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Any content type</a:t>
            </a:r>
            <a:endParaRPr lang="en-US" sz="1700" dirty="0"/>
          </a:p>
        </p:txBody>
      </p:sp>
      <p:sp>
        <p:nvSpPr>
          <p:cNvPr id="12" name="Text 10"/>
          <p:cNvSpPr/>
          <p:nvPr/>
        </p:nvSpPr>
        <p:spPr>
          <a:xfrm>
            <a:off x="4267200" y="2781201"/>
            <a:ext cx="277317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MIME 타입으로 텍스트·이미지·파일 구분</a:t>
            </a:r>
            <a:endParaRPr lang="en-US" sz="1400" dirty="0"/>
          </a:p>
        </p:txBody>
      </p:sp>
      <p:sp>
        <p:nvSpPr>
          <p:cNvPr id="13" name="Shape 11"/>
          <p:cNvSpPr/>
          <p:nvPr/>
        </p:nvSpPr>
        <p:spPr>
          <a:xfrm>
            <a:off x="812800" y="4105870"/>
            <a:ext cx="3098800" cy="1736130"/>
          </a:xfrm>
          <a:prstGeom prst="roundRect">
            <a:avLst>
              <a:gd name="adj" fmla="val 5852"/>
            </a:avLst>
          </a:prstGeom>
          <a:solidFill>
            <a:srgbClr val="FCFBF8"/>
          </a:solidFill>
          <a:ln/>
        </p:spPr>
      </p:sp>
      <p:sp>
        <p:nvSpPr>
          <p:cNvPr id="14" name="Shape 12"/>
          <p:cNvSpPr/>
          <p:nvPr/>
        </p:nvSpPr>
        <p:spPr>
          <a:xfrm>
            <a:off x="812800" y="4105870"/>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5" name="Text 13"/>
          <p:cNvSpPr/>
          <p:nvPr/>
        </p:nvSpPr>
        <p:spPr>
          <a:xfrm>
            <a:off x="1016000" y="4347170"/>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Sync, async, streaming</a:t>
            </a:r>
            <a:endParaRPr lang="en-US" sz="1700" dirty="0"/>
          </a:p>
        </p:txBody>
      </p:sp>
      <p:sp>
        <p:nvSpPr>
          <p:cNvPr id="16" name="Text 14"/>
          <p:cNvSpPr/>
          <p:nvPr/>
        </p:nvSpPr>
        <p:spPr>
          <a:xfrm>
            <a:off x="1016000" y="4669730"/>
            <a:ext cx="28956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짧은 호출부터 장시간 실행까지 지원</a:t>
            </a:r>
            <a:endParaRPr lang="en-US" sz="1400" dirty="0"/>
          </a:p>
        </p:txBody>
      </p:sp>
      <p:sp>
        <p:nvSpPr>
          <p:cNvPr id="17" name="Shape 15"/>
          <p:cNvSpPr/>
          <p:nvPr/>
        </p:nvSpPr>
        <p:spPr>
          <a:xfrm>
            <a:off x="4064000" y="4105870"/>
            <a:ext cx="3098800" cy="1736130"/>
          </a:xfrm>
          <a:prstGeom prst="roundRect">
            <a:avLst>
              <a:gd name="adj" fmla="val 5852"/>
            </a:avLst>
          </a:prstGeom>
          <a:solidFill>
            <a:srgbClr val="FCFBF8"/>
          </a:solidFill>
          <a:ln/>
        </p:spPr>
      </p:sp>
      <p:sp>
        <p:nvSpPr>
          <p:cNvPr id="18" name="Shape 16"/>
          <p:cNvSpPr/>
          <p:nvPr/>
        </p:nvSpPr>
        <p:spPr>
          <a:xfrm>
            <a:off x="4064000" y="4105870"/>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9" name="Text 17"/>
          <p:cNvSpPr/>
          <p:nvPr/>
        </p:nvSpPr>
        <p:spPr>
          <a:xfrm>
            <a:off x="4267200" y="4347170"/>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Offline discovery</a:t>
            </a:r>
            <a:endParaRPr lang="en-US" sz="1700" dirty="0"/>
          </a:p>
        </p:txBody>
      </p:sp>
      <p:sp>
        <p:nvSpPr>
          <p:cNvPr id="20" name="Text 18"/>
          <p:cNvSpPr/>
          <p:nvPr/>
        </p:nvSpPr>
        <p:spPr>
          <a:xfrm>
            <a:off x="4267200" y="4669730"/>
            <a:ext cx="277317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에이전트 메타데이터를 패키지에 포함</a:t>
            </a:r>
            <a:endParaRPr lang="en-US" sz="1400" dirty="0"/>
          </a:p>
        </p:txBody>
      </p:sp>
      <p:sp>
        <p:nvSpPr>
          <p:cNvPr id="21" name="Shape 19"/>
          <p:cNvSpPr/>
          <p:nvPr/>
        </p:nvSpPr>
        <p:spPr>
          <a:xfrm>
            <a:off x="7467600" y="1833811"/>
            <a:ext cx="3911600" cy="4008189"/>
          </a:xfrm>
          <a:prstGeom prst="roundRect">
            <a:avLst>
              <a:gd name="adj" fmla="val 3247"/>
            </a:avLst>
          </a:prstGeom>
          <a:solidFill>
            <a:srgbClr val="141B2D"/>
          </a:solidFill>
          <a:ln/>
        </p:spPr>
      </p:sp>
      <p:sp>
        <p:nvSpPr>
          <p:cNvPr id="22" name="Text 20"/>
          <p:cNvSpPr/>
          <p:nvPr/>
        </p:nvSpPr>
        <p:spPr>
          <a:xfrm>
            <a:off x="7721600" y="2087811"/>
            <a:ext cx="350570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Noto Sans KR" pitchFamily="34" charset="0"/>
                <a:ea typeface="Noto Sans KR" pitchFamily="34" charset="-122"/>
                <a:cs typeface="Noto Sans KR" pitchFamily="34" charset="-120"/>
              </a:rPr>
              <a:t>A2A로 통합된 이유</a:t>
            </a:r>
            <a:endParaRPr lang="en-US" sz="1300" dirty="0"/>
          </a:p>
        </p:txBody>
      </p:sp>
      <p:sp>
        <p:nvSpPr>
          <p:cNvPr id="23" name="Text 21"/>
          <p:cNvSpPr/>
          <p:nvPr/>
        </p:nvSpPr>
        <p:spPr>
          <a:xfrm>
            <a:off x="7721600" y="24840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4" name="Text 22"/>
          <p:cNvSpPr/>
          <p:nvPr/>
        </p:nvSpPr>
        <p:spPr>
          <a:xfrm>
            <a:off x="7988300" y="2484041"/>
            <a:ext cx="245751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같은 목표, 한 달 차이로 등장</a:t>
            </a:r>
            <a:endParaRPr lang="en-US" sz="1400" dirty="0"/>
          </a:p>
        </p:txBody>
      </p:sp>
      <p:sp>
        <p:nvSpPr>
          <p:cNvPr id="25" name="Text 23"/>
          <p:cNvSpPr/>
          <p:nvPr/>
        </p:nvSpPr>
        <p:spPr>
          <a:xfrm>
            <a:off x="7721600" y="29158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6" name="Text 24"/>
          <p:cNvSpPr/>
          <p:nvPr/>
        </p:nvSpPr>
        <p:spPr>
          <a:xfrm>
            <a:off x="7988300" y="2915841"/>
            <a:ext cx="249888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표준이 둘이면 생태계가 분열</a:t>
            </a:r>
            <a:endParaRPr lang="en-US" sz="1400" dirty="0"/>
          </a:p>
        </p:txBody>
      </p:sp>
      <p:sp>
        <p:nvSpPr>
          <p:cNvPr id="27" name="Text 25"/>
          <p:cNvSpPr/>
          <p:nvPr/>
        </p:nvSpPr>
        <p:spPr>
          <a:xfrm>
            <a:off x="7721600" y="33476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8" name="Text 26"/>
          <p:cNvSpPr/>
          <p:nvPr/>
        </p:nvSpPr>
        <p:spPr>
          <a:xfrm>
            <a:off x="7988300" y="3347641"/>
            <a:ext cx="213937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A2A의 더 넓은 업계 지지</a:t>
            </a:r>
            <a:endParaRPr lang="en-US" sz="1400" dirty="0"/>
          </a:p>
        </p:txBody>
      </p:sp>
      <p:sp>
        <p:nvSpPr>
          <p:cNvPr id="29" name="Text 27"/>
          <p:cNvSpPr/>
          <p:nvPr/>
        </p:nvSpPr>
        <p:spPr>
          <a:xfrm>
            <a:off x="7721600" y="37794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30" name="Text 28"/>
          <p:cNvSpPr/>
          <p:nvPr/>
        </p:nvSpPr>
        <p:spPr>
          <a:xfrm>
            <a:off x="7988300" y="3779441"/>
            <a:ext cx="285172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ACP의 REST 방식은 A2A에 계승</a:t>
            </a:r>
            <a:endParaRPr lang="en-US" sz="1400" dirty="0"/>
          </a:p>
        </p:txBody>
      </p:sp>
      <p:sp>
        <p:nvSpPr>
          <p:cNvPr id="31" name="Text 29"/>
          <p:cNvSpPr/>
          <p:nvPr/>
        </p:nvSpPr>
        <p:spPr>
          <a:xfrm>
            <a:off x="7721600" y="5359400"/>
            <a:ext cx="350570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EB6C6"/>
                </a:solidFill>
                <a:latin typeface="Noto Sans KR" pitchFamily="34" charset="0"/>
                <a:ea typeface="Noto Sans KR" pitchFamily="34" charset="-122"/>
                <a:cs typeface="Noto Sans KR" pitchFamily="34" charset="-120"/>
              </a:rPr>
              <a:t>2025년 8월 · Linux Foundation 아래 A2A로 통합</a:t>
            </a:r>
            <a:endParaRPr lang="en-US" sz="1200" dirty="0"/>
          </a:p>
        </p:txBody>
      </p:sp>
      <p:sp>
        <p:nvSpPr>
          <p:cNvPr id="32" name="Text 30"/>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3" name="Text 31"/>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MCP vs. A2A: tools vs. peers</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도구 연결과 동료 협업의 차이</a:t>
            </a:r>
            <a:endParaRPr lang="en-US" sz="1400" dirty="0"/>
          </a:p>
        </p:txBody>
      </p:sp>
      <p:sp>
        <p:nvSpPr>
          <p:cNvPr id="4" name="Shape 2"/>
          <p:cNvSpPr/>
          <p:nvPr/>
        </p:nvSpPr>
        <p:spPr>
          <a:xfrm>
            <a:off x="812800" y="1833811"/>
            <a:ext cx="5969000" cy="2174974"/>
          </a:xfrm>
          <a:prstGeom prst="rect">
            <a:avLst/>
          </a:prstGeom>
          <a:solidFill>
            <a:srgbClr val="FCFBF8"/>
          </a:solidFill>
          <a:ln/>
        </p:spPr>
      </p:sp>
      <p:sp>
        <p:nvSpPr>
          <p:cNvPr id="5" name="Shape 3"/>
          <p:cNvSpPr/>
          <p:nvPr/>
        </p:nvSpPr>
        <p:spPr>
          <a:xfrm>
            <a:off x="6778625" y="1833811"/>
            <a:ext cx="0" cy="2174974"/>
          </a:xfrm>
          <a:prstGeom prst="line">
            <a:avLst/>
          </a:prstGeom>
          <a:noFill/>
          <a:ln w="6350">
            <a:solidFill>
              <a:srgbClr val="DAD6CC"/>
            </a:solidFill>
            <a:prstDash val="solid"/>
          </a:ln>
        </p:spPr>
      </p:sp>
      <p:sp>
        <p:nvSpPr>
          <p:cNvPr id="6" name="Shape 4"/>
          <p:cNvSpPr/>
          <p:nvPr/>
        </p:nvSpPr>
        <p:spPr>
          <a:xfrm>
            <a:off x="812800" y="4005610"/>
            <a:ext cx="5969000" cy="0"/>
          </a:xfrm>
          <a:prstGeom prst="line">
            <a:avLst/>
          </a:prstGeom>
          <a:noFill/>
          <a:ln w="6350">
            <a:solidFill>
              <a:srgbClr val="DAD6C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46511"/>
          <a:ext cx="5949950" cy="2155924"/>
        </p:xfrm>
        <a:graphic>
          <a:graphicData uri="http://schemas.openxmlformats.org/drawingml/2006/table">
            <a:tbl>
              <a:tblPr/>
              <a:tblGrid>
                <a:gridCol w="1427988"/>
                <a:gridCol w="2260981"/>
                <a:gridCol w="2260981"/>
              </a:tblGrid>
              <a:tr h="359321">
                <a:tc>
                  <a:txBody>
                    <a:bodyPr/>
                    <a:lstStyle/>
                    <a:p>
                      <a:pPr indent="0" marL="0">
                        <a:lnSpc>
                          <a:spcPts val="1820"/>
                        </a:lnSpc>
                        <a:buNone/>
                      </a:pP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c>
                  <a:txBody>
                    <a:bodyPr/>
                    <a:lstStyle/>
                    <a:p>
                      <a:pPr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MCP</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141927"/>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c>
                  <a:txBody>
                    <a:bodyPr/>
                    <a:lstStyle/>
                    <a:p>
                      <a:pPr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A2A</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141927"/>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대화 주체</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Agent → 도구·데이터</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Agent ↔ Agent</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상대방</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예측 가능: DB, API, 파일</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추론하고 계획하는 동료</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방식</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“이 SQL 쿼리 실행”</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“노트북 20대 예약”</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상태</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대부분 단발성 호출</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상태를 가진 Task</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비유</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계산기를 쓰는 직원</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Slack으로 협업하는 동료</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bl>
          </a:graphicData>
        </a:graphic>
      </p:graphicFrame>
      <p:sp>
        <p:nvSpPr>
          <p:cNvPr id="8" name="Text 5"/>
          <p:cNvSpPr/>
          <p:nvPr/>
        </p:nvSpPr>
        <p:spPr>
          <a:xfrm>
            <a:off x="7188200" y="1833811"/>
            <a:ext cx="43167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9531E"/>
                </a:solidFill>
                <a:latin typeface="Noto Sans KR" pitchFamily="34" charset="0"/>
                <a:ea typeface="Noto Sans KR" pitchFamily="34" charset="-122"/>
                <a:cs typeface="Noto Sans KR" pitchFamily="34" charset="-120"/>
              </a:rPr>
              <a:t>실제로는 두 가지를 함께 사용</a:t>
            </a:r>
            <a:endParaRPr lang="en-US" sz="1300" dirty="0"/>
          </a:p>
        </p:txBody>
      </p:sp>
      <p:sp>
        <p:nvSpPr>
          <p:cNvPr id="9" name="Shape 6"/>
          <p:cNvSpPr/>
          <p:nvPr/>
        </p:nvSpPr>
        <p:spPr>
          <a:xfrm>
            <a:off x="7188200" y="2191941"/>
            <a:ext cx="1587500" cy="660350"/>
          </a:xfrm>
          <a:prstGeom prst="roundRect">
            <a:avLst>
              <a:gd name="adj" fmla="val 13463"/>
            </a:avLst>
          </a:prstGeom>
          <a:solidFill>
            <a:srgbClr val="141B2D"/>
          </a:solidFill>
          <a:ln/>
        </p:spPr>
      </p:sp>
      <p:sp>
        <p:nvSpPr>
          <p:cNvPr id="10" name="Text 7"/>
          <p:cNvSpPr/>
          <p:nvPr/>
        </p:nvSpPr>
        <p:spPr>
          <a:xfrm>
            <a:off x="7289800" y="2293541"/>
            <a:ext cx="1435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Sales Agent</a:t>
            </a:r>
            <a:endParaRPr lang="en-US" sz="1300" dirty="0"/>
          </a:p>
        </p:txBody>
      </p:sp>
      <p:sp>
        <p:nvSpPr>
          <p:cNvPr id="11" name="Text 8"/>
          <p:cNvSpPr/>
          <p:nvPr/>
        </p:nvSpPr>
        <p:spPr>
          <a:xfrm>
            <a:off x="7289800" y="2537371"/>
            <a:ext cx="143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Client</a:t>
            </a:r>
            <a:endParaRPr lang="en-US" sz="1200" dirty="0"/>
          </a:p>
        </p:txBody>
      </p:sp>
      <p:sp>
        <p:nvSpPr>
          <p:cNvPr id="12" name="Text 9"/>
          <p:cNvSpPr/>
          <p:nvPr/>
        </p:nvSpPr>
        <p:spPr>
          <a:xfrm>
            <a:off x="9115053" y="2345581"/>
            <a:ext cx="33724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A2A</a:t>
            </a:r>
            <a:endParaRPr lang="en-US" sz="1200" dirty="0"/>
          </a:p>
        </p:txBody>
      </p:sp>
      <p:pic>
        <p:nvPicPr>
          <p:cNvPr id="13" name="Image 0" descr="connector">    </p:cNvPr>
          <p:cNvPicPr>
            <a:picLocks noChangeAspect="1"/>
          </p:cNvPicPr>
          <p:nvPr/>
        </p:nvPicPr>
        <p:blipFill>
          <a:blip r:embed="rId1"/>
          <a:srcRect l="0" r="0" t="0" b="0"/>
          <a:stretch/>
        </p:blipFill>
        <p:spPr>
          <a:xfrm>
            <a:off x="8839200" y="2597001"/>
            <a:ext cx="889000" cy="101600"/>
          </a:xfrm>
          <a:prstGeom prst="rect">
            <a:avLst/>
          </a:prstGeom>
        </p:spPr>
      </p:pic>
      <p:sp>
        <p:nvSpPr>
          <p:cNvPr id="14" name="Shape 10"/>
          <p:cNvSpPr/>
          <p:nvPr/>
        </p:nvSpPr>
        <p:spPr>
          <a:xfrm>
            <a:off x="9791700" y="2191941"/>
            <a:ext cx="1587500" cy="660350"/>
          </a:xfrm>
          <a:prstGeom prst="roundRect">
            <a:avLst>
              <a:gd name="adj" fmla="val 13463"/>
            </a:avLst>
          </a:prstGeom>
          <a:solidFill>
            <a:srgbClr val="141B2D"/>
          </a:solidFill>
          <a:ln/>
        </p:spPr>
      </p:sp>
      <p:sp>
        <p:nvSpPr>
          <p:cNvPr id="15" name="Text 11"/>
          <p:cNvSpPr/>
          <p:nvPr/>
        </p:nvSpPr>
        <p:spPr>
          <a:xfrm>
            <a:off x="9893300" y="2293541"/>
            <a:ext cx="1435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Inventory Agent</a:t>
            </a:r>
            <a:endParaRPr lang="en-US" sz="1300" dirty="0"/>
          </a:p>
        </p:txBody>
      </p:sp>
      <p:sp>
        <p:nvSpPr>
          <p:cNvPr id="16" name="Text 12"/>
          <p:cNvSpPr/>
          <p:nvPr/>
        </p:nvSpPr>
        <p:spPr>
          <a:xfrm>
            <a:off x="9893300" y="2537371"/>
            <a:ext cx="143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Server</a:t>
            </a:r>
            <a:endParaRPr lang="en-US" sz="1200" dirty="0"/>
          </a:p>
        </p:txBody>
      </p:sp>
      <p:sp>
        <p:nvSpPr>
          <p:cNvPr id="17" name="Shape 13"/>
          <p:cNvSpPr/>
          <p:nvPr/>
        </p:nvSpPr>
        <p:spPr>
          <a:xfrm>
            <a:off x="7767241" y="2852291"/>
            <a:ext cx="25400" cy="571500"/>
          </a:xfrm>
          <a:prstGeom prst="rect">
            <a:avLst/>
          </a:prstGeom>
          <a:solidFill>
            <a:srgbClr val="B9531E"/>
          </a:solidFill>
          <a:ln/>
        </p:spPr>
      </p:sp>
      <p:sp>
        <p:nvSpPr>
          <p:cNvPr id="18" name="Text 14"/>
          <p:cNvSpPr/>
          <p:nvPr/>
        </p:nvSpPr>
        <p:spPr>
          <a:xfrm>
            <a:off x="7868841" y="3031381"/>
            <a:ext cx="393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MCP</a:t>
            </a:r>
            <a:endParaRPr lang="en-US" sz="1200" dirty="0"/>
          </a:p>
        </p:txBody>
      </p:sp>
      <p:sp>
        <p:nvSpPr>
          <p:cNvPr id="19" name="Shape 15"/>
          <p:cNvSpPr/>
          <p:nvPr/>
        </p:nvSpPr>
        <p:spPr>
          <a:xfrm>
            <a:off x="10370741" y="2852291"/>
            <a:ext cx="25400" cy="571500"/>
          </a:xfrm>
          <a:prstGeom prst="rect">
            <a:avLst/>
          </a:prstGeom>
          <a:solidFill>
            <a:srgbClr val="B9531E"/>
          </a:solidFill>
          <a:ln/>
        </p:spPr>
      </p:sp>
      <p:sp>
        <p:nvSpPr>
          <p:cNvPr id="20" name="Text 16"/>
          <p:cNvSpPr/>
          <p:nvPr/>
        </p:nvSpPr>
        <p:spPr>
          <a:xfrm>
            <a:off x="10472341" y="3031381"/>
            <a:ext cx="393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MCP</a:t>
            </a:r>
            <a:endParaRPr lang="en-US" sz="1200" dirty="0"/>
          </a:p>
        </p:txBody>
      </p:sp>
      <p:sp>
        <p:nvSpPr>
          <p:cNvPr id="21" name="Shape 17"/>
          <p:cNvSpPr/>
          <p:nvPr/>
        </p:nvSpPr>
        <p:spPr>
          <a:xfrm>
            <a:off x="7194550" y="3430141"/>
            <a:ext cx="1574800" cy="683220"/>
          </a:xfrm>
          <a:prstGeom prst="roundRect">
            <a:avLst>
              <a:gd name="adj" fmla="val 12082"/>
            </a:avLst>
          </a:prstGeom>
          <a:solidFill>
            <a:srgbClr val="FCE9DD"/>
          </a:solidFill>
          <a:ln w="12700">
            <a:solidFill>
              <a:srgbClr val="B9531E"/>
            </a:solidFill>
            <a:prstDash val="dash"/>
          </a:ln>
        </p:spPr>
      </p:sp>
      <p:pic>
        <p:nvPicPr>
          <p:cNvPr id="22" name="Image 1" descr="Users">    </p:cNvPr>
          <p:cNvPicPr>
            <a:picLocks noChangeAspect="1"/>
          </p:cNvPicPr>
          <p:nvPr/>
        </p:nvPicPr>
        <p:blipFill>
          <a:blip r:embed="rId2"/>
          <a:srcRect l="0" r="0" t="0" b="0"/>
          <a:stretch/>
        </p:blipFill>
        <p:spPr>
          <a:xfrm>
            <a:off x="7302500" y="3538091"/>
            <a:ext cx="203200" cy="203200"/>
          </a:xfrm>
          <a:prstGeom prst="rect">
            <a:avLst/>
          </a:prstGeom>
        </p:spPr>
      </p:pic>
      <p:sp>
        <p:nvSpPr>
          <p:cNvPr id="23" name="Text 18"/>
          <p:cNvSpPr/>
          <p:nvPr/>
        </p:nvSpPr>
        <p:spPr>
          <a:xfrm>
            <a:off x="7302500" y="379209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주문 CRM</a:t>
            </a:r>
            <a:endParaRPr lang="en-US" sz="1200" dirty="0"/>
          </a:p>
        </p:txBody>
      </p:sp>
      <p:sp>
        <p:nvSpPr>
          <p:cNvPr id="24" name="Shape 19"/>
          <p:cNvSpPr/>
          <p:nvPr/>
        </p:nvSpPr>
        <p:spPr>
          <a:xfrm>
            <a:off x="9798050" y="3430141"/>
            <a:ext cx="1574800" cy="683220"/>
          </a:xfrm>
          <a:prstGeom prst="roundRect">
            <a:avLst>
              <a:gd name="adj" fmla="val 12082"/>
            </a:avLst>
          </a:prstGeom>
          <a:solidFill>
            <a:srgbClr val="FCE9DD"/>
          </a:solidFill>
          <a:ln w="12700">
            <a:solidFill>
              <a:srgbClr val="B9531E"/>
            </a:solidFill>
            <a:prstDash val="dash"/>
          </a:ln>
        </p:spPr>
      </p:sp>
      <p:pic>
        <p:nvPicPr>
          <p:cNvPr id="25" name="Image 2" descr="Database">    </p:cNvPr>
          <p:cNvPicPr>
            <a:picLocks noChangeAspect="1"/>
          </p:cNvPicPr>
          <p:nvPr/>
        </p:nvPicPr>
        <p:blipFill>
          <a:blip r:embed="rId3"/>
          <a:srcRect l="0" r="0" t="0" b="0"/>
          <a:stretch/>
        </p:blipFill>
        <p:spPr>
          <a:xfrm>
            <a:off x="9906000" y="3538091"/>
            <a:ext cx="203200" cy="203200"/>
          </a:xfrm>
          <a:prstGeom prst="rect">
            <a:avLst/>
          </a:prstGeom>
        </p:spPr>
      </p:pic>
      <p:sp>
        <p:nvSpPr>
          <p:cNvPr id="26" name="Text 20"/>
          <p:cNvSpPr/>
          <p:nvPr/>
        </p:nvSpPr>
        <p:spPr>
          <a:xfrm>
            <a:off x="9906000" y="379209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창고 DB</a:t>
            </a:r>
            <a:endParaRPr lang="en-US" sz="1200" dirty="0"/>
          </a:p>
        </p:txBody>
      </p:sp>
      <p:sp>
        <p:nvSpPr>
          <p:cNvPr id="27" name="Text 21"/>
          <p:cNvSpPr/>
          <p:nvPr/>
        </p:nvSpPr>
        <p:spPr>
          <a:xfrm>
            <a:off x="7188200" y="4246711"/>
            <a:ext cx="431673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Noto Sans KR" pitchFamily="34" charset="0"/>
                <a:ea typeface="Noto Sans KR" pitchFamily="34" charset="-122"/>
                <a:cs typeface="Noto Sans KR" pitchFamily="34" charset="-120"/>
              </a:rPr>
              <a:t>MCP는 각 에이전트의 도구로 연결되고, A2A는 에이전트 사이를 연결합니다.</a:t>
            </a:r>
            <a:endParaRPr lang="en-US" sz="1200" dirty="0"/>
          </a:p>
        </p:txBody>
      </p:sp>
      <p:sp>
        <p:nvSpPr>
          <p:cNvPr id="28" name="Text 22"/>
          <p:cNvSpPr/>
          <p:nvPr/>
        </p:nvSpPr>
        <p:spPr>
          <a:xfrm>
            <a:off x="7188200" y="4830911"/>
            <a:ext cx="431673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573"/>
                </a:solidFill>
                <a:latin typeface="Noto Sans KR" pitchFamily="34" charset="0"/>
                <a:ea typeface="Noto Sans KR" pitchFamily="34" charset="-122"/>
                <a:cs typeface="Noto Sans KR" pitchFamily="34" charset="-120"/>
              </a:rPr>
              <a:t>두 프로토콜 모두 Agentic AI Foundation에 속해 있습니다.</a:t>
            </a:r>
            <a:endParaRPr lang="en-US" sz="1200" dirty="0"/>
          </a:p>
        </p:txBody>
      </p:sp>
      <p:sp>
        <p:nvSpPr>
          <p:cNvPr id="29" name="Text 23"/>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0" name="Text 24"/>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When A2A fits — and when it doesn’t</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A2A가 적합한 경우와 신중히 검토할 경우</a:t>
            </a:r>
            <a:endParaRPr lang="en-US" sz="1400" dirty="0"/>
          </a:p>
        </p:txBody>
      </p:sp>
      <p:sp>
        <p:nvSpPr>
          <p:cNvPr id="4" name="Shape 2"/>
          <p:cNvSpPr/>
          <p:nvPr/>
        </p:nvSpPr>
        <p:spPr>
          <a:xfrm>
            <a:off x="812800" y="1833811"/>
            <a:ext cx="5181600" cy="2191891"/>
          </a:xfrm>
          <a:prstGeom prst="roundRect">
            <a:avLst>
              <a:gd name="adj" fmla="val 5794"/>
            </a:avLst>
          </a:prstGeom>
          <a:solidFill>
            <a:srgbClr val="FCFBF8"/>
          </a:solidFill>
          <a:ln/>
        </p:spPr>
      </p:sp>
      <p:sp>
        <p:nvSpPr>
          <p:cNvPr id="5" name="Shape 3"/>
          <p:cNvSpPr/>
          <p:nvPr/>
        </p:nvSpPr>
        <p:spPr>
          <a:xfrm>
            <a:off x="812800" y="1833811"/>
            <a:ext cx="5181600" cy="2191891"/>
          </a:xfrm>
          <a:custGeom>
            <a:avLst/>
            <a:gdLst/>
            <a:ahLst/>
            <a:cxnLst/>
            <a:rect l="l" t="t" r="r" b="b"/>
            <a:pathLst>
              <a:path w="5181600" h="2191891">
                <a:moveTo>
                  <a:pt x="0" y="127000"/>
                </a:moveTo>
                <a:lnTo>
                  <a:pt x="0" y="127000"/>
                </a:lnTo>
                <a:arcTo hR="127000" wR="127000" stAng="10800000" swAng="5400000"/>
                <a:lnTo>
                  <a:pt x="5054600" y="0"/>
                </a:lnTo>
                <a:arcTo hR="127000" wR="127000" stAng="16200000" swAng="5400000"/>
                <a:lnTo>
                  <a:pt x="5181600" y="127000"/>
                </a:lnTo>
                <a:arcTo hR="88900" wR="127000" stAng="0" swAng="-5400000"/>
                <a:lnTo>
                  <a:pt x="127000" y="38100"/>
                </a:lnTo>
                <a:arcTo hR="88900" wR="127000" stAng="16200000" swAng="-5400000"/>
                <a:close/>
              </a:path>
            </a:pathLst>
          </a:custGeom>
          <a:solidFill>
            <a:srgbClr val="2F6FD1"/>
          </a:solidFill>
          <a:ln/>
        </p:spPr>
      </p:sp>
      <p:sp>
        <p:nvSpPr>
          <p:cNvPr id="6" name="Text 4"/>
          <p:cNvSpPr/>
          <p:nvPr/>
        </p:nvSpPr>
        <p:spPr>
          <a:xfrm>
            <a:off x="1041400" y="2100511"/>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4F9E"/>
                </a:solidFill>
                <a:latin typeface="Noto Sans KR" pitchFamily="34" charset="0"/>
                <a:ea typeface="Noto Sans KR" pitchFamily="34" charset="-122"/>
                <a:cs typeface="Noto Sans KR" pitchFamily="34" charset="-120"/>
              </a:rPr>
              <a:t>A2A가 적합한 경우</a:t>
            </a:r>
            <a:endParaRPr lang="en-US" sz="1600" dirty="0"/>
          </a:p>
        </p:txBody>
      </p:sp>
      <p:sp>
        <p:nvSpPr>
          <p:cNvPr id="7" name="Text 5"/>
          <p:cNvSpPr/>
          <p:nvPr/>
        </p:nvSpPr>
        <p:spPr>
          <a:xfrm>
            <a:off x="1041400" y="24586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8" name="Text 6"/>
          <p:cNvSpPr/>
          <p:nvPr/>
        </p:nvSpPr>
        <p:spPr>
          <a:xfrm>
            <a:off x="1295400" y="2458641"/>
            <a:ext cx="34515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서로 다른 팀·벤더가 운영하는 에이전트</a:t>
            </a:r>
            <a:endParaRPr lang="en-US" sz="1400" dirty="0"/>
          </a:p>
        </p:txBody>
      </p:sp>
      <p:sp>
        <p:nvSpPr>
          <p:cNvPr id="9" name="Text 7"/>
          <p:cNvSpPr/>
          <p:nvPr/>
        </p:nvSpPr>
        <p:spPr>
          <a:xfrm>
            <a:off x="1041400" y="282183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10" name="Text 8"/>
          <p:cNvSpPr/>
          <p:nvPr/>
        </p:nvSpPr>
        <p:spPr>
          <a:xfrm>
            <a:off x="1295400" y="2821831"/>
            <a:ext cx="32074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서로 다른 프레임워크·클라우드 환경</a:t>
            </a:r>
            <a:endParaRPr lang="en-US" sz="1400" dirty="0"/>
          </a:p>
        </p:txBody>
      </p:sp>
      <p:sp>
        <p:nvSpPr>
          <p:cNvPr id="11" name="Text 9"/>
          <p:cNvSpPr/>
          <p:nvPr/>
        </p:nvSpPr>
        <p:spPr>
          <a:xfrm>
            <a:off x="1041400" y="318502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12" name="Text 10"/>
          <p:cNvSpPr/>
          <p:nvPr/>
        </p:nvSpPr>
        <p:spPr>
          <a:xfrm>
            <a:off x="1295400" y="3185021"/>
            <a:ext cx="31833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내부 구현을 비공개로 유지해야 할 때</a:t>
            </a:r>
            <a:endParaRPr lang="en-US" sz="1400" dirty="0"/>
          </a:p>
        </p:txBody>
      </p:sp>
      <p:sp>
        <p:nvSpPr>
          <p:cNvPr id="13" name="Text 11"/>
          <p:cNvSpPr/>
          <p:nvPr/>
        </p:nvSpPr>
        <p:spPr>
          <a:xfrm>
            <a:off x="1041400" y="354821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14" name="Text 12"/>
          <p:cNvSpPr/>
          <p:nvPr/>
        </p:nvSpPr>
        <p:spPr>
          <a:xfrm>
            <a:off x="1295400" y="3548211"/>
            <a:ext cx="364783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상태 확인·스트리밍이 필요한 장시간 작업</a:t>
            </a:r>
            <a:endParaRPr lang="en-US" sz="1400" dirty="0"/>
          </a:p>
        </p:txBody>
      </p:sp>
      <p:sp>
        <p:nvSpPr>
          <p:cNvPr id="15" name="Shape 13"/>
          <p:cNvSpPr/>
          <p:nvPr/>
        </p:nvSpPr>
        <p:spPr>
          <a:xfrm>
            <a:off x="6197600" y="1833811"/>
            <a:ext cx="5181600" cy="2191891"/>
          </a:xfrm>
          <a:prstGeom prst="roundRect">
            <a:avLst>
              <a:gd name="adj" fmla="val 5794"/>
            </a:avLst>
          </a:prstGeom>
          <a:solidFill>
            <a:srgbClr val="FCFBF8"/>
          </a:solidFill>
          <a:ln/>
        </p:spPr>
      </p:sp>
      <p:sp>
        <p:nvSpPr>
          <p:cNvPr id="16" name="Shape 14"/>
          <p:cNvSpPr/>
          <p:nvPr/>
        </p:nvSpPr>
        <p:spPr>
          <a:xfrm>
            <a:off x="6197600" y="1833811"/>
            <a:ext cx="5181600" cy="2191891"/>
          </a:xfrm>
          <a:custGeom>
            <a:avLst/>
            <a:gdLst/>
            <a:ahLst/>
            <a:cxnLst/>
            <a:rect l="l" t="t" r="r" b="b"/>
            <a:pathLst>
              <a:path w="5181600" h="2191891">
                <a:moveTo>
                  <a:pt x="0" y="127000"/>
                </a:moveTo>
                <a:lnTo>
                  <a:pt x="0" y="127000"/>
                </a:lnTo>
                <a:arcTo hR="127000" wR="127000" stAng="10800000" swAng="5400000"/>
                <a:lnTo>
                  <a:pt x="5054600" y="0"/>
                </a:lnTo>
                <a:arcTo hR="127000" wR="127000" stAng="16200000" swAng="5400000"/>
                <a:lnTo>
                  <a:pt x="5181600" y="127000"/>
                </a:lnTo>
                <a:arcTo hR="88900" wR="127000" stAng="0" swAng="-5400000"/>
                <a:lnTo>
                  <a:pt x="127000" y="38100"/>
                </a:lnTo>
                <a:arcTo hR="88900" wR="127000" stAng="16200000" swAng="-5400000"/>
                <a:close/>
              </a:path>
            </a:pathLst>
          </a:custGeom>
          <a:solidFill>
            <a:srgbClr val="B9531E"/>
          </a:solidFill>
          <a:ln/>
        </p:spPr>
      </p:sp>
      <p:sp>
        <p:nvSpPr>
          <p:cNvPr id="17" name="Text 15"/>
          <p:cNvSpPr/>
          <p:nvPr/>
        </p:nvSpPr>
        <p:spPr>
          <a:xfrm>
            <a:off x="6426200" y="2100511"/>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F3F15"/>
                </a:solidFill>
                <a:latin typeface="Noto Sans KR" pitchFamily="34" charset="0"/>
                <a:ea typeface="Noto Sans KR" pitchFamily="34" charset="-122"/>
                <a:cs typeface="Noto Sans KR" pitchFamily="34" charset="-120"/>
              </a:rPr>
              <a:t>신중히 검토할 경우</a:t>
            </a:r>
            <a:endParaRPr lang="en-US" sz="1600" dirty="0"/>
          </a:p>
        </p:txBody>
      </p:sp>
      <p:sp>
        <p:nvSpPr>
          <p:cNvPr id="18" name="Text 16"/>
          <p:cNvSpPr/>
          <p:nvPr/>
        </p:nvSpPr>
        <p:spPr>
          <a:xfrm>
            <a:off x="6426200" y="24586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19" name="Text 17"/>
          <p:cNvSpPr/>
          <p:nvPr/>
        </p:nvSpPr>
        <p:spPr>
          <a:xfrm>
            <a:off x="6680200" y="2458641"/>
            <a:ext cx="428053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같은 팀·같은 프레임워크라면 in-process로 충분</a:t>
            </a:r>
            <a:endParaRPr lang="en-US" sz="1400" dirty="0"/>
          </a:p>
        </p:txBody>
      </p:sp>
      <p:sp>
        <p:nvSpPr>
          <p:cNvPr id="20" name="Text 18"/>
          <p:cNvSpPr/>
          <p:nvPr/>
        </p:nvSpPr>
        <p:spPr>
          <a:xfrm>
            <a:off x="6426200" y="282183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1" name="Text 19"/>
          <p:cNvSpPr/>
          <p:nvPr/>
        </p:nvSpPr>
        <p:spPr>
          <a:xfrm>
            <a:off x="6680200" y="2821831"/>
            <a:ext cx="34389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지연에 민감한 경로: 호출마다 지연 증가</a:t>
            </a:r>
            <a:endParaRPr lang="en-US" sz="1400" dirty="0"/>
          </a:p>
        </p:txBody>
      </p:sp>
      <p:sp>
        <p:nvSpPr>
          <p:cNvPr id="22" name="Text 20"/>
          <p:cNvSpPr/>
          <p:nvPr/>
        </p:nvSpPr>
        <p:spPr>
          <a:xfrm>
            <a:off x="6426200" y="318502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3" name="Text 21"/>
          <p:cNvSpPr/>
          <p:nvPr/>
        </p:nvSpPr>
        <p:spPr>
          <a:xfrm>
            <a:off x="6680200" y="3185021"/>
            <a:ext cx="29392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원격 에이전트마다 모델 비용 발생</a:t>
            </a:r>
            <a:endParaRPr lang="en-US" sz="1400" dirty="0"/>
          </a:p>
        </p:txBody>
      </p:sp>
      <p:sp>
        <p:nvSpPr>
          <p:cNvPr id="24" name="Text 22"/>
          <p:cNvSpPr/>
          <p:nvPr/>
        </p:nvSpPr>
        <p:spPr>
          <a:xfrm>
            <a:off x="6426200" y="354821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5" name="Text 23"/>
          <p:cNvSpPr/>
          <p:nvPr/>
        </p:nvSpPr>
        <p:spPr>
          <a:xfrm>
            <a:off x="6680200" y="3548211"/>
            <a:ext cx="31833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에이전트 간 요청 추적이 어려운 경우</a:t>
            </a:r>
            <a:endParaRPr lang="en-US" sz="1400" dirty="0"/>
          </a:p>
        </p:txBody>
      </p:sp>
      <p:sp>
        <p:nvSpPr>
          <p:cNvPr id="26" name="Shape 24"/>
          <p:cNvSpPr/>
          <p:nvPr/>
        </p:nvSpPr>
        <p:spPr>
          <a:xfrm>
            <a:off x="812800" y="4279702"/>
            <a:ext cx="10566400" cy="1562298"/>
          </a:xfrm>
          <a:prstGeom prst="roundRect">
            <a:avLst>
              <a:gd name="adj" fmla="val 8129"/>
            </a:avLst>
          </a:prstGeom>
          <a:solidFill>
            <a:srgbClr val="141B2D"/>
          </a:solidFill>
          <a:ln/>
        </p:spPr>
      </p:sp>
      <p:sp>
        <p:nvSpPr>
          <p:cNvPr id="27" name="Text 25"/>
          <p:cNvSpPr/>
          <p:nvPr/>
        </p:nvSpPr>
        <p:spPr>
          <a:xfrm>
            <a:off x="1041400" y="4457502"/>
            <a:ext cx="1041247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Noto Sans KR" pitchFamily="34" charset="0"/>
                <a:ea typeface="Noto Sans KR" pitchFamily="34" charset="-122"/>
                <a:cs typeface="Noto Sans KR" pitchFamily="34" charset="-120"/>
              </a:rPr>
              <a:t>남은 과제</a:t>
            </a:r>
            <a:endParaRPr lang="en-US" sz="1300" dirty="0"/>
          </a:p>
        </p:txBody>
      </p:sp>
      <p:sp>
        <p:nvSpPr>
          <p:cNvPr id="28" name="Text 26"/>
          <p:cNvSpPr/>
          <p:nvPr/>
        </p:nvSpPr>
        <p:spPr>
          <a:xfrm>
            <a:off x="1041400" y="480293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9" name="Text 27"/>
          <p:cNvSpPr/>
          <p:nvPr/>
        </p:nvSpPr>
        <p:spPr>
          <a:xfrm>
            <a:off x="1295400" y="4802932"/>
            <a:ext cx="310454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원격 출력은 신뢰할 수 없는 입력으로 취급</a:t>
            </a:r>
            <a:endParaRPr lang="en-US" sz="1400" dirty="0"/>
          </a:p>
        </p:txBody>
      </p:sp>
      <p:sp>
        <p:nvSpPr>
          <p:cNvPr id="30" name="Text 28"/>
          <p:cNvSpPr/>
          <p:nvPr/>
        </p:nvSpPr>
        <p:spPr>
          <a:xfrm>
            <a:off x="4461917" y="480293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31" name="Text 29"/>
          <p:cNvSpPr/>
          <p:nvPr/>
        </p:nvSpPr>
        <p:spPr>
          <a:xfrm>
            <a:off x="4715917" y="4802932"/>
            <a:ext cx="2742962"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여러 에이전트에 걸친 요청 추적</a:t>
            </a:r>
            <a:endParaRPr lang="en-US" sz="1400" dirty="0"/>
          </a:p>
        </p:txBody>
      </p:sp>
      <p:sp>
        <p:nvSpPr>
          <p:cNvPr id="32" name="Text 30"/>
          <p:cNvSpPr/>
          <p:nvPr/>
        </p:nvSpPr>
        <p:spPr>
          <a:xfrm>
            <a:off x="7882483" y="480293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33" name="Text 31"/>
          <p:cNvSpPr/>
          <p:nvPr/>
        </p:nvSpPr>
        <p:spPr>
          <a:xfrm>
            <a:off x="8136483" y="4802932"/>
            <a:ext cx="3242717"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Registry와 신뢰 체계는 아직 성숙 단계</a:t>
            </a:r>
            <a:endParaRPr lang="en-US" sz="1400" dirty="0"/>
          </a:p>
        </p:txBody>
      </p:sp>
      <p:sp>
        <p:nvSpPr>
          <p:cNvPr id="34" name="Text 32"/>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5" name="Text 33"/>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1816199"/>
            <a:ext cx="60695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Space Grotesk" pitchFamily="34" charset="0"/>
                <a:ea typeface="Space Grotesk" pitchFamily="34" charset="-122"/>
                <a:cs typeface="Space Grotesk" pitchFamily="34" charset="-120"/>
              </a:rPr>
              <a:t>KEY TAKEAWAYS</a:t>
            </a:r>
            <a:endParaRPr lang="en-US" sz="1200" dirty="0"/>
          </a:p>
        </p:txBody>
      </p:sp>
      <p:sp>
        <p:nvSpPr>
          <p:cNvPr id="3" name="Text 1"/>
          <p:cNvSpPr/>
          <p:nvPr>
            <p:ph type="title"/>
          </p:nvPr>
        </p:nvSpPr>
        <p:spPr>
          <a:xfrm>
            <a:off x="812800" y="2105720"/>
            <a:ext cx="6069584"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EFE8"/>
                </a:solidFill>
                <a:latin typeface="Space Grotesk" pitchFamily="34" charset="0"/>
                <a:ea typeface="Space Grotesk" pitchFamily="34" charset="-122"/>
                <a:cs typeface="Space Grotesk" pitchFamily="34" charset="-120"/>
              </a:rPr>
              <a:t>Three things to remember</a:t>
            </a:r>
            <a:endParaRPr lang="en-US" sz="3200" dirty="0"/>
          </a:p>
        </p:txBody>
      </p:sp>
      <p:sp>
        <p:nvSpPr>
          <p:cNvPr id="4" name="Text 2"/>
          <p:cNvSpPr/>
          <p:nvPr/>
        </p:nvSpPr>
        <p:spPr>
          <a:xfrm>
            <a:off x="812800" y="282704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1</a:t>
            </a:r>
            <a:endParaRPr lang="en-US" sz="2200" dirty="0"/>
          </a:p>
        </p:txBody>
      </p:sp>
      <p:sp>
        <p:nvSpPr>
          <p:cNvPr id="5" name="Text 3"/>
          <p:cNvSpPr/>
          <p:nvPr/>
        </p:nvSpPr>
        <p:spPr>
          <a:xfrm>
            <a:off x="1270000" y="2827040"/>
            <a:ext cx="5598668" cy="59432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DDE2EA"/>
                </a:solidFill>
                <a:latin typeface="Noto Sans KR" pitchFamily="34" charset="0"/>
                <a:ea typeface="Noto Sans KR" pitchFamily="34" charset="-122"/>
                <a:cs typeface="Noto Sans KR" pitchFamily="34" charset="-120"/>
              </a:rPr>
              <a:t>MCP</a:t>
            </a:r>
            <a:r>
              <a:rPr lang="en-US" sz="1400" dirty="0">
                <a:solidFill>
                  <a:srgbClr val="DDE2EA"/>
                </a:solidFill>
                <a:latin typeface="Noto Sans KR" pitchFamily="34" charset="0"/>
                <a:ea typeface="Noto Sans KR" pitchFamily="34" charset="-122"/>
                <a:cs typeface="Noto Sans KR" pitchFamily="34" charset="-120"/>
              </a:rPr>
              <a:t>는 에이전트와 도구를, </a:t>
            </a:r>
            <a:r>
              <a:rPr lang="en-US" sz="1400" b="1" dirty="0">
                <a:solidFill>
                  <a:srgbClr val="DDE2EA"/>
                </a:solidFill>
                <a:latin typeface="Noto Sans KR" pitchFamily="34" charset="0"/>
                <a:ea typeface="Noto Sans KR" pitchFamily="34" charset="-122"/>
                <a:cs typeface="Noto Sans KR" pitchFamily="34" charset="-120"/>
              </a:rPr>
              <a:t>A2A</a:t>
            </a:r>
            <a:r>
              <a:rPr lang="en-US" sz="1400" dirty="0">
                <a:solidFill>
                  <a:srgbClr val="DDE2EA"/>
                </a:solidFill>
                <a:latin typeface="Noto Sans KR" pitchFamily="34" charset="0"/>
                <a:ea typeface="Noto Sans KR" pitchFamily="34" charset="-122"/>
                <a:cs typeface="Noto Sans KR" pitchFamily="34" charset="-120"/>
              </a:rPr>
              <a:t>는 에이전트와 에이전트를 연결합니다. 실제 시스템은 둘 다 사용합니다.</a:t>
            </a:r>
            <a:endParaRPr lang="en-US" sz="1400" dirty="0"/>
          </a:p>
        </p:txBody>
      </p:sp>
      <p:sp>
        <p:nvSpPr>
          <p:cNvPr id="6" name="Text 4"/>
          <p:cNvSpPr/>
          <p:nvPr/>
        </p:nvSpPr>
        <p:spPr>
          <a:xfrm>
            <a:off x="812800" y="364996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2</a:t>
            </a:r>
            <a:endParaRPr lang="en-US" sz="2200" dirty="0"/>
          </a:p>
        </p:txBody>
      </p:sp>
      <p:sp>
        <p:nvSpPr>
          <p:cNvPr id="7" name="Text 5"/>
          <p:cNvSpPr/>
          <p:nvPr/>
        </p:nvSpPr>
        <p:spPr>
          <a:xfrm>
            <a:off x="1270000" y="3649960"/>
            <a:ext cx="5598668" cy="59432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DDE2EA"/>
                </a:solidFill>
                <a:latin typeface="Noto Sans KR" pitchFamily="34" charset="0"/>
                <a:ea typeface="Noto Sans KR" pitchFamily="34" charset="-122"/>
                <a:cs typeface="Noto Sans KR" pitchFamily="34" charset="-120"/>
              </a:rPr>
              <a:t>Agent Card</a:t>
            </a:r>
            <a:r>
              <a:rPr lang="en-US" sz="1400" dirty="0">
                <a:solidFill>
                  <a:srgbClr val="DDE2EA"/>
                </a:solidFill>
                <a:latin typeface="Noto Sans KR" pitchFamily="34" charset="0"/>
                <a:ea typeface="Noto Sans KR" pitchFamily="34" charset="-122"/>
                <a:cs typeface="Noto Sans KR" pitchFamily="34" charset="-120"/>
              </a:rPr>
              <a:t>가 계약서입니다. 탐색 → 인증 → Task 위임. 함수 호출이 아닌 업무 위임입니다.</a:t>
            </a:r>
            <a:endParaRPr lang="en-US" sz="1400" dirty="0"/>
          </a:p>
        </p:txBody>
      </p:sp>
      <p:sp>
        <p:nvSpPr>
          <p:cNvPr id="8" name="Text 6"/>
          <p:cNvSpPr/>
          <p:nvPr/>
        </p:nvSpPr>
        <p:spPr>
          <a:xfrm>
            <a:off x="812800" y="447288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3</a:t>
            </a:r>
            <a:endParaRPr lang="en-US" sz="2200" dirty="0"/>
          </a:p>
        </p:txBody>
      </p:sp>
      <p:sp>
        <p:nvSpPr>
          <p:cNvPr id="9" name="Text 7"/>
          <p:cNvSpPr/>
          <p:nvPr/>
        </p:nvSpPr>
        <p:spPr>
          <a:xfrm>
            <a:off x="1270000" y="4472880"/>
            <a:ext cx="5598668" cy="59432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DDE2EA"/>
                </a:solidFill>
                <a:latin typeface="Noto Sans KR" pitchFamily="34" charset="0"/>
                <a:ea typeface="Noto Sans KR" pitchFamily="34" charset="-122"/>
                <a:cs typeface="Noto Sans KR" pitchFamily="34" charset="-120"/>
              </a:rPr>
              <a:t>ACP는 A2A 안에서 이어집니다.</a:t>
            </a:r>
            <a:r>
              <a:rPr lang="en-US" sz="1400" dirty="0">
                <a:solidFill>
                  <a:srgbClr val="DDE2EA"/>
                </a:solidFill>
                <a:latin typeface="Noto Sans KR" pitchFamily="34" charset="0"/>
                <a:ea typeface="Noto Sans KR" pitchFamily="34" charset="-122"/>
                <a:cs typeface="Noto Sans KR" pitchFamily="34" charset="-120"/>
              </a:rPr>
              <a:t> 하나의 개방형 표준이 MCP와 함께 Agentic AI Foundation에 있습니다.</a:t>
            </a:r>
            <a:endParaRPr lang="en-US" sz="1400" dirty="0"/>
          </a:p>
        </p:txBody>
      </p:sp>
      <p:sp>
        <p:nvSpPr>
          <p:cNvPr id="10" name="Shape 8"/>
          <p:cNvSpPr/>
          <p:nvPr/>
        </p:nvSpPr>
        <p:spPr>
          <a:xfrm>
            <a:off x="7321550" y="2915940"/>
            <a:ext cx="0" cy="1026120"/>
          </a:xfrm>
          <a:prstGeom prst="line">
            <a:avLst/>
          </a:prstGeom>
          <a:noFill/>
          <a:ln w="12700">
            <a:solidFill>
              <a:srgbClr val="2C3650"/>
            </a:solidFill>
            <a:prstDash val="solid"/>
          </a:ln>
        </p:spPr>
      </p:sp>
      <p:sp>
        <p:nvSpPr>
          <p:cNvPr id="11" name="Text 9"/>
          <p:cNvSpPr/>
          <p:nvPr/>
        </p:nvSpPr>
        <p:spPr>
          <a:xfrm>
            <a:off x="7734300" y="2915940"/>
            <a:ext cx="3754247"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2EFE8"/>
                </a:solidFill>
                <a:latin typeface="Space Grotesk" pitchFamily="34" charset="0"/>
                <a:ea typeface="Space Grotesk" pitchFamily="34" charset="-122"/>
                <a:cs typeface="Space Grotesk" pitchFamily="34" charset="-120"/>
              </a:rPr>
              <a:t>Questions?</a:t>
            </a:r>
            <a:endParaRPr lang="en-US" sz="4400" dirty="0"/>
          </a:p>
        </p:txBody>
      </p:sp>
      <p:sp>
        <p:nvSpPr>
          <p:cNvPr id="12" name="Text 10"/>
          <p:cNvSpPr/>
          <p:nvPr/>
        </p:nvSpPr>
        <p:spPr>
          <a:xfrm>
            <a:off x="7734300" y="3657600"/>
            <a:ext cx="375424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6C6"/>
                </a:solidFill>
                <a:latin typeface="Noto Sans KR" pitchFamily="34" charset="0"/>
                <a:ea typeface="Noto Sans KR" pitchFamily="34" charset="-122"/>
                <a:cs typeface="Noto Sans KR" pitchFamily="34" charset="-120"/>
              </a:rPr>
              <a:t>감사합니다 · Thank you</a:t>
            </a:r>
            <a:endParaRPr lang="en-US" sz="1600" dirty="0"/>
          </a:p>
        </p:txBody>
      </p:sp>
    </p:spTree>
  </p:cSld>
  <p:clrMapOvr>
    <a:masterClrMapping/>
  </p:clrMapOvr>
</p:sld>
</file>

<file path=ppt/theme/theme1.xml><?xml version="1.0" encoding="utf-8"?>
<a:theme xmlns:a="http://schemas.openxmlformats.org/drawingml/2006/main" name="Agent Communication: A2A &amp; ACP (Korean)">
  <a:themeElements>
    <a:clrScheme name="Agent Communication: A2A &amp; ACP (Korean)">
      <a:dk1>
        <a:srgbClr val="141B2D"/>
      </a:dk1>
      <a:lt1>
        <a:srgbClr val="F5F3EE"/>
      </a:lt1>
      <a:dk2>
        <a:srgbClr val="4C515D"/>
      </a:dk2>
      <a:lt2>
        <a:srgbClr val="DFDDDB"/>
      </a:lt2>
      <a:accent1>
        <a:srgbClr val="1F4F9E"/>
      </a:accent1>
      <a:accent2>
        <a:srgbClr val="B9531E"/>
      </a:accent2>
      <a:accent3>
        <a:srgbClr val="8F3F15"/>
      </a:accent3>
      <a:accent4>
        <a:srgbClr val="33405A"/>
      </a:accent4>
      <a:accent5>
        <a:srgbClr val="2F6FD1"/>
      </a:accent5>
      <a:accent6>
        <a:srgbClr val="F08A4B"/>
      </a:accent6>
      <a:hlink>
        <a:srgbClr val="0563C1"/>
      </a:hlink>
      <a:folHlink>
        <a:srgbClr val="954F72"/>
      </a:folHlink>
    </a:clrScheme>
    <a:fontScheme name="Agent Communication: A2A &amp; ACP (Korea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Communication: A2A &amp; ACP (Korean)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2026-10-26T13:20:42Z</dcterms:created>
  <dcterms:modified xsi:type="dcterms:W3CDTF">2026-10-26T13:20:42Z</dcterms:modified>
</cp:coreProperties>
</file>